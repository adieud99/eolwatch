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ContentType="application/x-fontdata" Extension="fntdata"/>
  <Default ContentType="image/svg+xml" Extension="sv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자료는 프로젝트 착수 전에 시스원에 제안하는 요약서입니다. 표지를 포함해 총 4장이며, 앞으로 개발할 목적과 범위, 추진 방법과 예상 산출물을 설명합니다.</a:t>
            </a:r>
          </a:p>
          <a:p>
            <a:r>
              <a:t>EOLWatch는 고객사 서버·프로젝트의 소프트웨어 구성요소, 취약점, 지원 종료 일정과 담당자의 조치 이력을 연결하는 웹 서비스로 제안합니다.</a:t>
            </a:r>
          </a:p>
          <a:p>
            <a:r>
              <a:t>시스원의 공개 사업 소개에 있는 시스템통합 유지관리 및 공개SW 기술지원 업무를 활용 대상으로 설정했습니다. 회사 내부의 업무 방식이나 현재 시스템의 부족을 확인한 사실로 단정하지 않습니다.</a:t>
            </a:r>
          </a:p>
          <a:p>
            <a:r>
              <a:t>사업 범위 참고: https://www.sysone.co.kr/businesses_veiw.php?idx=6 및 https://www.sysone.co.kr/businesses.php</a:t>
            </a:r>
          </a:p>
          <a:p>
            <a:r>
              <a:t>본 요약서는 구현 완료 보고나 실제 기업 도입 성과를 제시하는 자료가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제안 배경은 유지관리 담당자가 수행하는 업무입니다. 취약점 공지가 나오면 어떤 고객사·서버를 확인할지 파악하고, 지원 종료 시점에 맞춰 변경 계획을 검토하며, 조치 후에는 고객에게 처리 근거를 설명해야 합니다.</a:t>
            </a:r>
          </a:p>
          <a:p>
            <a:r>
              <a:t>이를 지원하기 위해 자산 정보와 소프트웨어 분석 결과, 담당자의 작업 이력을 연결하는 서비스를 개발하고자 합니다. 시스원이 현재 이 정보를 수작업이나 엑셀로 관리한다는 주장을 전제하지 않습니다.</a:t>
            </a:r>
          </a:p>
          <a:p>
            <a:r>
              <a:t>기대 효과는 영향 대상 파악, 교체·업그레이드 계획 검토, 담당자 간 인계 및 고객 보고 지원입니다. 시간 절감률·비용 절감액과 같은 정량 효과는 아직 측정한 성과로 제시하지 않습니다.</a:t>
            </a:r>
          </a:p>
          <a:p>
            <a:r>
              <a:t>지원 종료 정보는 공식 출처와 확인 시점을 함께 관리하는 방향으로 설계하고, 사용자의 입력·검토 범위와 분석 대상은 요구사항 단계에서 정할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네 기능을 핵심 개발 범위로 제안합니다.</a:t>
            </a:r>
          </a:p>
          <a:p>
            <a:r>
              <a:t>첫째, 허용된 서버 경로나 프로젝트 파일을 분석해 소프트웨어 구성요소와 버전을 목록으로 만들고 고객사·자산에 연결할 계획입니다. SBOM은 소프트웨어 구성요소 명세서입니다.</a:t>
            </a:r>
          </a:p>
          <a:p>
            <a:r>
              <a:t>둘째, 알려진 취약점과 수정 버전을 조회하고 지원 종료 일정 및 영향 자산을 함께 확인하도록 개발할 계획입니다. EOL은 제품이나 소프트웨어의 지원 종료를 의미합니다.</a:t>
            </a:r>
          </a:p>
          <a:p>
            <a:r>
              <a:t>셋째, 담당자·기한·진행 상태, 처리 내용과 변경 이력을 남겨 조치 업무를 관리하도록 할 계획입니다.</a:t>
            </a:r>
          </a:p>
          <a:p>
            <a:r>
              <a:t>넷째, 담당자가 조치한 뒤 같은 범위를 다시 분석해 전후 변화를 비교하고, 고객 보고에 활용할 PDF·JSON 자료를 생성할 계획입니다.</a:t>
            </a:r>
          </a:p>
          <a:p>
            <a:r>
              <a:t>구성요소 식별과 취약점 대조에는 Syft·Grype 등 공개 도구를 활용하고, 자산 연결·업무 이력·전후 비교·보고 기능을 중심으로 개발할 계획입니다. 실제 업데이트와 조치 완료 판단은 담당자가 수행하도록 설계합니다.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추진은 설계, 개발, 시범 검증의 세 단계로 계획합니다. 구체적인 기간은 적용 범위와 요구사항을 확인한 뒤 조정할 예정이며 이 요약서에서 일정 합의나 기업 적용을 확정한 것으로 표현하지 않습니다.</a:t>
            </a:r>
          </a:p>
          <a:p>
            <a:r>
              <a:t>설계 단계에서는 점검 대상, 서버 접근 권한, 수집 범위와 주기, 담당자 업무, 고객 보고 항목, 자료 보관 기준을 확인하고 기능 범위를 정할 계획입니다.</a:t>
            </a:r>
          </a:p>
          <a:p>
            <a:r>
              <a:t>개발 단계에서는 웹 화면·API·데이터 저장소를 구성하고 자산 연결, 소프트웨어 분석, 담당자 조치 기록과 전후 비교 보고 기능을 구현할 계획입니다. React·FastAPI·PostgreSQL 및 Docker 기반의 실행 구성을 검토합니다.</a:t>
            </a:r>
          </a:p>
          <a:p>
            <a:r>
              <a:t>검증 단계에서는 합의한 시범 대상에서 자산과 분석 결과가 정확히 연결되는지, 조치 기록과 보고 항목이 업무에 적합한지 확인하고 보완할 계획입니다. 실제 고객사 접근이나 도입이 확정됐다는 의미는 아닙니다.</a:t>
            </a:r>
          </a:p>
          <a:p>
            <a:r>
              <a:t>예상 산출물은 웹 시제품, 구성요소 목록과 조치 전후 비교 보고서, 소스 코드와 설치·사용·백업·복구 안내입니다. 기업 담당자가 결과물을 확인하고 향후 적용 여부를 검토할 수 있도록 제공하는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Base3_rId2" Type="http://schemas.openxmlformats.org/officeDocument/2006/relationships/image" Target="../media/base_reuse_image3.png"/><Relationship Id="rIdBase3_rId3" Type="http://schemas.openxmlformats.org/officeDocument/2006/relationships/image" Target="../media/base_reuse_image4.svg"/><Relationship Id="rIdBase3_rId4" Type="http://schemas.openxmlformats.org/officeDocument/2006/relationships/image" Target="../media/base_reuse_image6.png"/><Relationship Id="rIdBase3_rId5" Type="http://schemas.openxmlformats.org/officeDocument/2006/relationships/image" Target="../media/base_reuse_image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Base7_rId10" Type="http://schemas.openxmlformats.org/officeDocument/2006/relationships/image" Target="../media/base_reuse_image29.png"/><Relationship Id="rIdBase7_rId11" Type="http://schemas.openxmlformats.org/officeDocument/2006/relationships/image" Target="../media/base_reuse_image30.svg"/><Relationship Id="rIdBase7_rId2" Type="http://schemas.openxmlformats.org/officeDocument/2006/relationships/image" Target="../media/base_reuse_image3.png"/><Relationship Id="rIdBase7_rId3" Type="http://schemas.openxmlformats.org/officeDocument/2006/relationships/image" Target="../media/base_reuse_image4.svg"/><Relationship Id="rIdBase7_rId4" Type="http://schemas.openxmlformats.org/officeDocument/2006/relationships/image" Target="../media/base_reuse_image23.png"/><Relationship Id="rIdBase7_rId5" Type="http://schemas.openxmlformats.org/officeDocument/2006/relationships/image" Target="../media/base_reuse_image24.svg"/><Relationship Id="rIdBase7_rId6" Type="http://schemas.openxmlformats.org/officeDocument/2006/relationships/image" Target="../media/base_reuse_image25.png"/><Relationship Id="rIdBase7_rId7" Type="http://schemas.openxmlformats.org/officeDocument/2006/relationships/image" Target="../media/base_reuse_image26.svg"/><Relationship Id="rIdBase7_rId8" Type="http://schemas.openxmlformats.org/officeDocument/2006/relationships/image" Target="../media/base_reuse_image27.png"/><Relationship Id="rIdBase7_rId9" Type="http://schemas.openxmlformats.org/officeDocument/2006/relationships/image" Target="../media/base_reuse_image2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Base4_rId2" Type="http://schemas.openxmlformats.org/officeDocument/2006/relationships/image" Target="../media/base_reuse_image3.png"/><Relationship Id="rIdBase4_rId3" Type="http://schemas.openxmlformats.org/officeDocument/2006/relationships/image" Target="../media/base_reuse_image4.svg"/><Relationship Id="rIdBase4_rId4" Type="http://schemas.openxmlformats.org/officeDocument/2006/relationships/image" Target="../media/base_reuse_image6.png"/><Relationship Id="rIdBase4_rId5" Type="http://schemas.openxmlformats.org/officeDocument/2006/relationships/image" Target="../media/base_reuse_image7.svg"/><Relationship Id="rIdBase4_rId6" Type="http://schemas.openxmlformats.org/officeDocument/2006/relationships/image" Target="../media/base_reuse_image8.png"/><Relationship Id="rIdBase4_rId7" Type="http://schemas.openxmlformats.org/officeDocument/2006/relationships/image" Target="../media/base_reuse_image9.svg"/><Relationship Id="rIdBase4_rId8" Type="http://schemas.openxmlformats.org/officeDocument/2006/relationships/image" Target="../media/base_reuse_image10.png"/><Relationship Id="rIdBase4_rId9" Type="http://schemas.openxmlformats.org/officeDocument/2006/relationships/image" Target="../media/base_reuse_image11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A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시스원 유지관리·공개SW 기술지원 업무 활용 제안"/>
          <p:cNvSpPr txBox="1"/>
          <p:nvPr/>
        </p:nvSpPr>
        <p:spPr>
          <a:xfrm>
            <a:off x="822960" y="658368"/>
            <a:ext cx="10424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시스원 유지관리·공개SW 기술지원 업무를 위한 프로젝트 제안</a:t>
            </a:r>
          </a:p>
        </p:txBody>
      </p:sp>
      <p:sp>
        <p:nvSpPr>
          <p:cNvPr id="3" name="EOLWatch"/>
          <p:cNvSpPr txBox="1"/>
          <p:nvPr/>
        </p:nvSpPr>
        <p:spPr>
          <a:xfrm>
            <a:off x="768096" y="2148840"/>
            <a:ext cx="10561320" cy="11521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EOLWatch</a:t>
            </a:r>
          </a:p>
        </p:txBody>
      </p:sp>
      <p:sp>
        <p:nvSpPr>
          <p:cNvPr id="4" name="고객사 자산의 취약점·지원 종료를 / 담당자의 조치와 보고 근거로 연결합니다."/>
          <p:cNvSpPr txBox="1"/>
          <p:nvPr/>
        </p:nvSpPr>
        <p:spPr>
          <a:xfrm>
            <a:off x="832104" y="3502152"/>
            <a:ext cx="104698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고객사 자산의 취약점·지원 종료·조치를</a:t>
            </a:r>
            <a:b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</a:br>
            <a:r>
              <a:rPr sz="2500" b="0" lang="ko-KR">
                <a:solidFill>
                  <a:srgbClr val="4F785F"/>
                </a:solidFill>
                <a:latin typeface="Apple SD Gothic Neo"/>
                <a:ea typeface="Apple SD Gothic Neo"/>
                <a:cs typeface="Apple SD Gothic Neo"/>
              </a:rPr>
              <a:t>한곳에서 관리하는 웹 서비스 개발 제안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32104" y="5504688"/>
            <a:ext cx="10533888" cy="0"/>
          </a:xfrm>
          <a:prstGeom prst="line">
            <a:avLst/>
          </a:prstGeom>
          <a:ln w="889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한국폴리텍대학 광명융합기술교육원"/>
          <p:cNvSpPr txBox="1"/>
          <p:nvPr/>
        </p:nvSpPr>
        <p:spPr>
          <a:xfrm>
            <a:off x="832104" y="5806440"/>
            <a:ext cx="822960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한국폴리텍대학 광명융합기술교육원</a:t>
            </a:r>
          </a:p>
        </p:txBody>
      </p:sp>
      <p:sp>
        <p:nvSpPr>
          <p:cNvPr id="7" name="데이터분석과  김연동"/>
          <p:cNvSpPr txBox="1"/>
          <p:nvPr/>
        </p:nvSpPr>
        <p:spPr>
          <a:xfrm>
            <a:off x="832104" y="6236208"/>
            <a:ext cx="822960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데이터분석과  김연동</a:t>
            </a:r>
          </a:p>
        </p:txBody>
      </p:sp>
      <p:sp>
        <p:nvSpPr>
          <p:cNvPr id="8" name="2026.09.17"/>
          <p:cNvSpPr txBox="1"/>
          <p:nvPr/>
        </p:nvSpPr>
        <p:spPr>
          <a:xfrm>
            <a:off x="9601200" y="6245352"/>
            <a:ext cx="17647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333333"/>
                </a:solidFill>
                <a:latin typeface="Aptos"/>
                <a:ea typeface="Apple SD Gothic Neo"/>
                <a:cs typeface="Apple SD Gothic Neo"/>
              </a:rPr>
              <a:t>2026.09.17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bg>
      <p:bgPr>
        <a:solidFill>
          <a:srgbClr val="FA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046" y="219152"/>
            <a:ext cx="57105" cy="253801"/>
          </a:xfrm>
          <a:custGeom>
            <a:avLst/>
            <a:gdLst/>
            <a:ahLst/>
            <a:cxnLst/>
            <a:rect r="r" b="b" t="t" l="l"/>
            <a:pathLst>
              <a:path h="380702" w="85658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 r:embed="rIdBase3_rId2">
              <a:extLst>
                <a:ext uri="{96DAC541-7B7A-43D3-8B79-37D633B846F1}">
                  <asvg:svgBlip xmlns:asvg="http://schemas.microsoft.com/office/drawing/2016/SVG/main" r:embed="rIdBase3_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1275" y="1427091"/>
            <a:ext cx="486095" cy="0"/>
          </a:xfrm>
          <a:prstGeom prst="line">
            <a:avLst/>
          </a:prstGeom>
          <a:ln cap="rnd" w="50800">
            <a:solidFill>
              <a:srgbClr val="4F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31275" y="774700"/>
            <a:ext cx="4478222" cy="47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1"/>
              </a:lnSpc>
            </a:pPr>
            <a:r>
              <a:rPr lang="en-US" sz="3501" spc="-70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제안 배경과 목적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2208" y="983515"/>
            <a:ext cx="4195680" cy="15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240"/>
              </a:lnSpc>
              <a:spcBef>
                <a:spcPct val="0"/>
              </a:spcBef>
            </a:pPr>
            <a:r>
              <a:rPr lang="en-US" sz="1033" spc="-17" strike="noStrike" u="none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시스원의 유지관리·공개SW 기술지원 업무를 위한 제안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31275" y="1933474"/>
            <a:ext cx="10129359" cy="544999"/>
            <a:chOff x="0" y="0"/>
            <a:chExt cx="1136656" cy="611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6656" cy="61157"/>
            </a:xfrm>
            <a:custGeom>
              <a:avLst/>
              <a:gdLst/>
              <a:ahLst/>
              <a:cxnLst/>
              <a:rect r="r" b="b" t="t" l="l"/>
              <a:pathLst>
                <a:path h="91735" w="1704984">
                  <a:moveTo>
                    <a:pt x="39808" y="0"/>
                  </a:moveTo>
                  <a:lnTo>
                    <a:pt x="1665177" y="0"/>
                  </a:lnTo>
                  <a:cubicBezTo>
                    <a:pt x="1687162" y="0"/>
                    <a:pt x="1704984" y="17822"/>
                    <a:pt x="1704984" y="39808"/>
                  </a:cubicBezTo>
                  <a:lnTo>
                    <a:pt x="1704984" y="51927"/>
                  </a:lnTo>
                  <a:cubicBezTo>
                    <a:pt x="1704984" y="73912"/>
                    <a:pt x="1687162" y="91735"/>
                    <a:pt x="1665177" y="91735"/>
                  </a:cubicBezTo>
                  <a:lnTo>
                    <a:pt x="39808" y="91735"/>
                  </a:lnTo>
                  <a:cubicBezTo>
                    <a:pt x="29250" y="91735"/>
                    <a:pt x="19125" y="87541"/>
                    <a:pt x="11659" y="80075"/>
                  </a:cubicBezTo>
                  <a:cubicBezTo>
                    <a:pt x="4194" y="72610"/>
                    <a:pt x="0" y="62485"/>
                    <a:pt x="0" y="51927"/>
                  </a:cubicBezTo>
                  <a:lnTo>
                    <a:pt x="0" y="39808"/>
                  </a:lnTo>
                  <a:cubicBezTo>
                    <a:pt x="0" y="29250"/>
                    <a:pt x="4194" y="19125"/>
                    <a:pt x="11659" y="11659"/>
                  </a:cubicBezTo>
                  <a:cubicBezTo>
                    <a:pt x="19125" y="4194"/>
                    <a:pt x="29250" y="0"/>
                    <a:pt x="39808" y="0"/>
                  </a:cubicBezTo>
                  <a:close/>
                </a:path>
              </a:pathLst>
            </a:custGeom>
            <a:solidFill>
              <a:srgbClr val="4F785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1750"/>
              <a:ext cx="1136656" cy="92907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275" y="3650971"/>
            <a:ext cx="10130678" cy="544999"/>
            <a:chOff x="0" y="0"/>
            <a:chExt cx="1136804" cy="611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6804" cy="61157"/>
            </a:xfrm>
            <a:custGeom>
              <a:avLst/>
              <a:gdLst/>
              <a:ahLst/>
              <a:cxnLst/>
              <a:rect r="r" b="b" t="t" l="l"/>
              <a:pathLst>
                <a:path h="91735" w="1705206">
                  <a:moveTo>
                    <a:pt x="39802" y="0"/>
                  </a:moveTo>
                  <a:lnTo>
                    <a:pt x="1665404" y="0"/>
                  </a:lnTo>
                  <a:cubicBezTo>
                    <a:pt x="1675960" y="0"/>
                    <a:pt x="1686084" y="4193"/>
                    <a:pt x="1693549" y="11658"/>
                  </a:cubicBezTo>
                  <a:cubicBezTo>
                    <a:pt x="1701013" y="19122"/>
                    <a:pt x="1705206" y="29246"/>
                    <a:pt x="1705206" y="39802"/>
                  </a:cubicBezTo>
                  <a:lnTo>
                    <a:pt x="1705206" y="51932"/>
                  </a:lnTo>
                  <a:cubicBezTo>
                    <a:pt x="1705206" y="62489"/>
                    <a:pt x="1701013" y="72613"/>
                    <a:pt x="1693549" y="80077"/>
                  </a:cubicBezTo>
                  <a:cubicBezTo>
                    <a:pt x="1686084" y="87541"/>
                    <a:pt x="1675960" y="91735"/>
                    <a:pt x="1665404" y="91735"/>
                  </a:cubicBezTo>
                  <a:lnTo>
                    <a:pt x="39802" y="91735"/>
                  </a:lnTo>
                  <a:cubicBezTo>
                    <a:pt x="29246" y="91735"/>
                    <a:pt x="19122" y="87541"/>
                    <a:pt x="11658" y="80077"/>
                  </a:cubicBezTo>
                  <a:cubicBezTo>
                    <a:pt x="4193" y="72613"/>
                    <a:pt x="0" y="62489"/>
                    <a:pt x="0" y="51932"/>
                  </a:cubicBezTo>
                  <a:lnTo>
                    <a:pt x="0" y="39802"/>
                  </a:lnTo>
                  <a:cubicBezTo>
                    <a:pt x="0" y="29246"/>
                    <a:pt x="4193" y="19122"/>
                    <a:pt x="11658" y="11658"/>
                  </a:cubicBezTo>
                  <a:cubicBezTo>
                    <a:pt x="19122" y="4193"/>
                    <a:pt x="29246" y="0"/>
                    <a:pt x="39802" y="0"/>
                  </a:cubicBezTo>
                  <a:close/>
                </a:path>
              </a:pathLst>
            </a:custGeom>
            <a:solidFill>
              <a:srgbClr val="A39D9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1750"/>
              <a:ext cx="1136804" cy="92907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16955" y="2144230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3_rId4">
              <a:extLst>
                <a:ext uri="{96DAC541-7B7A-43D3-8B79-37D633B846F1}">
                  <asvg:svgBlip xmlns:asvg="http://schemas.microsoft.com/office/drawing/2016/SVG/main" r:embed="rIdBase3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6955" y="386172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3_rId4">
              <a:extLst>
                <a:ext uri="{96DAC541-7B7A-43D3-8B79-37D633B846F1}">
                  <asvg:svgBlip xmlns:asvg="http://schemas.microsoft.com/office/drawing/2016/SVG/main" r:embed="rIdBase3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1275" y="2636906"/>
            <a:ext cx="10130678" cy="59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유지관리 담당자는 취약점의 영향 자산과 지원 종료 대상을 확인하고, 고객에게 처리 결과를 설명해야 합니다.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자산 정보·분석 결과·조치 이력을 연결해 이 업무를 지원하는 웹 서비스 EOLWatch를 개발하고자 합니다.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1275" y="5126518"/>
            <a:ext cx="3071214" cy="89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구성요소와 자산을 연결해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취약점 발생 시 확인할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고객사·서버를 찾도록 지원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61007" y="5126518"/>
            <a:ext cx="3071214" cy="89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지원 종료일·계약을 바탕으로</a:t>
            </a:r>
            <a:b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업그레이드·교체 대상과</a:t>
            </a:r>
            <a:b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 strike="noStrike" u="none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작업 시점 검토를 지원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89421" y="5126518"/>
            <a:ext cx="3071214" cy="120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담당자·조치 이력을 모아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담당자 간 인계를 돕고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 보고 근거를 확보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1275" y="4464485"/>
            <a:ext cx="3071214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 strike="noStrike" u="none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영향 대상 파악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61007" y="4464485"/>
            <a:ext cx="3071214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변경 계획 지원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9421" y="4464485"/>
            <a:ext cx="3071214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인계·보고 지원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6879" y="1996218"/>
            <a:ext cx="1618012" cy="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  <a:spcBef>
                <a:spcPct val="0"/>
              </a:spcBef>
            </a:pPr>
            <a:r>
              <a:rPr lang="en-US" b="true" sz="1699" spc="-5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제안 배경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6879" y="3713716"/>
            <a:ext cx="1618012" cy="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7"/>
              </a:lnSpc>
              <a:spcBef>
                <a:spcPct val="0"/>
              </a:spcBef>
            </a:pPr>
            <a:r>
              <a:rPr lang="en-US" b="true" sz="1699" spc="-59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기대 효과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31275" y="4976838"/>
            <a:ext cx="3071214" cy="0"/>
          </a:xfrm>
          <a:prstGeom prst="line">
            <a:avLst/>
          </a:prstGeom>
          <a:ln cap="rnd" w="12700">
            <a:solidFill>
              <a:srgbClr val="A39D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4561007" y="4976838"/>
            <a:ext cx="3071214" cy="0"/>
          </a:xfrm>
          <a:prstGeom prst="line">
            <a:avLst/>
          </a:prstGeom>
          <a:ln cap="rnd" w="12700">
            <a:solidFill>
              <a:srgbClr val="A39D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089421" y="4976838"/>
            <a:ext cx="3071214" cy="0"/>
          </a:xfrm>
          <a:prstGeom prst="line">
            <a:avLst/>
          </a:prstGeom>
          <a:ln cap="rnd" w="12700">
            <a:solidFill>
              <a:srgbClr val="A39D9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bg>
      <p:bgPr>
        <a:solidFill>
          <a:srgbClr val="FA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046" y="219152"/>
            <a:ext cx="57105" cy="253801"/>
          </a:xfrm>
          <a:custGeom>
            <a:avLst/>
            <a:gdLst/>
            <a:ahLst/>
            <a:cxnLst/>
            <a:rect r="r" b="b" t="t" l="l"/>
            <a:pathLst>
              <a:path h="380702" w="85658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 r:embed="rIdBase7_rId2">
              <a:extLst>
                <a:ext uri="{96DAC541-7B7A-43D3-8B79-37D633B846F1}">
                  <asvg:svgBlip xmlns:asvg="http://schemas.microsoft.com/office/drawing/2016/SVG/main" r:embed="rIdBase7_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1275" y="1427091"/>
            <a:ext cx="486095" cy="0"/>
          </a:xfrm>
          <a:prstGeom prst="line">
            <a:avLst/>
          </a:prstGeom>
          <a:ln cap="rnd" w="50800">
            <a:solidFill>
              <a:srgbClr val="4F78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31275" y="774700"/>
            <a:ext cx="4916195" cy="47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1"/>
              </a:lnSpc>
            </a:pPr>
            <a:r>
              <a:rPr lang="en-US" sz="3501" spc="-70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주요 개발 기능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1604" y="983515"/>
            <a:ext cx="4195680" cy="15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240"/>
              </a:lnSpc>
              <a:spcBef>
                <a:spcPct val="0"/>
              </a:spcBef>
            </a:pPr>
            <a:r>
              <a:rPr lang="en-US" sz="1033" spc="-17" strike="noStrike" u="none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대상 파악부터 조치·고객 보고까지 연결하는 기능 개발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31275" y="1933474"/>
            <a:ext cx="5009817" cy="1974409"/>
            <a:chOff x="0" y="0"/>
            <a:chExt cx="1319458" cy="5200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9458" cy="520009"/>
            </a:xfrm>
            <a:custGeom>
              <a:avLst/>
              <a:gdLst/>
              <a:ahLst/>
              <a:cxnLst/>
              <a:rect r="r" b="b" t="t" l="l"/>
              <a:pathLst>
                <a:path h="780013" w="1979187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25400" cap="rnd">
              <a:solidFill>
                <a:srgbClr val="4F785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1750"/>
              <a:ext cx="1319458" cy="551759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275" y="4051860"/>
            <a:ext cx="5009817" cy="1974409"/>
            <a:chOff x="0" y="0"/>
            <a:chExt cx="1319458" cy="5200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9458" cy="520009"/>
            </a:xfrm>
            <a:custGeom>
              <a:avLst/>
              <a:gdLst/>
              <a:ahLst/>
              <a:cxnLst/>
              <a:rect r="r" b="b" t="t" l="l"/>
              <a:pathLst>
                <a:path h="780013" w="1979187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25400" cap="rnd">
              <a:solidFill>
                <a:srgbClr val="A39D9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1750"/>
              <a:ext cx="1319458" cy="551759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152136" y="1933474"/>
            <a:ext cx="5009817" cy="1974409"/>
            <a:chOff x="0" y="0"/>
            <a:chExt cx="1319458" cy="5200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9458" cy="520009"/>
            </a:xfrm>
            <a:custGeom>
              <a:avLst/>
              <a:gdLst/>
              <a:ahLst/>
              <a:cxnLst/>
              <a:rect r="r" b="b" t="t" l="l"/>
              <a:pathLst>
                <a:path h="780013" w="1979187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25400" cap="rnd">
              <a:solidFill>
                <a:srgbClr val="A39D9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1750"/>
              <a:ext cx="1319458" cy="551759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52136" y="4051860"/>
            <a:ext cx="5009817" cy="1974409"/>
            <a:chOff x="0" y="0"/>
            <a:chExt cx="1319458" cy="5200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9458" cy="520009"/>
            </a:xfrm>
            <a:custGeom>
              <a:avLst/>
              <a:gdLst/>
              <a:ahLst/>
              <a:cxnLst/>
              <a:rect r="r" b="b" t="t" l="l"/>
              <a:pathLst>
                <a:path h="780013" w="1979187">
                  <a:moveTo>
                    <a:pt x="25756" y="0"/>
                  </a:moveTo>
                  <a:lnTo>
                    <a:pt x="1953431" y="0"/>
                  </a:lnTo>
                  <a:cubicBezTo>
                    <a:pt x="1967656" y="0"/>
                    <a:pt x="1979187" y="11531"/>
                    <a:pt x="1979187" y="25756"/>
                  </a:cubicBezTo>
                  <a:lnTo>
                    <a:pt x="1979187" y="754258"/>
                  </a:lnTo>
                  <a:cubicBezTo>
                    <a:pt x="1979187" y="768482"/>
                    <a:pt x="1967656" y="780013"/>
                    <a:pt x="1953431" y="780013"/>
                  </a:cubicBezTo>
                  <a:lnTo>
                    <a:pt x="25756" y="780013"/>
                  </a:lnTo>
                  <a:cubicBezTo>
                    <a:pt x="11531" y="780013"/>
                    <a:pt x="0" y="768482"/>
                    <a:pt x="0" y="754258"/>
                  </a:cubicBezTo>
                  <a:lnTo>
                    <a:pt x="0" y="25756"/>
                  </a:lnTo>
                  <a:cubicBezTo>
                    <a:pt x="0" y="11531"/>
                    <a:pt x="11531" y="0"/>
                    <a:pt x="25756" y="0"/>
                  </a:cubicBezTo>
                  <a:close/>
                </a:path>
              </a:pathLst>
            </a:custGeom>
            <a:ln w="25400" cap="rnd">
              <a:solidFill>
                <a:srgbClr val="4F785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1750"/>
              <a:ext cx="1319458" cy="551759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876256" y="2812682"/>
            <a:ext cx="2660601" cy="5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서버·프로젝트 분석으로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구성요소 목록(SBOM) 생성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76256" y="4931068"/>
            <a:ext cx="2660601" cy="81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담당자·기한·상태를 지정하고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처리 내용과 변경 이력 기록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62442" y="2812682"/>
            <a:ext cx="2660601" cy="81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취약점·수정 버전을 조회하고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지원 종료일·영향 자산 연결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97117" y="4931068"/>
            <a:ext cx="2660601" cy="5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</a:pP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동일 범위의 전후 결과 비교</a:t>
            </a:r>
            <a:b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52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고객 보고용 PDF·JSON 제공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76256" y="2381428"/>
            <a:ext cx="3071214" cy="3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6"/>
              </a:lnSpc>
              <a:spcBef>
                <a:spcPct val="0"/>
              </a:spcBef>
            </a:pPr>
            <a:r>
              <a:rPr lang="en-US" b="true" sz="1966" spc="-69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자산·구성 파악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76256" y="4499815"/>
            <a:ext cx="3071214" cy="3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6"/>
              </a:lnSpc>
              <a:spcBef>
                <a:spcPct val="0"/>
              </a:spcBef>
            </a:pPr>
            <a:r>
              <a:rPr lang="en-US" b="true" sz="1966" spc="-69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조치 업무 관리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97117" y="2381428"/>
            <a:ext cx="3071214" cy="3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6"/>
              </a:lnSpc>
              <a:spcBef>
                <a:spcPct val="0"/>
              </a:spcBef>
            </a:pPr>
            <a:r>
              <a:rPr lang="en-US" b="true" sz="1966" spc="-69">
                <a:solidFill>
                  <a:srgbClr val="A39D9D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취약점·EOL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97117" y="4499815"/>
            <a:ext cx="3071214" cy="3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6"/>
              </a:lnSpc>
              <a:spcBef>
                <a:spcPct val="0"/>
              </a:spcBef>
            </a:pPr>
            <a:r>
              <a:rPr lang="en-US" b="true" sz="1966" spc="-69">
                <a:solidFill>
                  <a:srgbClr val="4F78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재점검·보고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36765" y="2463978"/>
            <a:ext cx="771121" cy="811707"/>
          </a:xfrm>
          <a:custGeom>
            <a:avLst/>
            <a:gdLst/>
            <a:ahLst/>
            <a:cxnLst/>
            <a:rect r="r" b="b" t="t" l="l"/>
            <a:pathLst>
              <a:path h="1217560" w="1156682">
                <a:moveTo>
                  <a:pt x="0" y="0"/>
                </a:moveTo>
                <a:lnTo>
                  <a:pt x="1156682" y="0"/>
                </a:lnTo>
                <a:lnTo>
                  <a:pt x="1156682" y="1217560"/>
                </a:lnTo>
                <a:lnTo>
                  <a:pt x="0" y="1217560"/>
                </a:lnTo>
                <a:lnTo>
                  <a:pt x="0" y="0"/>
                </a:lnTo>
                <a:close/>
              </a:path>
            </a:pathLst>
          </a:custGeom>
          <a:blipFill>
            <a:blip r:embed="rIdBase7_rId4">
              <a:extLst>
                <a:ext uri="{96DAC541-7B7A-43D3-8B79-37D633B846F1}">
                  <asvg:svgBlip xmlns:asvg="http://schemas.microsoft.com/office/drawing/2016/SVG/main" r:embed="rIdBase7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847653" y="4724831"/>
            <a:ext cx="681095" cy="533808"/>
          </a:xfrm>
          <a:custGeom>
            <a:avLst/>
            <a:gdLst/>
            <a:ahLst/>
            <a:cxnLst/>
            <a:rect r="r" b="b" t="t" l="l"/>
            <a:pathLst>
              <a:path h="800712" w="1021642">
                <a:moveTo>
                  <a:pt x="0" y="0"/>
                </a:moveTo>
                <a:lnTo>
                  <a:pt x="1021641" y="0"/>
                </a:lnTo>
                <a:lnTo>
                  <a:pt x="1021641" y="800712"/>
                </a:lnTo>
                <a:lnTo>
                  <a:pt x="0" y="800712"/>
                </a:lnTo>
                <a:lnTo>
                  <a:pt x="0" y="0"/>
                </a:lnTo>
                <a:close/>
              </a:path>
            </a:pathLst>
          </a:custGeom>
          <a:blipFill>
            <a:blip r:embed="rIdBase7_rId6">
              <a:extLst>
                <a:ext uri="{96DAC541-7B7A-43D3-8B79-37D633B846F1}">
                  <asvg:svgBlip xmlns:asvg="http://schemas.microsoft.com/office/drawing/2016/SVG/main" r:embed="rIdBase7_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90219" y="4636562"/>
            <a:ext cx="817667" cy="753276"/>
          </a:xfrm>
          <a:custGeom>
            <a:avLst/>
            <a:gdLst/>
            <a:ahLst/>
            <a:cxnLst/>
            <a:rect r="r" b="b" t="t" l="l"/>
            <a:pathLst>
              <a:path h="1129914" w="1226500">
                <a:moveTo>
                  <a:pt x="0" y="0"/>
                </a:moveTo>
                <a:lnTo>
                  <a:pt x="1226501" y="0"/>
                </a:lnTo>
                <a:lnTo>
                  <a:pt x="1226501" y="1129914"/>
                </a:lnTo>
                <a:lnTo>
                  <a:pt x="0" y="1129914"/>
                </a:lnTo>
                <a:lnTo>
                  <a:pt x="0" y="0"/>
                </a:lnTo>
                <a:close/>
              </a:path>
            </a:pathLst>
          </a:custGeom>
          <a:blipFill>
            <a:blip r:embed="rIdBase7_rId8">
              <a:extLst>
                <a:ext uri="{96DAC541-7B7A-43D3-8B79-37D633B846F1}">
                  <asvg:svgBlip xmlns:asvg="http://schemas.microsoft.com/office/drawing/2016/SVG/main" r:embed="rIdBase7_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809241" y="2535212"/>
            <a:ext cx="775931" cy="669241"/>
          </a:xfrm>
          <a:custGeom>
            <a:avLst/>
            <a:gdLst/>
            <a:ahLst/>
            <a:cxnLst/>
            <a:rect r="r" b="b" t="t" l="l"/>
            <a:pathLst>
              <a:path h="1003861" w="1163897">
                <a:moveTo>
                  <a:pt x="0" y="0"/>
                </a:moveTo>
                <a:lnTo>
                  <a:pt x="1163897" y="0"/>
                </a:lnTo>
                <a:lnTo>
                  <a:pt x="1163897" y="1003861"/>
                </a:lnTo>
                <a:lnTo>
                  <a:pt x="0" y="1003861"/>
                </a:lnTo>
                <a:lnTo>
                  <a:pt x="0" y="0"/>
                </a:lnTo>
                <a:close/>
              </a:path>
            </a:pathLst>
          </a:custGeom>
          <a:blipFill>
            <a:blip r:embed="rIdBase7_rId10">
              <a:extLst>
                <a:ext uri="{96DAC541-7B7A-43D3-8B79-37D633B846F1}">
                  <asvg:svgBlip xmlns:asvg="http://schemas.microsoft.com/office/drawing/2016/SVG/main" r:embed="rIdBase7_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bg>
      <p:bgPr>
        <a:solidFill>
          <a:srgbClr val="FA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719046" y="219152"/>
            <a:ext cx="57105" cy="253801"/>
          </a:xfrm>
          <a:custGeom>
            <a:avLst/>
            <a:gdLst/>
            <a:ahLst/>
            <a:cxnLst/>
            <a:rect r="r" b="b" t="t" l="l"/>
            <a:pathLst>
              <a:path h="380702" w="85658">
                <a:moveTo>
                  <a:pt x="0" y="0"/>
                </a:moveTo>
                <a:lnTo>
                  <a:pt x="85658" y="0"/>
                </a:lnTo>
                <a:lnTo>
                  <a:pt x="85658" y="380702"/>
                </a:lnTo>
                <a:lnTo>
                  <a:pt x="0" y="38070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2">
              <a:extLst>
                <a:ext uri="{96DAC541-7B7A-43D3-8B79-37D633B846F1}">
                  <asvg:svgBlip xmlns:asvg="http://schemas.microsoft.com/office/drawing/2016/SVG/main" r:embed="rIdBase4_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31275" y="1427091"/>
            <a:ext cx="486095" cy="0"/>
          </a:xfrm>
          <a:prstGeom prst="line">
            <a:avLst/>
          </a:prstGeom>
          <a:ln cap="rnd" w="50800">
            <a:solidFill>
              <a:srgbClr val="4F78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31275" y="1933474"/>
            <a:ext cx="10130678" cy="1955745"/>
            <a:chOff x="0" y="0"/>
            <a:chExt cx="2668162" cy="5150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8162" cy="515093"/>
            </a:xfrm>
            <a:custGeom>
              <a:avLst/>
              <a:gdLst/>
              <a:ahLst/>
              <a:cxnLst/>
              <a:rect r="r" b="b" t="t" l="l"/>
              <a:pathLst>
                <a:path h="772640" w="4002244">
                  <a:moveTo>
                    <a:pt x="17831" y="0"/>
                  </a:moveTo>
                  <a:lnTo>
                    <a:pt x="3984412" y="0"/>
                  </a:lnTo>
                  <a:cubicBezTo>
                    <a:pt x="3994260" y="0"/>
                    <a:pt x="4002244" y="7983"/>
                    <a:pt x="4002244" y="17831"/>
                  </a:cubicBezTo>
                  <a:lnTo>
                    <a:pt x="4002244" y="754808"/>
                  </a:lnTo>
                  <a:cubicBezTo>
                    <a:pt x="4002244" y="764656"/>
                    <a:pt x="3994260" y="772640"/>
                    <a:pt x="3984412" y="772640"/>
                  </a:cubicBezTo>
                  <a:lnTo>
                    <a:pt x="17831" y="772640"/>
                  </a:lnTo>
                  <a:cubicBezTo>
                    <a:pt x="7983" y="772640"/>
                    <a:pt x="0" y="764656"/>
                    <a:pt x="0" y="754808"/>
                  </a:cubicBezTo>
                  <a:lnTo>
                    <a:pt x="0" y="17831"/>
                  </a:lnTo>
                  <a:cubicBezTo>
                    <a:pt x="0" y="7983"/>
                    <a:pt x="7983" y="0"/>
                    <a:pt x="17831" y="0"/>
                  </a:cubicBezTo>
                  <a:close/>
                </a:path>
              </a:pathLst>
            </a:custGeom>
            <a:solidFill>
              <a:srgbClr val="4F78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1750"/>
              <a:ext cx="2668162" cy="546843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1275" y="4070524"/>
            <a:ext cx="10130678" cy="1955745"/>
            <a:chOff x="0" y="0"/>
            <a:chExt cx="2668162" cy="5150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8162" cy="515093"/>
            </a:xfrm>
            <a:custGeom>
              <a:avLst/>
              <a:gdLst/>
              <a:ahLst/>
              <a:cxnLst/>
              <a:rect r="r" b="b" t="t" l="l"/>
              <a:pathLst>
                <a:path h="772640" w="4002244">
                  <a:moveTo>
                    <a:pt x="17831" y="0"/>
                  </a:moveTo>
                  <a:lnTo>
                    <a:pt x="3984412" y="0"/>
                  </a:lnTo>
                  <a:cubicBezTo>
                    <a:pt x="3994260" y="0"/>
                    <a:pt x="4002244" y="7983"/>
                    <a:pt x="4002244" y="17831"/>
                  </a:cubicBezTo>
                  <a:lnTo>
                    <a:pt x="4002244" y="754808"/>
                  </a:lnTo>
                  <a:cubicBezTo>
                    <a:pt x="4002244" y="764656"/>
                    <a:pt x="3994260" y="772640"/>
                    <a:pt x="3984412" y="772640"/>
                  </a:cubicBezTo>
                  <a:lnTo>
                    <a:pt x="17831" y="772640"/>
                  </a:lnTo>
                  <a:cubicBezTo>
                    <a:pt x="7983" y="772640"/>
                    <a:pt x="0" y="764656"/>
                    <a:pt x="0" y="754808"/>
                  </a:cubicBezTo>
                  <a:lnTo>
                    <a:pt x="0" y="17831"/>
                  </a:lnTo>
                  <a:cubicBezTo>
                    <a:pt x="0" y="7983"/>
                    <a:pt x="7983" y="0"/>
                    <a:pt x="17831" y="0"/>
                  </a:cubicBezTo>
                  <a:close/>
                </a:path>
              </a:pathLst>
            </a:custGeom>
            <a:solidFill>
              <a:srgbClr val="A39D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1750"/>
              <a:ext cx="2668162" cy="546843"/>
            </a:xfrm>
            <a:prstGeom prst="rect">
              <a:avLst/>
            </a:prstGeom>
          </p:spPr>
          <p:txBody>
            <a:bodyPr anchor="ctr" rtlCol="false" tIns="33867" lIns="33867" bIns="33867" rIns="33867"/>
            <a:lstStyle/>
            <a:p>
              <a:pPr algn="ctr">
                <a:lnSpc>
                  <a:spcPts val="17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31275" y="774700"/>
            <a:ext cx="4478222" cy="47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1"/>
              </a:lnSpc>
            </a:pPr>
            <a:r>
              <a:rPr lang="en-US" sz="3501" spc="-70">
                <a:solidFill>
                  <a:srgbClr val="333333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추진 계획과 산출물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49444" y="983515"/>
            <a:ext cx="4195680" cy="15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240"/>
              </a:lnSpc>
              <a:spcBef>
                <a:spcPct val="0"/>
              </a:spcBef>
            </a:pPr>
            <a:r>
              <a:rPr lang="en-US" sz="1033" spc="-17" strike="noStrike" u="none">
                <a:solidFill>
                  <a:srgbClr val="333333">
                    <a:alpha val="53725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요구사항을 정하고, 개발·시범 검증을 거쳐 결과물 제공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2410" y="2366538"/>
            <a:ext cx="5352644" cy="98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설계: 점검 대상·수집 범위·담당자 업무·보고 항목 정의</a:t>
            </a:r>
            <a:b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개발: 자산 연결·취약점 분석·조치 관리·비교 보고 기능 구현</a:t>
            </a:r>
            <a:b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검증: 합의한 시범 대상에서 분석·조치 기록·보고서 확인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2410" y="4503589"/>
            <a:ext cx="5352644" cy="132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웹 시제품: 고객사 자산·위험 현황·조치 작업목록</a:t>
            </a:r>
            <a:b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보고 자료: 구성요소 목록과 조치 전후 비교 보고서</a:t>
            </a:r>
            <a:b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sz="1500" spc="-45" strike="noStrike" u="none">
                <a:solidFill>
                  <a:srgbClr val="FAF9F9"/>
                </a:solidFill>
                <a:latin typeface="JASO Sans"/>
                <a:ea typeface="JASO Sans"/>
                <a:cs typeface="JASO Sans"/>
                <a:sym typeface="JASO Sans"/>
              </a:rPr>
              <a:t>운영 자료: 소스 코드·설치 구성·사용 및 백업·복구 안내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047970" y="252946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47970" y="466651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47970" y="2866090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47970" y="5003142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1"/>
                </a:lnTo>
                <a:lnTo>
                  <a:pt x="0" y="132251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47970" y="3201908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047970" y="5338959"/>
            <a:ext cx="115630" cy="88168"/>
          </a:xfrm>
          <a:custGeom>
            <a:avLst/>
            <a:gdLst/>
            <a:ahLst/>
            <a:cxnLst/>
            <a:rect r="r" b="b" t="t" l="l"/>
            <a:pathLst>
              <a:path h="132252" w="173445">
                <a:moveTo>
                  <a:pt x="0" y="0"/>
                </a:moveTo>
                <a:lnTo>
                  <a:pt x="173445" y="0"/>
                </a:lnTo>
                <a:lnTo>
                  <a:pt x="173445" y="132252"/>
                </a:lnTo>
                <a:lnTo>
                  <a:pt x="0" y="132252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4">
              <a:extLst>
                <a:ext uri="{96DAC541-7B7A-43D3-8B79-37D633B846F1}">
                  <asvg:svgBlip xmlns:asvg="http://schemas.microsoft.com/office/drawing/2016/SVG/main" r:embed="rIdBase4_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92853" y="3075142"/>
            <a:ext cx="2215266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추진 계획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92853" y="5212193"/>
            <a:ext cx="2215266" cy="34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1"/>
              </a:lnSpc>
              <a:spcBef>
                <a:spcPct val="0"/>
              </a:spcBef>
            </a:pPr>
            <a:r>
              <a:rPr lang="en-US" b="true" sz="1833" spc="-64">
                <a:solidFill>
                  <a:srgbClr val="FAF9F9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예상 산출물</a:t>
            </a:r>
          </a:p>
        </p:txBody>
      </p:sp>
      <p:sp>
        <p:nvSpPr>
          <p:cNvPr name="AutoShape 22" id="22"/>
          <p:cNvSpPr/>
          <p:nvPr/>
        </p:nvSpPr>
        <p:spPr>
          <a:xfrm>
            <a:off x="4478045" y="2253154"/>
            <a:ext cx="0" cy="1316383"/>
          </a:xfrm>
          <a:prstGeom prst="line">
            <a:avLst/>
          </a:prstGeom>
          <a:ln cap="rnd" w="12700">
            <a:solidFill>
              <a:srgbClr val="FAF9F9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4478045" y="4390206"/>
            <a:ext cx="0" cy="1316383"/>
          </a:xfrm>
          <a:prstGeom prst="line">
            <a:avLst/>
          </a:prstGeom>
          <a:ln cap="rnd" w="12700">
            <a:solidFill>
              <a:srgbClr val="FAF9F9">
                <a:alpha val="32941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2389822" y="2343130"/>
            <a:ext cx="821327" cy="636529"/>
          </a:xfrm>
          <a:custGeom>
            <a:avLst/>
            <a:gdLst/>
            <a:ahLst/>
            <a:cxnLst/>
            <a:rect r="r" b="b" t="t" l="l"/>
            <a:pathLst>
              <a:path h="954793" w="1231991">
                <a:moveTo>
                  <a:pt x="0" y="0"/>
                </a:moveTo>
                <a:lnTo>
                  <a:pt x="1231991" y="0"/>
                </a:lnTo>
                <a:lnTo>
                  <a:pt x="1231991" y="954793"/>
                </a:lnTo>
                <a:lnTo>
                  <a:pt x="0" y="954793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6">
              <a:extLst>
                <a:ext uri="{96DAC541-7B7A-43D3-8B79-37D633B846F1}">
                  <asvg:svgBlip xmlns:asvg="http://schemas.microsoft.com/office/drawing/2016/SVG/main" r:embed="rIdBase4_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72610" y="4480180"/>
            <a:ext cx="655751" cy="651652"/>
          </a:xfrm>
          <a:custGeom>
            <a:avLst/>
            <a:gdLst/>
            <a:ahLst/>
            <a:cxnLst/>
            <a:rect r="r" b="b" t="t" l="l"/>
            <a:pathLst>
              <a:path h="977478" w="983626">
                <a:moveTo>
                  <a:pt x="0" y="0"/>
                </a:moveTo>
                <a:lnTo>
                  <a:pt x="983626" y="0"/>
                </a:lnTo>
                <a:lnTo>
                  <a:pt x="983626" y="977479"/>
                </a:lnTo>
                <a:lnTo>
                  <a:pt x="0" y="977479"/>
                </a:lnTo>
                <a:lnTo>
                  <a:pt x="0" y="0"/>
                </a:lnTo>
                <a:close/>
              </a:path>
            </a:pathLst>
          </a:custGeom>
          <a:blipFill>
            <a:blip r:embed="rIdBase4_rId8">
              <a:extLst>
                <a:ext uri="{96DAC541-7B7A-43D3-8B79-37D633B846F1}">
                  <asvg:svgBlip xmlns:asvg="http://schemas.microsoft.com/office/drawing/2016/SVG/main" r:embed="rIdBase4_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EOLWatch 프로젝트 제안 요약서</dc:title>
  <dc:subject>시스원에 제안하는 착수 전 개발 목적·기능·추진 계획·예상 산출물</dc:subject>
  <dc:creator>김연동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