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ContentType="application/x-fontdata" Extension="fntdata"/>
  <Default ContentType="image/svg+xml" Extension="sv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EOLWatch는 등록한 고객사 서버와 프로젝트의 소프트웨어 구성, 취약점, 지원 종료 일정을 담당자의 조치 업무와 보고 자료로 연결하는 웹 서비스입니다.</a:t>
            </a:r>
          </a:p>
          <a:p>
            <a:r>
              <a:t>시스원의 공개 사업 소개에 있는 시스템통합 유지관리 및 공개SW 기술지원 업무를 활용 대상으로 잡았습니다. 회사 내부에서 현재 어떤 시스템을 쓰는지, 어떤 문제가 발생하는지는 확인한 사실로 전제하지 않습니다.</a:t>
            </a:r>
          </a:p>
          <a:p>
            <a:r>
              <a:t>이 자료는 개인 경험과 기술 나열 대신, 담당자가 수행할 업무와 제공받을 자료, 실제 구현 근거와 적용 범위를 설명합니다. 표지와 본문 3장으로 구성했습니다.</a:t>
            </a:r>
          </a:p>
          <a:p>
            <a:r>
              <a:t>기업 사업 범위 출처: https://www.sysone.co.kr/businesses_veiw.php?idx=6 및 https://www.sysone.co.kr/businesses.php (2026-09-17 확인). 시스원 공식 제품이나 기존 업무 시스템과 연동을 완료했다는 의미는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시스원이 공개한 ITO 사업의 시스템통합 유지관리, 공개SW 기술지원 업무에서 활용할 수 있는 세 가지 상황을 제시합니다. 시스원의 현재 업무 방식이나 내부 도구의 부족을 단정한 표가 아닙니다.</a:t>
            </a:r>
          </a:p>
          <a:p>
            <a:r>
              <a:t>취약점 공지 대응: 등록하고 분석한 자산의 구성요소·버전·CVE를 조회해 어느 고객사와 서버를 검토해야 하는지 확인할 수 있습니다. 이 정보를 담당자와 기한을 정한 조치 작업목록으로 연결합니다. 아직 수집하지 않은 자산까지 자동으로 파악한다는 의미는 아닙니다.</a:t>
            </a:r>
          </a:p>
          <a:p>
            <a:r>
              <a:t>지원 종료 대응: 제품의 종료일과 공식 출처, 연결 자산과 계약을 참고해 변경 대상을 검토합니다. 현재는 등록된 날짜와 근거를 바탕으로 설명합니다. 공개 EOL 개별 조회·미리보기·적용의 전체 브라우저 검증은 별도 항목으로 남아 있습니다.</a:t>
            </a:r>
          </a:p>
          <a:p>
            <a:r>
              <a:t>조치 후 고객 보고: 담당자의 작업 메모와 변경 이력, 동일 자산·동일 범위의 재분석 비교 자료를 보존합니다. PDF를 고객 설명 자료로 활용하고, 담당자 변경 시 이전 처리 근거를 확인할 수 있습니다.</a:t>
            </a:r>
          </a:p>
          <a:p>
            <a:r>
              <a:t>업무 시간·비용 절감 수치는 측정하지 않았습니다. 이 장의 가치는 제공 자료가 어떤 판단과 업무를 지원하는지에 있습니다.</a:t>
            </a:r>
          </a:p>
          <a:p>
            <a:r>
              <a:t>사업 출처: https://www.sysone.co.kr/businesses_veiw.php?idx=6</a:t>
            </a:r>
          </a:p>
          <a:p>
            <a:r>
              <a:t>구현 근거: docs/IMPLEMENTATION_STATUS.md, docs/PROFESSOR_PROJECT_GUIDE.md, 조치 작업목록·제품·계약·비교 보고서 코드.</a:t>
            </a:r>
          </a:p>
          <a:p>
            <a:r>
              <a:t>2026-09-17 수정: 사용자가 제공한 ppt베이스4.pptx의 3번 슬라이드를 직접 복사했습니다. 도형·아이콘·색상·원본 서체·배치를 유지하고 화면 크기에 맞춰 전체를 등비 축소했습니다. 본문 문구만 교체했으며 표지와 승인된 3페이지는 그대로 유지했습니다.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장은 회사 도입 성과가 아니라 현재 구현한 조치·재점검 흐름의 실제 로컬 검증 사례입니다. 웹 화면은 reports/demo-analysis-comparison.png의 비교 패널과 reports/vulnerability-action-history.png의 조치 기록을 PowerPoint의 자르기 기능으로 표시했습니다. 원본 이미지 내용과 수치는 수정하지 않았습니다.</a:t>
            </a:r>
          </a:p>
          <a:p>
            <a:r>
              <a:t>범위: LAB-VM-01의 지정 Python 데모 가상환경, 분석 #3 → #4, SBOM #12 → #13. 2026-09-15에 담당자가 Jinja2 3.1.4를 3.1.6으로 업데이트하고 서비스 정상 응답을 확인한 뒤 동일 범위를 재분석했습니다.</a:t>
            </a:r>
          </a:p>
          <a:p>
            <a:r>
              <a:t>분석 결과: Jinja2 관련 CVE 3건이 재분석 미검출로 분류됐으며, 계속 검출·신규 검출·구성요소 제거는 각각 0건이었습니다. 이는 지정한 데모 범위와 당시 도구·DB 기준의 결과입니다.</a:t>
            </a:r>
          </a:p>
          <a:p>
            <a:r>
              <a:t>조치 기록: CVE-2025-27516 한 건에 담당자가 재분석 근거와 작업 메모를 첨부해 수동 조치 완료를 기록했고 저장·재조회를 확인했습니다. 나머지 두 건까지 자동으로 완료 처리된 것은 아닙니다.</a:t>
            </a:r>
          </a:p>
          <a:p>
            <a:r>
              <a:t>비교 PDF와 JSON 다운로드도 확인했습니다. 회사 담당자는 이처럼 실제 작업과 재점검 결과를 함께 보존하고 고객 설명이나 인계에 활용할 수 있습니다.</a:t>
            </a:r>
          </a:p>
          <a:p>
            <a:r>
              <a:t>구성요소 식별·취약점 대조는 Syft·Grype를 사용합니다. 제가 구현한 가치는 분석 원본을 자산에 연결하고, 담당자 이력과 동일 범위 비교·보고서로 이어 주는 관리 기능입니다.</a:t>
            </a:r>
          </a:p>
          <a:p>
            <a:r>
              <a:t>근거: reports/eolwatch-analysis-3-4.json, reports/vulnerability-action-history.png, docs/archive/REMEDIATION_VERIFICATION_2026-09-15.md, docs/archive/COMPARISON_REPORT_VERIFICATION_2026-09-15.md.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기업 담당자가 검토할 수 있는 제공물과 시범 적용 조건을 구분해 마무리합니다.</a:t>
            </a:r>
          </a:p>
          <a:p>
            <a:r>
              <a:t>제공물은 웹 관리 화면, 분석 원본과 담당자 조치 기록·비교 보고서, 소스 코드와 Docker 실행 구성 및 백업·복구 안내입니다. SBOM은 소프트웨어 구성요소 명세서이며 분석 경로는 SPDX 2.3 형식을 사용합니다.</a:t>
            </a:r>
          </a:p>
          <a:p>
            <a:r>
              <a:t>직접 구현한 범위는 자산·분석 범위 연결, 작업과 원본 저장, 담당자·기한·이력 관리, 동일 범위 전후 비교, PDF·JSON 보고서입니다. 분석 도구는 Syft·Grype를 활용하고 OSV 조회는 선택적인 보강에 사용합니다. 웹/API/DB는 React·FastAPI·PostgreSQL로 구성했습니다.</a:t>
            </a:r>
          </a:p>
          <a:p>
            <a:r>
              <a:t>현재 확인한 환경은 관리 VM 1대와 대상 서버 2대의 로컬 환경입니다. ZIP 및 SSH 분석, 예약 분석, 실패 후 재시도, 조치 기록, 비교 보고서, DB·참조 ZIP의 수동 백업·임시 복원 검증 근거가 있습니다. 모든 확장 기능의 실제 브라우저 검증이나 기업 운영 환경의 성능·권한 적합성 검증을 완료했다는 의미는 아닙니다.</a:t>
            </a:r>
          </a:p>
          <a:p>
            <a:r>
              <a:t>시범 적용을 검토한다면 수집을 허용할 서버와 프로젝트 범위, SSH 권한, 원본 및 조치 자료의 보관 기준, 담당자 역할과 고객 보고 양식을 먼저 맞춥니다. 실제 기업 적용 성과나 업무 시간 절감 수치는 아직 측정하지 않았습니다.</a:t>
            </a:r>
          </a:p>
          <a:p>
            <a:r>
              <a:t>적용 후에는 대응 자산 식별의 정확성, 고객 보고에 필요한 항목의 충족 여부, 점검·자료 작성에 걸리는 시간을 확인하는 방식으로 활용성을 평가할 수 있습니다. 이는 제안하는 확인 기준이며 이미 달성한 성과 수치는 아닙니다.</a:t>
            </a:r>
          </a:p>
          <a:p>
            <a:r>
              <a:t>기존 시스원 시스템과의 자동 연동, 고객사별 외부 로그인 격리, 자동 패치는 현재 제공 범위로 주장하지 않습니다. 이 장에서 기업의 검토 기준을 보여주되 이미 도입을 확정한 것처럼 표현하지 않습니다.</a:t>
            </a:r>
          </a:p>
          <a:p>
            <a:r>
              <a:t>2026-09-17 수정: 사용자가 제공한 ppt베이스4.pptx의 4번 슬라이드를 직접 복사했습니다. 도형·아이콘·색상·원본 서체·배치를 유지하고 화면 크기에 맞춰 전체를 등비 축소했습니다. 본문 문구만 교체했으며 표지와 승인된 3페이지는 그대로 유지했습니다.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Base3_rId2" Type="http://schemas.openxmlformats.org/officeDocument/2006/relationships/image" Target="../media/base_reuse_image3.png"/><Relationship Id="rIdBase3_rId3" Type="http://schemas.openxmlformats.org/officeDocument/2006/relationships/image" Target="../media/base_reuse_image4.svg"/><Relationship Id="rIdBase3_rId4" Type="http://schemas.openxmlformats.org/officeDocument/2006/relationships/image" Target="../media/base_reuse_image6.png"/><Relationship Id="rIdBase3_rId5" Type="http://schemas.openxmlformats.org/officeDocument/2006/relationships/image" Target="../media/base_reuse_image7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Base4_rId2" Type="http://schemas.openxmlformats.org/officeDocument/2006/relationships/image" Target="../media/base_reuse_image3.png"/><Relationship Id="rIdBase4_rId3" Type="http://schemas.openxmlformats.org/officeDocument/2006/relationships/image" Target="../media/base_reuse_image4.svg"/><Relationship Id="rIdBase4_rId4" Type="http://schemas.openxmlformats.org/officeDocument/2006/relationships/image" Target="../media/base_reuse_image6.png"/><Relationship Id="rIdBase4_rId5" Type="http://schemas.openxmlformats.org/officeDocument/2006/relationships/image" Target="../media/base_reuse_image7.svg"/><Relationship Id="rIdBase4_rId6" Type="http://schemas.openxmlformats.org/officeDocument/2006/relationships/image" Target="../media/base_reuse_image8.png"/><Relationship Id="rIdBase4_rId7" Type="http://schemas.openxmlformats.org/officeDocument/2006/relationships/image" Target="../media/base_reuse_image9.svg"/><Relationship Id="rIdBase4_rId8" Type="http://schemas.openxmlformats.org/officeDocument/2006/relationships/image" Target="../media/base_reuse_image10.png"/><Relationship Id="rIdBase4_rId9" Type="http://schemas.openxmlformats.org/officeDocument/2006/relationships/image" Target="../media/base_reuse_image11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A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시스원 유지관리·공개SW 기술지원 업무 활용 제안"/>
          <p:cNvSpPr txBox="1"/>
          <p:nvPr/>
        </p:nvSpPr>
        <p:spPr>
          <a:xfrm>
            <a:off x="822960" y="658368"/>
            <a:ext cx="104241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시스원 유지관리·공개SW 기술지원 업무 활용 제안</a:t>
            </a:r>
          </a:p>
        </p:txBody>
      </p:sp>
      <p:sp>
        <p:nvSpPr>
          <p:cNvPr id="3" name="EOLWatch"/>
          <p:cNvSpPr txBox="1"/>
          <p:nvPr/>
        </p:nvSpPr>
        <p:spPr>
          <a:xfrm>
            <a:off x="768096" y="2148840"/>
            <a:ext cx="10561320" cy="115214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800" b="1" lang="ko-KR">
                <a:solidFill>
                  <a:srgbClr val="333333"/>
                </a:solidFill>
                <a:latin typeface="Aptos"/>
                <a:ea typeface="Apple SD Gothic Neo"/>
                <a:cs typeface="Apple SD Gothic Neo"/>
              </a:rPr>
              <a:t>EOLWatch</a:t>
            </a:r>
          </a:p>
        </p:txBody>
      </p:sp>
      <p:sp>
        <p:nvSpPr>
          <p:cNvPr id="4" name="고객사 자산의 취약점·지원 종료를 / 담당자의 조치와 보고 근거로 연결합니다."/>
          <p:cNvSpPr txBox="1"/>
          <p:nvPr/>
        </p:nvSpPr>
        <p:spPr>
          <a:xfrm>
            <a:off x="832104" y="3502152"/>
            <a:ext cx="10469880" cy="10058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고객사 자산의 취약점·지원 종료를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담당자의 조치와 보고 근거로 연결합니다.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32104" y="5504688"/>
            <a:ext cx="10533888" cy="0"/>
          </a:xfrm>
          <a:prstGeom prst="line">
            <a:avLst/>
          </a:prstGeom>
          <a:ln w="8890">
            <a:solidFill>
              <a:srgbClr val="C8C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한국폴리텍대학 광명융합기술교육원"/>
          <p:cNvSpPr txBox="1"/>
          <p:nvPr/>
        </p:nvSpPr>
        <p:spPr>
          <a:xfrm>
            <a:off x="832104" y="5806440"/>
            <a:ext cx="8229600" cy="2651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한국폴리텍대학 광명융합기술교육원</a:t>
            </a:r>
          </a:p>
        </p:txBody>
      </p:sp>
      <p:sp>
        <p:nvSpPr>
          <p:cNvPr id="7" name="데이터분석과  김연동"/>
          <p:cNvSpPr txBox="1"/>
          <p:nvPr/>
        </p:nvSpPr>
        <p:spPr>
          <a:xfrm>
            <a:off x="832104" y="6236208"/>
            <a:ext cx="8229600" cy="28346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데이터분석과  김연동</a:t>
            </a:r>
          </a:p>
        </p:txBody>
      </p:sp>
      <p:sp>
        <p:nvSpPr>
          <p:cNvPr id="8" name="2026.09.17"/>
          <p:cNvSpPr txBox="1"/>
          <p:nvPr/>
        </p:nvSpPr>
        <p:spPr>
          <a:xfrm>
            <a:off x="9601200" y="6245352"/>
            <a:ext cx="1764792" cy="2468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333333"/>
                </a:solidFill>
                <a:latin typeface="Aptos"/>
                <a:ea typeface="Apple SD Gothic Neo"/>
                <a:cs typeface="Apple SD Gothic Neo"/>
              </a:rPr>
              <a:t>2026.09.17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bg>
      <p:bgPr>
        <a:solidFill>
          <a:srgbClr val="FA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1719046" y="219152"/>
            <a:ext cx="57105" cy="253801"/>
          </a:xfrm>
          <a:custGeom>
            <a:avLst/>
            <a:gdLst/>
            <a:ahLst/>
            <a:cxnLst/>
            <a:rect r="r" b="b" t="t" l="l"/>
            <a:pathLst>
              <a:path h="380702" w="85658">
                <a:moveTo>
                  <a:pt x="0" y="0"/>
                </a:moveTo>
                <a:lnTo>
                  <a:pt x="85658" y="0"/>
                </a:lnTo>
                <a:lnTo>
                  <a:pt x="85658" y="380702"/>
                </a:lnTo>
                <a:lnTo>
                  <a:pt x="0" y="380702"/>
                </a:lnTo>
                <a:lnTo>
                  <a:pt x="0" y="0"/>
                </a:lnTo>
                <a:close/>
              </a:path>
            </a:pathLst>
          </a:custGeom>
          <a:blipFill>
            <a:blip r:embed="rIdBase3_rId2">
              <a:extLst>
                <a:ext uri="{96DAC541-7B7A-43D3-8B79-37D633B846F1}">
                  <asvg:svgBlip xmlns:asvg="http://schemas.microsoft.com/office/drawing/2016/SVG/main" r:embed="rIdBase3_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31275" y="1427091"/>
            <a:ext cx="486095" cy="0"/>
          </a:xfrm>
          <a:prstGeom prst="line">
            <a:avLst/>
          </a:prstGeom>
          <a:ln cap="rnd" w="50800">
            <a:solidFill>
              <a:srgbClr val="4F785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31275" y="774700"/>
            <a:ext cx="4478222" cy="47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1"/>
              </a:lnSpc>
            </a:pPr>
            <a:r>
              <a:rPr lang="en-US" sz="3501" spc="-70">
                <a:solidFill>
                  <a:srgbClr val="333333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시스원 업무 활용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512208" y="983515"/>
            <a:ext cx="4195680" cy="152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240"/>
              </a:lnSpc>
              <a:spcBef>
                <a:spcPct val="0"/>
              </a:spcBef>
            </a:pPr>
            <a:r>
              <a:rPr lang="en-US" sz="1033" spc="-17" strike="noStrike" u="none">
                <a:solidFill>
                  <a:srgbClr val="333333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유지관리·공개SW 기술지원 담당자를 위한 활용 제안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31275" y="1933474"/>
            <a:ext cx="10129359" cy="544999"/>
            <a:chOff x="0" y="0"/>
            <a:chExt cx="1136656" cy="611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36656" cy="61157"/>
            </a:xfrm>
            <a:custGeom>
              <a:avLst/>
              <a:gdLst/>
              <a:ahLst/>
              <a:cxnLst/>
              <a:rect r="r" b="b" t="t" l="l"/>
              <a:pathLst>
                <a:path h="91735" w="1704984">
                  <a:moveTo>
                    <a:pt x="39808" y="0"/>
                  </a:moveTo>
                  <a:lnTo>
                    <a:pt x="1665177" y="0"/>
                  </a:lnTo>
                  <a:cubicBezTo>
                    <a:pt x="1687162" y="0"/>
                    <a:pt x="1704984" y="17822"/>
                    <a:pt x="1704984" y="39808"/>
                  </a:cubicBezTo>
                  <a:lnTo>
                    <a:pt x="1704984" y="51927"/>
                  </a:lnTo>
                  <a:cubicBezTo>
                    <a:pt x="1704984" y="73912"/>
                    <a:pt x="1687162" y="91735"/>
                    <a:pt x="1665177" y="91735"/>
                  </a:cubicBezTo>
                  <a:lnTo>
                    <a:pt x="39808" y="91735"/>
                  </a:lnTo>
                  <a:cubicBezTo>
                    <a:pt x="29250" y="91735"/>
                    <a:pt x="19125" y="87541"/>
                    <a:pt x="11659" y="80075"/>
                  </a:cubicBezTo>
                  <a:cubicBezTo>
                    <a:pt x="4194" y="72610"/>
                    <a:pt x="0" y="62485"/>
                    <a:pt x="0" y="51927"/>
                  </a:cubicBezTo>
                  <a:lnTo>
                    <a:pt x="0" y="39808"/>
                  </a:lnTo>
                  <a:cubicBezTo>
                    <a:pt x="0" y="29250"/>
                    <a:pt x="4194" y="19125"/>
                    <a:pt x="11659" y="11659"/>
                  </a:cubicBezTo>
                  <a:cubicBezTo>
                    <a:pt x="19125" y="4194"/>
                    <a:pt x="29250" y="0"/>
                    <a:pt x="39808" y="0"/>
                  </a:cubicBezTo>
                  <a:close/>
                </a:path>
              </a:pathLst>
            </a:custGeom>
            <a:solidFill>
              <a:srgbClr val="4F785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1750"/>
              <a:ext cx="1136656" cy="92907"/>
            </a:xfrm>
            <a:prstGeom prst="rect">
              <a:avLst/>
            </a:prstGeom>
          </p:spPr>
          <p:txBody>
            <a:bodyPr anchor="ctr" rtlCol="false" tIns="33867" lIns="33867" bIns="33867" rIns="33867"/>
            <a:lstStyle/>
            <a:p>
              <a:pPr algn="ctr">
                <a:lnSpc>
                  <a:spcPts val="172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31275" y="3650971"/>
            <a:ext cx="10130678" cy="544999"/>
            <a:chOff x="0" y="0"/>
            <a:chExt cx="1136804" cy="611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36804" cy="61157"/>
            </a:xfrm>
            <a:custGeom>
              <a:avLst/>
              <a:gdLst/>
              <a:ahLst/>
              <a:cxnLst/>
              <a:rect r="r" b="b" t="t" l="l"/>
              <a:pathLst>
                <a:path h="91735" w="1705206">
                  <a:moveTo>
                    <a:pt x="39802" y="0"/>
                  </a:moveTo>
                  <a:lnTo>
                    <a:pt x="1665404" y="0"/>
                  </a:lnTo>
                  <a:cubicBezTo>
                    <a:pt x="1675960" y="0"/>
                    <a:pt x="1686084" y="4193"/>
                    <a:pt x="1693549" y="11658"/>
                  </a:cubicBezTo>
                  <a:cubicBezTo>
                    <a:pt x="1701013" y="19122"/>
                    <a:pt x="1705206" y="29246"/>
                    <a:pt x="1705206" y="39802"/>
                  </a:cubicBezTo>
                  <a:lnTo>
                    <a:pt x="1705206" y="51932"/>
                  </a:lnTo>
                  <a:cubicBezTo>
                    <a:pt x="1705206" y="62489"/>
                    <a:pt x="1701013" y="72613"/>
                    <a:pt x="1693549" y="80077"/>
                  </a:cubicBezTo>
                  <a:cubicBezTo>
                    <a:pt x="1686084" y="87541"/>
                    <a:pt x="1675960" y="91735"/>
                    <a:pt x="1665404" y="91735"/>
                  </a:cubicBezTo>
                  <a:lnTo>
                    <a:pt x="39802" y="91735"/>
                  </a:lnTo>
                  <a:cubicBezTo>
                    <a:pt x="29246" y="91735"/>
                    <a:pt x="19122" y="87541"/>
                    <a:pt x="11658" y="80077"/>
                  </a:cubicBezTo>
                  <a:cubicBezTo>
                    <a:pt x="4193" y="72613"/>
                    <a:pt x="0" y="62489"/>
                    <a:pt x="0" y="51932"/>
                  </a:cubicBezTo>
                  <a:lnTo>
                    <a:pt x="0" y="39802"/>
                  </a:lnTo>
                  <a:cubicBezTo>
                    <a:pt x="0" y="29246"/>
                    <a:pt x="4193" y="19122"/>
                    <a:pt x="11658" y="11658"/>
                  </a:cubicBezTo>
                  <a:cubicBezTo>
                    <a:pt x="19122" y="4193"/>
                    <a:pt x="29246" y="0"/>
                    <a:pt x="39802" y="0"/>
                  </a:cubicBezTo>
                  <a:close/>
                </a:path>
              </a:pathLst>
            </a:custGeom>
            <a:solidFill>
              <a:srgbClr val="A39D9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1750"/>
              <a:ext cx="1136804" cy="92907"/>
            </a:xfrm>
            <a:prstGeom prst="rect">
              <a:avLst/>
            </a:prstGeom>
          </p:spPr>
          <p:txBody>
            <a:bodyPr anchor="ctr" rtlCol="false" tIns="33867" lIns="33867" bIns="33867" rIns="33867"/>
            <a:lstStyle/>
            <a:p>
              <a:pPr algn="ctr">
                <a:lnSpc>
                  <a:spcPts val="1725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316955" y="2144230"/>
            <a:ext cx="115630" cy="88168"/>
          </a:xfrm>
          <a:custGeom>
            <a:avLst/>
            <a:gdLst/>
            <a:ahLst/>
            <a:cxnLst/>
            <a:rect r="r" b="b" t="t" l="l"/>
            <a:pathLst>
              <a:path h="132252" w="173445">
                <a:moveTo>
                  <a:pt x="0" y="0"/>
                </a:moveTo>
                <a:lnTo>
                  <a:pt x="173445" y="0"/>
                </a:lnTo>
                <a:lnTo>
                  <a:pt x="173445" y="132251"/>
                </a:lnTo>
                <a:lnTo>
                  <a:pt x="0" y="132251"/>
                </a:lnTo>
                <a:lnTo>
                  <a:pt x="0" y="0"/>
                </a:lnTo>
                <a:close/>
              </a:path>
            </a:pathLst>
          </a:custGeom>
          <a:blipFill>
            <a:blip r:embed="rIdBase3_rId4">
              <a:extLst>
                <a:ext uri="{96DAC541-7B7A-43D3-8B79-37D633B846F1}">
                  <asvg:svgBlip xmlns:asvg="http://schemas.microsoft.com/office/drawing/2016/SVG/main" r:embed="rIdBase3_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16955" y="3861728"/>
            <a:ext cx="115630" cy="88168"/>
          </a:xfrm>
          <a:custGeom>
            <a:avLst/>
            <a:gdLst/>
            <a:ahLst/>
            <a:cxnLst/>
            <a:rect r="r" b="b" t="t" l="l"/>
            <a:pathLst>
              <a:path h="132252" w="173445">
                <a:moveTo>
                  <a:pt x="0" y="0"/>
                </a:moveTo>
                <a:lnTo>
                  <a:pt x="173445" y="0"/>
                </a:lnTo>
                <a:lnTo>
                  <a:pt x="173445" y="132251"/>
                </a:lnTo>
                <a:lnTo>
                  <a:pt x="0" y="132251"/>
                </a:lnTo>
                <a:lnTo>
                  <a:pt x="0" y="0"/>
                </a:lnTo>
                <a:close/>
              </a:path>
            </a:pathLst>
          </a:custGeom>
          <a:blipFill>
            <a:blip r:embed="rIdBase3_rId4">
              <a:extLst>
                <a:ext uri="{96DAC541-7B7A-43D3-8B79-37D633B846F1}">
                  <asvg:svgBlip xmlns:asvg="http://schemas.microsoft.com/office/drawing/2016/SVG/main" r:embed="rIdBase3_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31275" y="2636906"/>
            <a:ext cx="10130678" cy="594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5"/>
              </a:lnSpc>
              <a:spcBef>
                <a:spcPct val="0"/>
              </a:spcBef>
            </a:pPr>
            <a:r>
              <a:rPr lang="en-US" sz="1500" spc="-52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고객사 자산의 구성요소·취약점·지원 종료 정보를 연결해, 담당자가 대응 대상을 확인하도록 지원합니다.</a:t>
            </a:r>
            <a:br>
              <a:rPr lang="en-US" sz="1500" spc="-52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</a:br>
            <a:r>
              <a:rPr lang="en-US" sz="1500" spc="-52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조치 이력과 동일 범위의 재분석 결과는 담당자 인계와 고객 보고에 필요한 근거로 제공합니다.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1275" y="5126518"/>
            <a:ext cx="3071214" cy="899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15"/>
              </a:lnSpc>
              <a:spcBef>
                <a:spcPct val="0"/>
              </a:spcBef>
            </a:pPr>
            <a:r>
              <a:rPr lang="en-US" sz="1500" spc="-52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구성요소·버전과 연결된</a:t>
            </a:r>
            <a:br>
              <a:rPr lang="en-US" sz="1500" spc="-52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</a:br>
            <a:r>
              <a:rPr lang="en-US" sz="1500" spc="-52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고객사·서버를 확인하고</a:t>
            </a:r>
            <a:br>
              <a:rPr lang="en-US" sz="1500" spc="-52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</a:br>
            <a:r>
              <a:rPr lang="en-US" sz="1500" spc="-52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담당자·기한을 지정합니다.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561007" y="5126518"/>
            <a:ext cx="3071214" cy="899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15"/>
              </a:lnSpc>
              <a:spcBef>
                <a:spcPct val="0"/>
              </a:spcBef>
            </a:pPr>
            <a:r>
              <a:rPr lang="en-US" sz="1500" spc="-52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공식 종료일·연결 자산과</a:t>
            </a:r>
            <a:br>
              <a:rPr lang="en-US" sz="1500" spc="-52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</a:br>
            <a:r>
              <a:rPr lang="en-US" sz="1500" spc="-52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계약 정보를 함께 살펴</a:t>
            </a:r>
            <a:br>
              <a:rPr lang="en-US" sz="1500" spc="-52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</a:br>
            <a:r>
              <a:rPr lang="en-US" sz="1500" spc="-52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업그레이드·교체를 검토합니다.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89421" y="5126518"/>
            <a:ext cx="3071214" cy="1204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15"/>
              </a:lnSpc>
              <a:spcBef>
                <a:spcPct val="0"/>
              </a:spcBef>
            </a:pPr>
            <a:r>
              <a:rPr lang="en-US" sz="1500" spc="-52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담당자·처리 이력과 재분석</a:t>
            </a:r>
            <a:br>
              <a:rPr lang="en-US" sz="1500" spc="-52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</a:br>
            <a:r>
              <a:rPr lang="en-US" sz="1500" spc="-52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비교 PDF를 모아 조치 근거를</a:t>
            </a:r>
            <a:br>
              <a:rPr lang="en-US" sz="1500" spc="-52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</a:br>
            <a:r>
              <a:rPr lang="en-US" sz="1500" spc="-52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고객 보고와 인계에 활용합니다.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31275" y="4464485"/>
            <a:ext cx="3071214" cy="34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51"/>
              </a:lnSpc>
              <a:spcBef>
                <a:spcPct val="0"/>
              </a:spcBef>
            </a:pPr>
            <a:r>
              <a:rPr lang="en-US" b="true" sz="1833" spc="-64" strike="noStrike" u="none">
                <a:solidFill>
                  <a:srgbClr val="A39D9D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취약점 대응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561007" y="4464485"/>
            <a:ext cx="3071214" cy="34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51"/>
              </a:lnSpc>
              <a:spcBef>
                <a:spcPct val="0"/>
              </a:spcBef>
            </a:pPr>
            <a:r>
              <a:rPr lang="en-US" b="true" sz="1833" spc="-64">
                <a:solidFill>
                  <a:srgbClr val="A39D9D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지원 종료 대응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089421" y="4464485"/>
            <a:ext cx="3071214" cy="34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51"/>
              </a:lnSpc>
              <a:spcBef>
                <a:spcPct val="0"/>
              </a:spcBef>
            </a:pPr>
            <a:r>
              <a:rPr lang="en-US" b="true" sz="1833" spc="-64">
                <a:solidFill>
                  <a:srgbClr val="A39D9D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조치 결과 보고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96879" y="1996218"/>
            <a:ext cx="1618012" cy="324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37"/>
              </a:lnSpc>
              <a:spcBef>
                <a:spcPct val="0"/>
              </a:spcBef>
            </a:pPr>
            <a:r>
              <a:rPr lang="en-US" b="true" sz="1699" spc="-59">
                <a:solidFill>
                  <a:srgbClr val="FAF9F9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프로젝트의 역할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96879" y="3713716"/>
            <a:ext cx="1618012" cy="324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37"/>
              </a:lnSpc>
              <a:spcBef>
                <a:spcPct val="0"/>
              </a:spcBef>
            </a:pPr>
            <a:r>
              <a:rPr lang="en-US" b="true" sz="1699" spc="-59">
                <a:solidFill>
                  <a:srgbClr val="FAF9F9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업무별 활용</a:t>
            </a:r>
          </a:p>
        </p:txBody>
      </p:sp>
      <p:sp>
        <p:nvSpPr>
          <p:cNvPr name="AutoShape 23" id="23"/>
          <p:cNvSpPr/>
          <p:nvPr/>
        </p:nvSpPr>
        <p:spPr>
          <a:xfrm>
            <a:off x="1031275" y="4976838"/>
            <a:ext cx="3071214" cy="0"/>
          </a:xfrm>
          <a:prstGeom prst="line">
            <a:avLst/>
          </a:prstGeom>
          <a:ln cap="rnd" w="12700">
            <a:solidFill>
              <a:srgbClr val="A39D9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4561007" y="4976838"/>
            <a:ext cx="3071214" cy="0"/>
          </a:xfrm>
          <a:prstGeom prst="line">
            <a:avLst/>
          </a:prstGeom>
          <a:ln cap="rnd" w="12700">
            <a:solidFill>
              <a:srgbClr val="A39D9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8089421" y="4976838"/>
            <a:ext cx="3071214" cy="0"/>
          </a:xfrm>
          <a:prstGeom prst="line">
            <a:avLst/>
          </a:prstGeom>
          <a:ln cap="rnd" w="12700">
            <a:solidFill>
              <a:srgbClr val="A39D9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A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2 / 실제 검증 사례"/>
          <p:cNvSpPr txBox="1"/>
          <p:nvPr/>
        </p:nvSpPr>
        <p:spPr>
          <a:xfrm>
            <a:off x="594360" y="429768"/>
            <a:ext cx="1069848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02 / 실제 검증 사례</a:t>
            </a:r>
          </a:p>
        </p:txBody>
      </p:sp>
      <p:sp>
        <p:nvSpPr>
          <p:cNvPr id="3" name="업데이트 후 달라진 결과를 근거로 남깁니다"/>
          <p:cNvSpPr txBox="1"/>
          <p:nvPr/>
        </p:nvSpPr>
        <p:spPr>
          <a:xfrm>
            <a:off x="594360" y="914400"/>
            <a:ext cx="11018520" cy="5852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업데이트 후 달라진 결과를 근거로 남깁니다</a:t>
            </a:r>
          </a:p>
        </p:txBody>
      </p:sp>
      <p:sp>
        <p:nvSpPr>
          <p:cNvPr id="4" name="동일 서버·동일 Python 환경을 재분석한 실제 웹 화면입니다."/>
          <p:cNvSpPr txBox="1"/>
          <p:nvPr/>
        </p:nvSpPr>
        <p:spPr>
          <a:xfrm>
            <a:off x="594360" y="1682496"/>
            <a:ext cx="11000232" cy="3931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7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동일 서버·동일 Python 환경을 재분석한 실제 웹 화면입니다.</a:t>
            </a:r>
          </a:p>
        </p:txBody>
      </p:sp>
      <p:sp>
        <p:nvSpPr>
          <p:cNvPr id="5" name="LAB-VM-01 · 지정 데모 환경"/>
          <p:cNvSpPr txBox="1"/>
          <p:nvPr/>
        </p:nvSpPr>
        <p:spPr>
          <a:xfrm>
            <a:off x="594360" y="2414016"/>
            <a:ext cx="3474720" cy="2651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7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LAB-VM-01 · 지정 데모 환경</a:t>
            </a:r>
          </a:p>
        </p:txBody>
      </p:sp>
      <p:sp>
        <p:nvSpPr>
          <p:cNvPr id="6" name="Jinja2 업데이트"/>
          <p:cNvSpPr txBox="1"/>
          <p:nvPr/>
        </p:nvSpPr>
        <p:spPr>
          <a:xfrm>
            <a:off x="594360" y="2916936"/>
            <a:ext cx="3474720" cy="3931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Jinja2 업데이트</a:t>
            </a:r>
          </a:p>
        </p:txBody>
      </p:sp>
      <p:sp>
        <p:nvSpPr>
          <p:cNvPr id="7" name="3.1.4 → 3.1.6"/>
          <p:cNvSpPr txBox="1"/>
          <p:nvPr/>
        </p:nvSpPr>
        <p:spPr>
          <a:xfrm>
            <a:off x="594360" y="3575304"/>
            <a:ext cx="3529584" cy="521207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ko-KR">
                <a:solidFill>
                  <a:srgbClr val="4F785F"/>
                </a:solidFill>
                <a:latin typeface="Aptos"/>
                <a:ea typeface="Apple SD Gothic Neo"/>
                <a:cs typeface="Apple SD Gothic Neo"/>
              </a:rPr>
              <a:t>3.1.4 → 3.1.6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4370832"/>
            <a:ext cx="3108960" cy="0"/>
          </a:xfrm>
          <a:prstGeom prst="line">
            <a:avLst/>
          </a:prstGeom>
          <a:ln w="10160">
            <a:solidFill>
              <a:srgbClr val="C8C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재분석 미검출 3건"/>
          <p:cNvSpPr txBox="1"/>
          <p:nvPr/>
        </p:nvSpPr>
        <p:spPr>
          <a:xfrm>
            <a:off x="594360" y="4645152"/>
            <a:ext cx="3474720" cy="3566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재분석 미검출 3건</a:t>
            </a:r>
          </a:p>
        </p:txBody>
      </p:sp>
      <p:sp>
        <p:nvSpPr>
          <p:cNvPr id="10" name="조치 기록 1건 저장·재조회 / 비교 PDF·JSON 다운로드 확인"/>
          <p:cNvSpPr txBox="1"/>
          <p:nvPr/>
        </p:nvSpPr>
        <p:spPr>
          <a:xfrm>
            <a:off x="594360" y="5230368"/>
            <a:ext cx="3511296" cy="6583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조치 기록 1건 저장·재조회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비교 PDF·JSON 다운로드 확인</a:t>
            </a:r>
          </a:p>
        </p:txBody>
      </p:sp>
      <p:sp>
        <p:nvSpPr>
          <p:cNvPr id="11" name="실제 웹 화면 ①  |  분석 #3 → #4의 버전 변화·재분석 결과"/>
          <p:cNvSpPr txBox="1"/>
          <p:nvPr/>
        </p:nvSpPr>
        <p:spPr>
          <a:xfrm>
            <a:off x="4251960" y="2414016"/>
            <a:ext cx="7342631" cy="2651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7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실제 웹 화면 ①  |  분석 #3 → #4의 버전 변화·재분석 결과</a:t>
            </a:r>
          </a:p>
        </p:txBody>
      </p:sp>
      <p:pic>
        <p:nvPicPr>
          <p:cNvPr id="12" name="실제 웹 화면 — 분석 #3 → #4의 전후 비교" descr="demo-analysis-comparison.png"/>
          <p:cNvPicPr>
            <a:picLocks noChangeAspect="1"/>
          </p:cNvPicPr>
          <p:nvPr/>
        </p:nvPicPr>
        <p:blipFill>
          <a:blip r:embed="rId3"/>
          <a:srcRect l="19750" t="47833" r="4125" b="27833"/>
          <a:stretch>
            <a:fillRect/>
          </a:stretch>
        </p:blipFill>
        <p:spPr>
          <a:xfrm>
            <a:off x="4251960" y="2816352"/>
            <a:ext cx="7342631" cy="1760302"/>
          </a:xfrm>
          <a:prstGeom prst="rect">
            <a:avLst/>
          </a:prstGeom>
          <a:effectLst/>
        </p:spPr>
      </p:pic>
      <p:sp>
        <p:nvSpPr>
          <p:cNvPr id="13" name="Rectangle 12"/>
          <p:cNvSpPr/>
          <p:nvPr/>
        </p:nvSpPr>
        <p:spPr>
          <a:xfrm>
            <a:off x="4251960" y="2816352"/>
            <a:ext cx="7342631" cy="1760302"/>
          </a:xfrm>
          <a:prstGeom prst="rect">
            <a:avLst/>
          </a:prstGeom>
          <a:noFill/>
          <a:ln w="1016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실제 웹 화면 ②  |  담당자의 조치 기록과 재분석 근거"/>
          <p:cNvSpPr txBox="1"/>
          <p:nvPr/>
        </p:nvSpPr>
        <p:spPr>
          <a:xfrm>
            <a:off x="4251960" y="4736592"/>
            <a:ext cx="7342631" cy="2651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7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실제 웹 화면 ②  |  담당자의 조치 기록과 재분석 근거</a:t>
            </a:r>
          </a:p>
        </p:txBody>
      </p:sp>
      <p:pic>
        <p:nvPicPr>
          <p:cNvPr id="15" name="실제 웹 화면 — 분석 #3 → #4의 전후 비교" descr="vulnerability-action-history.png"/>
          <p:cNvPicPr>
            <a:picLocks noChangeAspect="1"/>
          </p:cNvPicPr>
          <p:nvPr/>
        </p:nvPicPr>
        <p:blipFill>
          <a:blip r:embed="rId4"/>
          <a:srcRect l="19875" t="30000" r="4188" b="53667"/>
          <a:stretch>
            <a:fillRect/>
          </a:stretch>
        </p:blipFill>
        <p:spPr>
          <a:xfrm>
            <a:off x="4251960" y="5120640"/>
            <a:ext cx="7342631" cy="1184490"/>
          </a:xfrm>
          <a:prstGeom prst="rect">
            <a:avLst/>
          </a:prstGeom>
          <a:effectLst/>
        </p:spPr>
      </p:pic>
      <p:sp>
        <p:nvSpPr>
          <p:cNvPr id="16" name="Rectangle 15"/>
          <p:cNvSpPr/>
          <p:nvPr/>
        </p:nvSpPr>
        <p:spPr>
          <a:xfrm>
            <a:off x="4251960" y="5120640"/>
            <a:ext cx="7342631" cy="1184490"/>
          </a:xfrm>
          <a:prstGeom prst="rect">
            <a:avLst/>
          </a:prstGeom>
          <a:noFill/>
          <a:ln w="1016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검증일 2026.09.15 · 조치 판단은 담당자가 기록"/>
          <p:cNvSpPr txBox="1"/>
          <p:nvPr/>
        </p:nvSpPr>
        <p:spPr>
          <a:xfrm>
            <a:off x="594360" y="6089904"/>
            <a:ext cx="3822191" cy="19202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lang="ko-KR">
                <a:solidFill>
                  <a:srgbClr val="A39D9D"/>
                </a:solidFill>
                <a:latin typeface="Apple SD Gothic Neo"/>
                <a:ea typeface="Apple SD Gothic Neo"/>
                <a:cs typeface="Apple SD Gothic Neo"/>
              </a:rPr>
              <a:t>검증일 2026.09.15 · 조치 판단은 담당자가 기록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" y="6391656"/>
            <a:ext cx="11000232" cy="0"/>
          </a:xfrm>
          <a:prstGeom prst="line">
            <a:avLst/>
          </a:prstGeom>
          <a:ln w="7620">
            <a:solidFill>
              <a:srgbClr val="C8C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OLWatch  /  시스원 업무 활용 제안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ko-KR">
                <a:solidFill>
                  <a:srgbClr val="A39D9D"/>
                </a:solidFill>
                <a:latin typeface="Apple SD Gothic Neo"/>
                <a:ea typeface="Apple SD Gothic Neo"/>
                <a:cs typeface="Apple SD Gothic Neo"/>
              </a:rPr>
              <a:t>EOLWatch  /  시스원 업무 활용 제안</a:t>
            </a:r>
          </a:p>
        </p:txBody>
      </p:sp>
      <p:sp>
        <p:nvSpPr>
          <p:cNvPr id="20" name="03 / 04"/>
          <p:cNvSpPr txBox="1"/>
          <p:nvPr/>
        </p:nvSpPr>
        <p:spPr>
          <a:xfrm>
            <a:off x="10789920" y="6492240"/>
            <a:ext cx="804672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>
                <a:solidFill>
                  <a:srgbClr val="A39D9D"/>
                </a:solidFill>
                <a:latin typeface="Aptos"/>
                <a:ea typeface="Apple SD Gothic Neo"/>
                <a:cs typeface="Apple SD Gothic Neo"/>
              </a:rPr>
              <a:t>03 / 04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bg>
      <p:bgPr>
        <a:solidFill>
          <a:srgbClr val="FA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1719046" y="219152"/>
            <a:ext cx="57105" cy="253801"/>
          </a:xfrm>
          <a:custGeom>
            <a:avLst/>
            <a:gdLst/>
            <a:ahLst/>
            <a:cxnLst/>
            <a:rect r="r" b="b" t="t" l="l"/>
            <a:pathLst>
              <a:path h="380702" w="85658">
                <a:moveTo>
                  <a:pt x="0" y="0"/>
                </a:moveTo>
                <a:lnTo>
                  <a:pt x="85658" y="0"/>
                </a:lnTo>
                <a:lnTo>
                  <a:pt x="85658" y="380702"/>
                </a:lnTo>
                <a:lnTo>
                  <a:pt x="0" y="380702"/>
                </a:lnTo>
                <a:lnTo>
                  <a:pt x="0" y="0"/>
                </a:lnTo>
                <a:close/>
              </a:path>
            </a:pathLst>
          </a:custGeom>
          <a:blipFill>
            <a:blip r:embed="rIdBase4_rId2">
              <a:extLst>
                <a:ext uri="{96DAC541-7B7A-43D3-8B79-37D633B846F1}">
                  <asvg:svgBlip xmlns:asvg="http://schemas.microsoft.com/office/drawing/2016/SVG/main" r:embed="rIdBase4_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31275" y="1427091"/>
            <a:ext cx="486095" cy="0"/>
          </a:xfrm>
          <a:prstGeom prst="line">
            <a:avLst/>
          </a:prstGeom>
          <a:ln cap="rnd" w="50800">
            <a:solidFill>
              <a:srgbClr val="4F785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31275" y="1933474"/>
            <a:ext cx="10130678" cy="1955745"/>
            <a:chOff x="0" y="0"/>
            <a:chExt cx="2668162" cy="51509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68162" cy="515093"/>
            </a:xfrm>
            <a:custGeom>
              <a:avLst/>
              <a:gdLst/>
              <a:ahLst/>
              <a:cxnLst/>
              <a:rect r="r" b="b" t="t" l="l"/>
              <a:pathLst>
                <a:path h="772640" w="4002244">
                  <a:moveTo>
                    <a:pt x="17831" y="0"/>
                  </a:moveTo>
                  <a:lnTo>
                    <a:pt x="3984412" y="0"/>
                  </a:lnTo>
                  <a:cubicBezTo>
                    <a:pt x="3994260" y="0"/>
                    <a:pt x="4002244" y="7983"/>
                    <a:pt x="4002244" y="17831"/>
                  </a:cubicBezTo>
                  <a:lnTo>
                    <a:pt x="4002244" y="754808"/>
                  </a:lnTo>
                  <a:cubicBezTo>
                    <a:pt x="4002244" y="764656"/>
                    <a:pt x="3994260" y="772640"/>
                    <a:pt x="3984412" y="772640"/>
                  </a:cubicBezTo>
                  <a:lnTo>
                    <a:pt x="17831" y="772640"/>
                  </a:lnTo>
                  <a:cubicBezTo>
                    <a:pt x="7983" y="772640"/>
                    <a:pt x="0" y="764656"/>
                    <a:pt x="0" y="754808"/>
                  </a:cubicBezTo>
                  <a:lnTo>
                    <a:pt x="0" y="17831"/>
                  </a:lnTo>
                  <a:cubicBezTo>
                    <a:pt x="0" y="7983"/>
                    <a:pt x="7983" y="0"/>
                    <a:pt x="17831" y="0"/>
                  </a:cubicBezTo>
                  <a:close/>
                </a:path>
              </a:pathLst>
            </a:custGeom>
            <a:solidFill>
              <a:srgbClr val="4F785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1750"/>
              <a:ext cx="2668162" cy="546843"/>
            </a:xfrm>
            <a:prstGeom prst="rect">
              <a:avLst/>
            </a:prstGeom>
          </p:spPr>
          <p:txBody>
            <a:bodyPr anchor="ctr" rtlCol="false" tIns="33867" lIns="33867" bIns="33867" rIns="33867"/>
            <a:lstStyle/>
            <a:p>
              <a:pPr algn="ctr">
                <a:lnSpc>
                  <a:spcPts val="172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31275" y="4070524"/>
            <a:ext cx="10130678" cy="1955745"/>
            <a:chOff x="0" y="0"/>
            <a:chExt cx="2668162" cy="5150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68162" cy="515093"/>
            </a:xfrm>
            <a:custGeom>
              <a:avLst/>
              <a:gdLst/>
              <a:ahLst/>
              <a:cxnLst/>
              <a:rect r="r" b="b" t="t" l="l"/>
              <a:pathLst>
                <a:path h="772640" w="4002244">
                  <a:moveTo>
                    <a:pt x="17831" y="0"/>
                  </a:moveTo>
                  <a:lnTo>
                    <a:pt x="3984412" y="0"/>
                  </a:lnTo>
                  <a:cubicBezTo>
                    <a:pt x="3994260" y="0"/>
                    <a:pt x="4002244" y="7983"/>
                    <a:pt x="4002244" y="17831"/>
                  </a:cubicBezTo>
                  <a:lnTo>
                    <a:pt x="4002244" y="754808"/>
                  </a:lnTo>
                  <a:cubicBezTo>
                    <a:pt x="4002244" y="764656"/>
                    <a:pt x="3994260" y="772640"/>
                    <a:pt x="3984412" y="772640"/>
                  </a:cubicBezTo>
                  <a:lnTo>
                    <a:pt x="17831" y="772640"/>
                  </a:lnTo>
                  <a:cubicBezTo>
                    <a:pt x="7983" y="772640"/>
                    <a:pt x="0" y="764656"/>
                    <a:pt x="0" y="754808"/>
                  </a:cubicBezTo>
                  <a:lnTo>
                    <a:pt x="0" y="17831"/>
                  </a:lnTo>
                  <a:cubicBezTo>
                    <a:pt x="0" y="7983"/>
                    <a:pt x="7983" y="0"/>
                    <a:pt x="17831" y="0"/>
                  </a:cubicBezTo>
                  <a:close/>
                </a:path>
              </a:pathLst>
            </a:custGeom>
            <a:solidFill>
              <a:srgbClr val="A39D9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1750"/>
              <a:ext cx="2668162" cy="546843"/>
            </a:xfrm>
            <a:prstGeom prst="rect">
              <a:avLst/>
            </a:prstGeom>
          </p:spPr>
          <p:txBody>
            <a:bodyPr anchor="ctr" rtlCol="false" tIns="33867" lIns="33867" bIns="33867" rIns="33867"/>
            <a:lstStyle/>
            <a:p>
              <a:pPr algn="ctr">
                <a:lnSpc>
                  <a:spcPts val="172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31275" y="774700"/>
            <a:ext cx="4478222" cy="47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1"/>
              </a:lnSpc>
            </a:pPr>
            <a:r>
              <a:rPr lang="en-US" sz="3501" spc="-70">
                <a:solidFill>
                  <a:srgbClr val="333333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제공물과 적용 조건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249444" y="983515"/>
            <a:ext cx="4195680" cy="152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240"/>
              </a:lnSpc>
              <a:spcBef>
                <a:spcPct val="0"/>
              </a:spcBef>
            </a:pPr>
            <a:r>
              <a:rPr lang="en-US" sz="1033" spc="-17" strike="noStrike" u="none">
                <a:solidFill>
                  <a:srgbClr val="333333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시스원 담당자가 활용할 결과물과 적용 전 확인 사항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32410" y="2366538"/>
            <a:ext cx="5352644" cy="988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9"/>
              </a:lnSpc>
            </a:pPr>
            <a:r>
              <a:rPr lang="en-US" sz="1500" spc="-45">
                <a:solidFill>
                  <a:srgbClr val="FAF9F9"/>
                </a:solidFill>
                <a:latin typeface="JASO Sans"/>
                <a:ea typeface="JASO Sans"/>
                <a:cs typeface="JASO Sans"/>
                <a:sym typeface="JASO Sans"/>
              </a:rPr>
              <a:t>웹 관리 화면: 고객사 자산·구성요소·취약점·지원 종료 조회</a:t>
            </a:r>
            <a:br>
              <a:rPr lang="en-US" sz="1500" spc="-45">
                <a:solidFill>
                  <a:srgbClr val="FAF9F9"/>
                </a:solidFill>
                <a:latin typeface="JASO Sans"/>
                <a:ea typeface="JASO Sans"/>
                <a:cs typeface="JASO Sans"/>
                <a:sym typeface="JASO Sans"/>
              </a:rPr>
            </a:br>
            <a:r>
              <a:rPr lang="en-US" sz="1500" spc="-45">
                <a:solidFill>
                  <a:srgbClr val="FAF9F9"/>
                </a:solidFill>
                <a:latin typeface="JASO Sans"/>
                <a:ea typeface="JASO Sans"/>
                <a:cs typeface="JASO Sans"/>
                <a:sym typeface="JASO Sans"/>
              </a:rPr>
              <a:t>조치·보고 자료: 담당자·기한·처리 이력, 전후 비교 PDF·JSON</a:t>
            </a:r>
            <a:br>
              <a:rPr lang="en-US" sz="1500" spc="-45">
                <a:solidFill>
                  <a:srgbClr val="FAF9F9"/>
                </a:solidFill>
                <a:latin typeface="JASO Sans"/>
                <a:ea typeface="JASO Sans"/>
                <a:cs typeface="JASO Sans"/>
                <a:sym typeface="JASO Sans"/>
              </a:rPr>
            </a:br>
            <a:r>
              <a:rPr lang="en-US" sz="1500" spc="-45">
                <a:solidFill>
                  <a:srgbClr val="FAF9F9"/>
                </a:solidFill>
                <a:latin typeface="JASO Sans"/>
                <a:ea typeface="JASO Sans"/>
                <a:cs typeface="JASO Sans"/>
                <a:sym typeface="JASO Sans"/>
              </a:rPr>
              <a:t>실행·운영 자료: 소스 코드·Docker 구성·백업·복구 안내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232410" y="4503589"/>
            <a:ext cx="5352644" cy="1324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9"/>
              </a:lnSpc>
            </a:pPr>
            <a:r>
              <a:rPr lang="en-US" sz="1500" spc="-45" strike="noStrike" u="none">
                <a:solidFill>
                  <a:srgbClr val="FAF9F9"/>
                </a:solidFill>
                <a:latin typeface="JASO Sans"/>
                <a:ea typeface="JASO Sans"/>
                <a:cs typeface="JASO Sans"/>
                <a:sym typeface="JASO Sans"/>
              </a:rPr>
              <a:t>점검 범위: 대상 서버·프로젝트와 분석 주기</a:t>
            </a:r>
            <a:br>
              <a:rPr lang="en-US" sz="1500" spc="-45" strike="noStrike" u="none">
                <a:solidFill>
                  <a:srgbClr val="FAF9F9"/>
                </a:solidFill>
                <a:latin typeface="JASO Sans"/>
                <a:ea typeface="JASO Sans"/>
                <a:cs typeface="JASO Sans"/>
                <a:sym typeface="JASO Sans"/>
              </a:rPr>
            </a:br>
            <a:r>
              <a:rPr lang="en-US" sz="1500" spc="-45" strike="noStrike" u="none">
                <a:solidFill>
                  <a:srgbClr val="FAF9F9"/>
                </a:solidFill>
                <a:latin typeface="JASO Sans"/>
                <a:ea typeface="JASO Sans"/>
                <a:cs typeface="JASO Sans"/>
                <a:sym typeface="JASO Sans"/>
              </a:rPr>
              <a:t>접근·보관 기준: SSH 권한과 분석 원본·조치 기록 보관</a:t>
            </a:r>
            <a:br>
              <a:rPr lang="en-US" sz="1500" spc="-45" strike="noStrike" u="none">
                <a:solidFill>
                  <a:srgbClr val="FAF9F9"/>
                </a:solidFill>
                <a:latin typeface="JASO Sans"/>
                <a:ea typeface="JASO Sans"/>
                <a:cs typeface="JASO Sans"/>
                <a:sym typeface="JASO Sans"/>
              </a:rPr>
            </a:br>
            <a:r>
              <a:rPr lang="en-US" sz="1500" spc="-45" strike="noStrike" u="none">
                <a:solidFill>
                  <a:srgbClr val="FAF9F9"/>
                </a:solidFill>
                <a:latin typeface="JASO Sans"/>
                <a:ea typeface="JASO Sans"/>
                <a:cs typeface="JASO Sans"/>
                <a:sym typeface="JASO Sans"/>
              </a:rPr>
              <a:t>업무 기준: 담당자 역할·조치 완료 판단·고객 보고 항목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5047970" y="2529468"/>
            <a:ext cx="115630" cy="88168"/>
          </a:xfrm>
          <a:custGeom>
            <a:avLst/>
            <a:gdLst/>
            <a:ahLst/>
            <a:cxnLst/>
            <a:rect r="r" b="b" t="t" l="l"/>
            <a:pathLst>
              <a:path h="132252" w="173445">
                <a:moveTo>
                  <a:pt x="0" y="0"/>
                </a:moveTo>
                <a:lnTo>
                  <a:pt x="173445" y="0"/>
                </a:lnTo>
                <a:lnTo>
                  <a:pt x="173445" y="132251"/>
                </a:lnTo>
                <a:lnTo>
                  <a:pt x="0" y="132251"/>
                </a:lnTo>
                <a:lnTo>
                  <a:pt x="0" y="0"/>
                </a:lnTo>
                <a:close/>
              </a:path>
            </a:pathLst>
          </a:custGeom>
          <a:blipFill>
            <a:blip r:embed="rIdBase4_rId4">
              <a:extLst>
                <a:ext uri="{96DAC541-7B7A-43D3-8B79-37D633B846F1}">
                  <asvg:svgBlip xmlns:asvg="http://schemas.microsoft.com/office/drawing/2016/SVG/main" r:embed="rIdBase4_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047970" y="4666518"/>
            <a:ext cx="115630" cy="88168"/>
          </a:xfrm>
          <a:custGeom>
            <a:avLst/>
            <a:gdLst/>
            <a:ahLst/>
            <a:cxnLst/>
            <a:rect r="r" b="b" t="t" l="l"/>
            <a:pathLst>
              <a:path h="132252" w="173445">
                <a:moveTo>
                  <a:pt x="0" y="0"/>
                </a:moveTo>
                <a:lnTo>
                  <a:pt x="173445" y="0"/>
                </a:lnTo>
                <a:lnTo>
                  <a:pt x="173445" y="132252"/>
                </a:lnTo>
                <a:lnTo>
                  <a:pt x="0" y="132252"/>
                </a:lnTo>
                <a:lnTo>
                  <a:pt x="0" y="0"/>
                </a:lnTo>
                <a:close/>
              </a:path>
            </a:pathLst>
          </a:custGeom>
          <a:blipFill>
            <a:blip r:embed="rIdBase4_rId4">
              <a:extLst>
                <a:ext uri="{96DAC541-7B7A-43D3-8B79-37D633B846F1}">
                  <asvg:svgBlip xmlns:asvg="http://schemas.microsoft.com/office/drawing/2016/SVG/main" r:embed="rIdBase4_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047970" y="2866090"/>
            <a:ext cx="115630" cy="88168"/>
          </a:xfrm>
          <a:custGeom>
            <a:avLst/>
            <a:gdLst/>
            <a:ahLst/>
            <a:cxnLst/>
            <a:rect r="r" b="b" t="t" l="l"/>
            <a:pathLst>
              <a:path h="132252" w="173445">
                <a:moveTo>
                  <a:pt x="0" y="0"/>
                </a:moveTo>
                <a:lnTo>
                  <a:pt x="173445" y="0"/>
                </a:lnTo>
                <a:lnTo>
                  <a:pt x="173445" y="132252"/>
                </a:lnTo>
                <a:lnTo>
                  <a:pt x="0" y="132252"/>
                </a:lnTo>
                <a:lnTo>
                  <a:pt x="0" y="0"/>
                </a:lnTo>
                <a:close/>
              </a:path>
            </a:pathLst>
          </a:custGeom>
          <a:blipFill>
            <a:blip r:embed="rIdBase4_rId4">
              <a:extLst>
                <a:ext uri="{96DAC541-7B7A-43D3-8B79-37D633B846F1}">
                  <asvg:svgBlip xmlns:asvg="http://schemas.microsoft.com/office/drawing/2016/SVG/main" r:embed="rIdBase4_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047970" y="5003142"/>
            <a:ext cx="115630" cy="88168"/>
          </a:xfrm>
          <a:custGeom>
            <a:avLst/>
            <a:gdLst/>
            <a:ahLst/>
            <a:cxnLst/>
            <a:rect r="r" b="b" t="t" l="l"/>
            <a:pathLst>
              <a:path h="132252" w="173445">
                <a:moveTo>
                  <a:pt x="0" y="0"/>
                </a:moveTo>
                <a:lnTo>
                  <a:pt x="173445" y="0"/>
                </a:lnTo>
                <a:lnTo>
                  <a:pt x="173445" y="132251"/>
                </a:lnTo>
                <a:lnTo>
                  <a:pt x="0" y="132251"/>
                </a:lnTo>
                <a:lnTo>
                  <a:pt x="0" y="0"/>
                </a:lnTo>
                <a:close/>
              </a:path>
            </a:pathLst>
          </a:custGeom>
          <a:blipFill>
            <a:blip r:embed="rIdBase4_rId4">
              <a:extLst>
                <a:ext uri="{96DAC541-7B7A-43D3-8B79-37D633B846F1}">
                  <asvg:svgBlip xmlns:asvg="http://schemas.microsoft.com/office/drawing/2016/SVG/main" r:embed="rIdBase4_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047970" y="3201908"/>
            <a:ext cx="115630" cy="88168"/>
          </a:xfrm>
          <a:custGeom>
            <a:avLst/>
            <a:gdLst/>
            <a:ahLst/>
            <a:cxnLst/>
            <a:rect r="r" b="b" t="t" l="l"/>
            <a:pathLst>
              <a:path h="132252" w="173445">
                <a:moveTo>
                  <a:pt x="0" y="0"/>
                </a:moveTo>
                <a:lnTo>
                  <a:pt x="173445" y="0"/>
                </a:lnTo>
                <a:lnTo>
                  <a:pt x="173445" y="132252"/>
                </a:lnTo>
                <a:lnTo>
                  <a:pt x="0" y="132252"/>
                </a:lnTo>
                <a:lnTo>
                  <a:pt x="0" y="0"/>
                </a:lnTo>
                <a:close/>
              </a:path>
            </a:pathLst>
          </a:custGeom>
          <a:blipFill>
            <a:blip r:embed="rIdBase4_rId4">
              <a:extLst>
                <a:ext uri="{96DAC541-7B7A-43D3-8B79-37D633B846F1}">
                  <asvg:svgBlip xmlns:asvg="http://schemas.microsoft.com/office/drawing/2016/SVG/main" r:embed="rIdBase4_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047970" y="5338959"/>
            <a:ext cx="115630" cy="88168"/>
          </a:xfrm>
          <a:custGeom>
            <a:avLst/>
            <a:gdLst/>
            <a:ahLst/>
            <a:cxnLst/>
            <a:rect r="r" b="b" t="t" l="l"/>
            <a:pathLst>
              <a:path h="132252" w="173445">
                <a:moveTo>
                  <a:pt x="0" y="0"/>
                </a:moveTo>
                <a:lnTo>
                  <a:pt x="173445" y="0"/>
                </a:lnTo>
                <a:lnTo>
                  <a:pt x="173445" y="132252"/>
                </a:lnTo>
                <a:lnTo>
                  <a:pt x="0" y="132252"/>
                </a:lnTo>
                <a:lnTo>
                  <a:pt x="0" y="0"/>
                </a:lnTo>
                <a:close/>
              </a:path>
            </a:pathLst>
          </a:custGeom>
          <a:blipFill>
            <a:blip r:embed="rIdBase4_rId4">
              <a:extLst>
                <a:ext uri="{96DAC541-7B7A-43D3-8B79-37D633B846F1}">
                  <asvg:svgBlip xmlns:asvg="http://schemas.microsoft.com/office/drawing/2016/SVG/main" r:embed="rIdBase4_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692853" y="3075142"/>
            <a:ext cx="2215266" cy="34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51"/>
              </a:lnSpc>
              <a:spcBef>
                <a:spcPct val="0"/>
              </a:spcBef>
            </a:pPr>
            <a:r>
              <a:rPr lang="en-US" b="true" sz="1833" spc="-64">
                <a:solidFill>
                  <a:srgbClr val="FAF9F9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제공 결과물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92853" y="5212193"/>
            <a:ext cx="2215266" cy="34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51"/>
              </a:lnSpc>
              <a:spcBef>
                <a:spcPct val="0"/>
              </a:spcBef>
            </a:pPr>
            <a:r>
              <a:rPr lang="en-US" b="true" sz="1833" spc="-64">
                <a:solidFill>
                  <a:srgbClr val="FAF9F9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적용 전 확인</a:t>
            </a:r>
          </a:p>
        </p:txBody>
      </p:sp>
      <p:sp>
        <p:nvSpPr>
          <p:cNvPr name="AutoShape 22" id="22"/>
          <p:cNvSpPr/>
          <p:nvPr/>
        </p:nvSpPr>
        <p:spPr>
          <a:xfrm>
            <a:off x="4478045" y="2253154"/>
            <a:ext cx="0" cy="1316383"/>
          </a:xfrm>
          <a:prstGeom prst="line">
            <a:avLst/>
          </a:prstGeom>
          <a:ln cap="rnd" w="12700">
            <a:solidFill>
              <a:srgbClr val="FAF9F9">
                <a:alpha val="2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4478045" y="4390206"/>
            <a:ext cx="0" cy="1316383"/>
          </a:xfrm>
          <a:prstGeom prst="line">
            <a:avLst/>
          </a:prstGeom>
          <a:ln cap="rnd" w="12700">
            <a:solidFill>
              <a:srgbClr val="FAF9F9">
                <a:alpha val="32941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2389822" y="2343130"/>
            <a:ext cx="821327" cy="636529"/>
          </a:xfrm>
          <a:custGeom>
            <a:avLst/>
            <a:gdLst/>
            <a:ahLst/>
            <a:cxnLst/>
            <a:rect r="r" b="b" t="t" l="l"/>
            <a:pathLst>
              <a:path h="954793" w="1231991">
                <a:moveTo>
                  <a:pt x="0" y="0"/>
                </a:moveTo>
                <a:lnTo>
                  <a:pt x="1231991" y="0"/>
                </a:lnTo>
                <a:lnTo>
                  <a:pt x="1231991" y="954793"/>
                </a:lnTo>
                <a:lnTo>
                  <a:pt x="0" y="954793"/>
                </a:lnTo>
                <a:lnTo>
                  <a:pt x="0" y="0"/>
                </a:lnTo>
                <a:close/>
              </a:path>
            </a:pathLst>
          </a:custGeom>
          <a:blipFill>
            <a:blip r:embed="rIdBase4_rId6">
              <a:extLst>
                <a:ext uri="{96DAC541-7B7A-43D3-8B79-37D633B846F1}">
                  <asvg:svgBlip xmlns:asvg="http://schemas.microsoft.com/office/drawing/2016/SVG/main" r:embed="rIdBase4_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472610" y="4480180"/>
            <a:ext cx="655751" cy="651652"/>
          </a:xfrm>
          <a:custGeom>
            <a:avLst/>
            <a:gdLst/>
            <a:ahLst/>
            <a:cxnLst/>
            <a:rect r="r" b="b" t="t" l="l"/>
            <a:pathLst>
              <a:path h="977478" w="983626">
                <a:moveTo>
                  <a:pt x="0" y="0"/>
                </a:moveTo>
                <a:lnTo>
                  <a:pt x="983626" y="0"/>
                </a:lnTo>
                <a:lnTo>
                  <a:pt x="983626" y="977479"/>
                </a:lnTo>
                <a:lnTo>
                  <a:pt x="0" y="977479"/>
                </a:lnTo>
                <a:lnTo>
                  <a:pt x="0" y="0"/>
                </a:lnTo>
                <a:close/>
              </a:path>
            </a:pathLst>
          </a:custGeom>
          <a:blipFill>
            <a:blip r:embed="rIdBase4_rId8">
              <a:extLst>
                <a:ext uri="{96DAC541-7B7A-43D3-8B79-37D633B846F1}">
                  <asvg:svgBlip xmlns:asvg="http://schemas.microsoft.com/office/drawing/2016/SVG/main" r:embed="rIdBase4_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EOLWatch — 시스원 업무 활용 제안</dc:title>
  <dc:subject>유지관리 업무 활용, 실제 조치 사례, 제공 결과물과 적용 범위</dc:subject>
  <dc:creator>김연동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