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1" autoAdjust="0"/>
  </p:normalViewPr>
  <p:slideViewPr>
    <p:cSldViewPr>
      <p:cViewPr varScale="1">
        <p:scale>
          <a:sx n="72" d="100"/>
          <a:sy n="72" d="100"/>
        </p:scale>
        <p:origin x="66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19573" y="7502029"/>
            <a:ext cx="10967441" cy="737429"/>
            <a:chOff x="0" y="0"/>
            <a:chExt cx="1364329" cy="917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4329" cy="91735"/>
            </a:xfrm>
            <a:custGeom>
              <a:avLst/>
              <a:gdLst/>
              <a:ahLst/>
              <a:cxnLst/>
              <a:rect l="l" t="t" r="r" b="b"/>
              <a:pathLst>
                <a:path w="1364329" h="91735">
                  <a:moveTo>
                    <a:pt x="45867" y="0"/>
                  </a:moveTo>
                  <a:lnTo>
                    <a:pt x="1318462" y="0"/>
                  </a:lnTo>
                  <a:cubicBezTo>
                    <a:pt x="1343794" y="0"/>
                    <a:pt x="1364329" y="20536"/>
                    <a:pt x="1364329" y="45867"/>
                  </a:cubicBezTo>
                  <a:lnTo>
                    <a:pt x="1364329" y="45867"/>
                  </a:lnTo>
                  <a:cubicBezTo>
                    <a:pt x="1364329" y="71199"/>
                    <a:pt x="1343794" y="91735"/>
                    <a:pt x="1318462" y="91735"/>
                  </a:cubicBezTo>
                  <a:lnTo>
                    <a:pt x="45867" y="91735"/>
                  </a:lnTo>
                  <a:cubicBezTo>
                    <a:pt x="20536" y="91735"/>
                    <a:pt x="0" y="71199"/>
                    <a:pt x="0" y="45867"/>
                  </a:cubicBezTo>
                  <a:lnTo>
                    <a:pt x="0" y="45867"/>
                  </a:lnTo>
                  <a:cubicBezTo>
                    <a:pt x="0" y="20536"/>
                    <a:pt x="20536" y="0"/>
                    <a:pt x="45867" y="0"/>
                  </a:cubicBezTo>
                  <a:close/>
                </a:path>
              </a:pathLst>
            </a:custGeom>
            <a:solidFill>
              <a:srgbClr val="4F78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64329" cy="13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5615" y="7502029"/>
            <a:ext cx="3162812" cy="737429"/>
            <a:chOff x="0" y="0"/>
            <a:chExt cx="393448" cy="917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3448" cy="91735"/>
            </a:xfrm>
            <a:custGeom>
              <a:avLst/>
              <a:gdLst/>
              <a:ahLst/>
              <a:cxnLst/>
              <a:rect l="l" t="t" r="r" b="b"/>
              <a:pathLst>
                <a:path w="393448" h="91735">
                  <a:moveTo>
                    <a:pt x="45867" y="0"/>
                  </a:moveTo>
                  <a:lnTo>
                    <a:pt x="347581" y="0"/>
                  </a:lnTo>
                  <a:cubicBezTo>
                    <a:pt x="372912" y="0"/>
                    <a:pt x="393448" y="20536"/>
                    <a:pt x="393448" y="45867"/>
                  </a:cubicBezTo>
                  <a:lnTo>
                    <a:pt x="393448" y="45867"/>
                  </a:lnTo>
                  <a:cubicBezTo>
                    <a:pt x="393448" y="71199"/>
                    <a:pt x="372912" y="91735"/>
                    <a:pt x="347581" y="91735"/>
                  </a:cubicBezTo>
                  <a:lnTo>
                    <a:pt x="45867" y="91735"/>
                  </a:lnTo>
                  <a:cubicBezTo>
                    <a:pt x="20536" y="91735"/>
                    <a:pt x="0" y="71199"/>
                    <a:pt x="0" y="45867"/>
                  </a:cubicBezTo>
                  <a:lnTo>
                    <a:pt x="0" y="45867"/>
                  </a:lnTo>
                  <a:cubicBezTo>
                    <a:pt x="0" y="20536"/>
                    <a:pt x="20536" y="0"/>
                    <a:pt x="45867" y="0"/>
                  </a:cubicBezTo>
                  <a:close/>
                </a:path>
              </a:pathLst>
            </a:custGeom>
            <a:solidFill>
              <a:srgbClr val="A39D9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93448" cy="13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088199" y="2324757"/>
            <a:ext cx="3914204" cy="4114800"/>
          </a:xfrm>
          <a:custGeom>
            <a:avLst/>
            <a:gdLst/>
            <a:ahLst/>
            <a:cxnLst/>
            <a:rect l="l" t="t" r="r" b="b"/>
            <a:pathLst>
              <a:path w="3914204" h="4114800">
                <a:moveTo>
                  <a:pt x="0" y="0"/>
                </a:moveTo>
                <a:lnTo>
                  <a:pt x="3914203" y="0"/>
                </a:lnTo>
                <a:lnTo>
                  <a:pt x="39142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712711" y="2524940"/>
            <a:ext cx="9014673" cy="1396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87"/>
              </a:lnSpc>
            </a:pPr>
            <a:r>
              <a:rPr lang="en-US" sz="10379" spc="-207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비즈니스마케팅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12711" y="4011395"/>
            <a:ext cx="12103881" cy="1396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87"/>
              </a:lnSpc>
            </a:pPr>
            <a:r>
              <a:rPr lang="en-US" sz="10379" spc="-207">
                <a:solidFill>
                  <a:srgbClr val="4F785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사업제안서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69861" y="5971069"/>
            <a:ext cx="10520872" cy="29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679" spc="-16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실무에 바로 적용할 수 있는 슬라이드 구성법을 소개하며, 각 슬라이드는 실제 시각적 배치를 예시로 보여줍니다.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69861" y="5502860"/>
            <a:ext cx="7287980" cy="35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 b="1" spc="-90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성공적인 캠페인을 위한 비즈니스 전략과 실행 계획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67261" y="7772114"/>
            <a:ext cx="2360239" cy="180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lang="en-US" sz="1400" b="1" spc="23">
                <a:solidFill>
                  <a:srgbClr val="FAF9F9"/>
                </a:solidFill>
                <a:latin typeface="Poppins"/>
                <a:ea typeface="Poppins"/>
                <a:cs typeface="Poppins"/>
                <a:sym typeface="Poppins Medium"/>
              </a:rPr>
              <a:t>www.reallygreatsite.com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33664" y="7720665"/>
            <a:ext cx="2043327" cy="24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563" spc="-31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라라나 마케팅 1팀 이수진</a:t>
            </a:r>
          </a:p>
        </p:txBody>
      </p:sp>
      <p:sp>
        <p:nvSpPr>
          <p:cNvPr id="15" name="Freeform 15"/>
          <p:cNvSpPr/>
          <p:nvPr/>
        </p:nvSpPr>
        <p:spPr>
          <a:xfrm rot="-5400000">
            <a:off x="17578570" y="328728"/>
            <a:ext cx="85658" cy="380702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7578570" y="328728"/>
            <a:ext cx="85658" cy="380702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546912" y="2140636"/>
            <a:ext cx="729142" cy="0"/>
          </a:xfrm>
          <a:prstGeom prst="line">
            <a:avLst/>
          </a:prstGeom>
          <a:ln w="7620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546912" y="2900211"/>
            <a:ext cx="5803238" cy="6139193"/>
            <a:chOff x="0" y="0"/>
            <a:chExt cx="768321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321" cy="812800"/>
            </a:xfrm>
            <a:custGeom>
              <a:avLst/>
              <a:gdLst/>
              <a:ahLst/>
              <a:cxnLst/>
              <a:rect l="l" t="t" r="r" b="b"/>
              <a:pathLst>
                <a:path w="768321" h="812800">
                  <a:moveTo>
                    <a:pt x="46692" y="0"/>
                  </a:moveTo>
                  <a:lnTo>
                    <a:pt x="721629" y="0"/>
                  </a:lnTo>
                  <a:cubicBezTo>
                    <a:pt x="734012" y="0"/>
                    <a:pt x="745889" y="4919"/>
                    <a:pt x="754645" y="13676"/>
                  </a:cubicBezTo>
                  <a:cubicBezTo>
                    <a:pt x="763402" y="22432"/>
                    <a:pt x="768321" y="34309"/>
                    <a:pt x="768321" y="46692"/>
                  </a:cubicBezTo>
                  <a:lnTo>
                    <a:pt x="768321" y="766108"/>
                  </a:lnTo>
                  <a:cubicBezTo>
                    <a:pt x="768321" y="778491"/>
                    <a:pt x="763402" y="790368"/>
                    <a:pt x="754645" y="799124"/>
                  </a:cubicBezTo>
                  <a:cubicBezTo>
                    <a:pt x="745889" y="807881"/>
                    <a:pt x="734012" y="812800"/>
                    <a:pt x="721629" y="812800"/>
                  </a:cubicBezTo>
                  <a:lnTo>
                    <a:pt x="46692" y="812800"/>
                  </a:lnTo>
                  <a:cubicBezTo>
                    <a:pt x="34309" y="812800"/>
                    <a:pt x="22432" y="807881"/>
                    <a:pt x="13676" y="799124"/>
                  </a:cubicBezTo>
                  <a:cubicBezTo>
                    <a:pt x="4919" y="790368"/>
                    <a:pt x="0" y="778491"/>
                    <a:pt x="0" y="766108"/>
                  </a:cubicBezTo>
                  <a:lnTo>
                    <a:pt x="0" y="46692"/>
                  </a:lnTo>
                  <a:cubicBezTo>
                    <a:pt x="0" y="34309"/>
                    <a:pt x="4919" y="22432"/>
                    <a:pt x="13676" y="13676"/>
                  </a:cubicBezTo>
                  <a:cubicBezTo>
                    <a:pt x="22432" y="4919"/>
                    <a:pt x="34309" y="0"/>
                    <a:pt x="46692" y="0"/>
                  </a:cubicBezTo>
                  <a:close/>
                </a:path>
              </a:pathLst>
            </a:custGeom>
            <a:blipFill>
              <a:blip r:embed="rId3"/>
              <a:stretch>
                <a:fillRect l="-37882" t="-12879" r="-41075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90121" y="3281211"/>
            <a:ext cx="8452810" cy="817499"/>
            <a:chOff x="0" y="0"/>
            <a:chExt cx="948524" cy="917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8524" cy="91735"/>
            </a:xfrm>
            <a:custGeom>
              <a:avLst/>
              <a:gdLst/>
              <a:ahLst/>
              <a:cxnLst/>
              <a:rect l="l" t="t" r="r" b="b"/>
              <a:pathLst>
                <a:path w="948524" h="91735">
                  <a:moveTo>
                    <a:pt x="45867" y="0"/>
                  </a:moveTo>
                  <a:lnTo>
                    <a:pt x="902656" y="0"/>
                  </a:lnTo>
                  <a:cubicBezTo>
                    <a:pt x="914821" y="0"/>
                    <a:pt x="926488" y="4832"/>
                    <a:pt x="935090" y="13434"/>
                  </a:cubicBezTo>
                  <a:cubicBezTo>
                    <a:pt x="943691" y="22036"/>
                    <a:pt x="948524" y="33703"/>
                    <a:pt x="948524" y="45867"/>
                  </a:cubicBezTo>
                  <a:lnTo>
                    <a:pt x="948524" y="45867"/>
                  </a:lnTo>
                  <a:cubicBezTo>
                    <a:pt x="948524" y="71199"/>
                    <a:pt x="927988" y="91735"/>
                    <a:pt x="902656" y="91735"/>
                  </a:cubicBezTo>
                  <a:lnTo>
                    <a:pt x="45867" y="91735"/>
                  </a:lnTo>
                  <a:cubicBezTo>
                    <a:pt x="20536" y="91735"/>
                    <a:pt x="0" y="71199"/>
                    <a:pt x="0" y="45867"/>
                  </a:cubicBezTo>
                  <a:lnTo>
                    <a:pt x="0" y="45867"/>
                  </a:lnTo>
                  <a:cubicBezTo>
                    <a:pt x="0" y="20536"/>
                    <a:pt x="20536" y="0"/>
                    <a:pt x="45867" y="0"/>
                  </a:cubicBezTo>
                  <a:close/>
                </a:path>
              </a:pathLst>
            </a:custGeom>
            <a:solidFill>
              <a:srgbClr val="4F78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48524" cy="13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90121" y="6143163"/>
            <a:ext cx="8452810" cy="817499"/>
            <a:chOff x="0" y="0"/>
            <a:chExt cx="948524" cy="917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8524" cy="91735"/>
            </a:xfrm>
            <a:custGeom>
              <a:avLst/>
              <a:gdLst/>
              <a:ahLst/>
              <a:cxnLst/>
              <a:rect l="l" t="t" r="r" b="b"/>
              <a:pathLst>
                <a:path w="948524" h="91735">
                  <a:moveTo>
                    <a:pt x="45867" y="0"/>
                  </a:moveTo>
                  <a:lnTo>
                    <a:pt x="902656" y="0"/>
                  </a:lnTo>
                  <a:cubicBezTo>
                    <a:pt x="914821" y="0"/>
                    <a:pt x="926488" y="4832"/>
                    <a:pt x="935090" y="13434"/>
                  </a:cubicBezTo>
                  <a:cubicBezTo>
                    <a:pt x="943691" y="22036"/>
                    <a:pt x="948524" y="33703"/>
                    <a:pt x="948524" y="45867"/>
                  </a:cubicBezTo>
                  <a:lnTo>
                    <a:pt x="948524" y="45867"/>
                  </a:lnTo>
                  <a:cubicBezTo>
                    <a:pt x="948524" y="71199"/>
                    <a:pt x="927988" y="91735"/>
                    <a:pt x="902656" y="91735"/>
                  </a:cubicBezTo>
                  <a:lnTo>
                    <a:pt x="45867" y="91735"/>
                  </a:lnTo>
                  <a:cubicBezTo>
                    <a:pt x="20536" y="91735"/>
                    <a:pt x="0" y="71199"/>
                    <a:pt x="0" y="45867"/>
                  </a:cubicBezTo>
                  <a:lnTo>
                    <a:pt x="0" y="45867"/>
                  </a:lnTo>
                  <a:cubicBezTo>
                    <a:pt x="0" y="20536"/>
                    <a:pt x="20536" y="0"/>
                    <a:pt x="45867" y="0"/>
                  </a:cubicBezTo>
                  <a:close/>
                </a:path>
              </a:pathLst>
            </a:custGeom>
            <a:solidFill>
              <a:srgbClr val="A39D9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48524" cy="13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18641" y="3597346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8718641" y="6459298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546912" y="1162050"/>
            <a:ext cx="6717333" cy="71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56"/>
              </a:lnSpc>
            </a:pPr>
            <a:r>
              <a:rPr lang="en-US" sz="5251" spc="-105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프로젝트 개요 및 목적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55290" y="1475272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121" y="4336359"/>
            <a:ext cx="8452810" cy="180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 확보 및 브랜드 성장 가속화를 위한 체계적인 마케팅 전략을 수립합니다. 시장 내 경쟁력을 강화하고 지속 가능한 성장 기반을 마련하는 것이 핵심입니다.</a:t>
            </a:r>
          </a:p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endParaRPr lang="en-US" sz="2250" u="none" strike="noStrike" spc="-78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290121" y="7198311"/>
            <a:ext cx="8452810" cy="180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타겟 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고객층을 확대하고 매출을 증대시키며, 브랜드 인지도를 향상시키는 것을 목표로 합니다. 데이터 기반의 접근을 통해 측정 가능한 성과를 창출합니다.</a:t>
            </a:r>
          </a:p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endParaRPr lang="en-US" sz="2250" u="none" strike="noStrike" spc="-78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88526" y="3375327"/>
            <a:ext cx="1601128" cy="48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2549" b="1" u="none" strike="noStrike" spc="-89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제안서 목적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88526" y="6237280"/>
            <a:ext cx="1853094" cy="48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2549" b="1" spc="-89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</a:t>
            </a:r>
            <a:r>
              <a:rPr lang="en-US" sz="2549" b="1" u="none" strike="noStrike" spc="-89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목표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7578570" y="328728"/>
            <a:ext cx="85658" cy="380702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546912" y="2140636"/>
            <a:ext cx="729142" cy="0"/>
          </a:xfrm>
          <a:prstGeom prst="line">
            <a:avLst/>
          </a:prstGeom>
          <a:ln w="7620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546912" y="1162050"/>
            <a:ext cx="6717333" cy="71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56"/>
              </a:lnSpc>
            </a:pPr>
            <a:r>
              <a:rPr lang="en-US" sz="5251" spc="-105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시장 및 문제 인식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68313" y="1475272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46912" y="2900211"/>
            <a:ext cx="15194040" cy="817499"/>
            <a:chOff x="0" y="0"/>
            <a:chExt cx="1704984" cy="917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04984" cy="91735"/>
            </a:xfrm>
            <a:custGeom>
              <a:avLst/>
              <a:gdLst/>
              <a:ahLst/>
              <a:cxnLst/>
              <a:rect l="l" t="t" r="r" b="b"/>
              <a:pathLst>
                <a:path w="1704984" h="91735">
                  <a:moveTo>
                    <a:pt x="39808" y="0"/>
                  </a:moveTo>
                  <a:lnTo>
                    <a:pt x="1665177" y="0"/>
                  </a:lnTo>
                  <a:cubicBezTo>
                    <a:pt x="1687162" y="0"/>
                    <a:pt x="1704984" y="17822"/>
                    <a:pt x="1704984" y="39808"/>
                  </a:cubicBezTo>
                  <a:lnTo>
                    <a:pt x="1704984" y="51927"/>
                  </a:lnTo>
                  <a:cubicBezTo>
                    <a:pt x="1704984" y="73912"/>
                    <a:pt x="1687162" y="91735"/>
                    <a:pt x="1665177" y="91735"/>
                  </a:cubicBezTo>
                  <a:lnTo>
                    <a:pt x="39808" y="91735"/>
                  </a:lnTo>
                  <a:cubicBezTo>
                    <a:pt x="29250" y="91735"/>
                    <a:pt x="19125" y="87541"/>
                    <a:pt x="11659" y="80075"/>
                  </a:cubicBezTo>
                  <a:cubicBezTo>
                    <a:pt x="4194" y="72610"/>
                    <a:pt x="0" y="62485"/>
                    <a:pt x="0" y="51927"/>
                  </a:cubicBezTo>
                  <a:lnTo>
                    <a:pt x="0" y="39808"/>
                  </a:lnTo>
                  <a:cubicBezTo>
                    <a:pt x="0" y="29250"/>
                    <a:pt x="4194" y="19125"/>
                    <a:pt x="11659" y="11659"/>
                  </a:cubicBezTo>
                  <a:cubicBezTo>
                    <a:pt x="19125" y="4194"/>
                    <a:pt x="29250" y="0"/>
                    <a:pt x="39808" y="0"/>
                  </a:cubicBezTo>
                  <a:close/>
                </a:path>
              </a:pathLst>
            </a:custGeom>
            <a:solidFill>
              <a:srgbClr val="4F78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704984" cy="13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46912" y="5476457"/>
            <a:ext cx="15196018" cy="817499"/>
            <a:chOff x="0" y="0"/>
            <a:chExt cx="1705206" cy="917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05206" cy="91735"/>
            </a:xfrm>
            <a:custGeom>
              <a:avLst/>
              <a:gdLst/>
              <a:ahLst/>
              <a:cxnLst/>
              <a:rect l="l" t="t" r="r" b="b"/>
              <a:pathLst>
                <a:path w="1705206" h="91735">
                  <a:moveTo>
                    <a:pt x="39802" y="0"/>
                  </a:moveTo>
                  <a:lnTo>
                    <a:pt x="1665404" y="0"/>
                  </a:lnTo>
                  <a:cubicBezTo>
                    <a:pt x="1675960" y="0"/>
                    <a:pt x="1686084" y="4193"/>
                    <a:pt x="1693549" y="11658"/>
                  </a:cubicBezTo>
                  <a:cubicBezTo>
                    <a:pt x="1701013" y="19122"/>
                    <a:pt x="1705206" y="29246"/>
                    <a:pt x="1705206" y="39802"/>
                  </a:cubicBezTo>
                  <a:lnTo>
                    <a:pt x="1705206" y="51932"/>
                  </a:lnTo>
                  <a:cubicBezTo>
                    <a:pt x="1705206" y="62489"/>
                    <a:pt x="1701013" y="72613"/>
                    <a:pt x="1693549" y="80077"/>
                  </a:cubicBezTo>
                  <a:cubicBezTo>
                    <a:pt x="1686084" y="87541"/>
                    <a:pt x="1675960" y="91735"/>
                    <a:pt x="1665404" y="91735"/>
                  </a:cubicBezTo>
                  <a:lnTo>
                    <a:pt x="39802" y="91735"/>
                  </a:lnTo>
                  <a:cubicBezTo>
                    <a:pt x="29246" y="91735"/>
                    <a:pt x="19122" y="87541"/>
                    <a:pt x="11658" y="80077"/>
                  </a:cubicBezTo>
                  <a:cubicBezTo>
                    <a:pt x="4193" y="72613"/>
                    <a:pt x="0" y="62489"/>
                    <a:pt x="0" y="51932"/>
                  </a:cubicBezTo>
                  <a:lnTo>
                    <a:pt x="0" y="39802"/>
                  </a:lnTo>
                  <a:cubicBezTo>
                    <a:pt x="0" y="29246"/>
                    <a:pt x="4193" y="19122"/>
                    <a:pt x="11658" y="11658"/>
                  </a:cubicBezTo>
                  <a:cubicBezTo>
                    <a:pt x="19122" y="4193"/>
                    <a:pt x="29246" y="0"/>
                    <a:pt x="39802" y="0"/>
                  </a:cubicBezTo>
                  <a:close/>
                </a:path>
              </a:pathLst>
            </a:custGeom>
            <a:solidFill>
              <a:srgbClr val="A39D9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05206" cy="13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975433" y="3216346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1975433" y="5792592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546912" y="3955359"/>
            <a:ext cx="15196018" cy="892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디지털 광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 시장은 연평균 12%의 놀라운 성장률을 보이고 있습니다. 모바일 중심의 소비 패턴 변화와 소셜 미디어의 영향력 확대로 인해 디지털 마케팅의 중요성이 더욱 강조되고 있습니다.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6912" y="7689778"/>
            <a:ext cx="4606821" cy="1349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기존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캠페인의 ROI가 15% 미만으로, 마케팅 비용 대비 효율성이 현저히 낮은 상태입니다. 전략적 재편이 시급합니다.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41511" y="7689778"/>
            <a:ext cx="4606821" cy="1349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의도한 타겟 고객층에 대한 도달률이 예상치를 크게 밑돌고 있으며, 메시지 전달의 정확성도 개선이 필요합니다.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34132" y="7689778"/>
            <a:ext cx="4606821" cy="180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다양한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마케팅 채널 간의 시너지가 부족하고, 각 채널별 성과 측정 체계가 미비하여 효율적인 예산 배분이 어려운 상황입니다.</a:t>
            </a:r>
          </a:p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endParaRPr lang="en-US" sz="2250" u="none" strike="noStrike" spc="-78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46912" y="6696728"/>
            <a:ext cx="4606821" cy="52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27"/>
              </a:lnSpc>
              <a:spcBef>
                <a:spcPct val="0"/>
              </a:spcBef>
            </a:pPr>
            <a:r>
              <a:rPr lang="en-US" sz="2749" b="1" u="none" strike="noStrike" spc="-96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낮은 투자 수익률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41511" y="6696728"/>
            <a:ext cx="4606821" cy="52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27"/>
              </a:lnSpc>
              <a:spcBef>
                <a:spcPct val="0"/>
              </a:spcBef>
            </a:pPr>
            <a:r>
              <a:rPr lang="en-US" sz="2749" b="1" spc="-96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타겟</a:t>
            </a:r>
            <a:r>
              <a:rPr lang="en-US" sz="2749" b="1" u="none" strike="noStrike" spc="-96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도달률 저조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34132" y="6696728"/>
            <a:ext cx="4606821" cy="52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27"/>
              </a:lnSpc>
              <a:spcBef>
                <a:spcPct val="0"/>
              </a:spcBef>
            </a:pPr>
            <a:r>
              <a:rPr lang="en-US" sz="2749" b="1" spc="-96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채널</a:t>
            </a:r>
            <a:r>
              <a:rPr lang="en-US" sz="2749" b="1" u="none" strike="noStrike" spc="-96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최적화 부족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45318" y="2994327"/>
            <a:ext cx="2427018" cy="48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2549" b="1" spc="-89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현재</a:t>
            </a:r>
            <a:r>
              <a:rPr lang="en-US" sz="2549" b="1" u="none" strike="noStrike" spc="-89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시장 동향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45318" y="5570574"/>
            <a:ext cx="2427018" cy="48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2549" b="1" spc="-89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핵심</a:t>
            </a:r>
            <a:r>
              <a:rPr lang="en-US" sz="2549" b="1" u="none" strike="noStrike" spc="-89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문제점</a:t>
            </a:r>
          </a:p>
        </p:txBody>
      </p:sp>
      <p:sp>
        <p:nvSpPr>
          <p:cNvPr id="23" name="AutoShape 23"/>
          <p:cNvSpPr/>
          <p:nvPr/>
        </p:nvSpPr>
        <p:spPr>
          <a:xfrm>
            <a:off x="1546912" y="7465258"/>
            <a:ext cx="4606821" cy="0"/>
          </a:xfrm>
          <a:prstGeom prst="line">
            <a:avLst/>
          </a:prstGeom>
          <a:ln w="19050" cap="rnd">
            <a:solidFill>
              <a:srgbClr val="A39D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AutoShape 24"/>
          <p:cNvSpPr/>
          <p:nvPr/>
        </p:nvSpPr>
        <p:spPr>
          <a:xfrm>
            <a:off x="6841511" y="7465258"/>
            <a:ext cx="4606821" cy="0"/>
          </a:xfrm>
          <a:prstGeom prst="line">
            <a:avLst/>
          </a:prstGeom>
          <a:ln w="19050" cap="rnd">
            <a:solidFill>
              <a:srgbClr val="A39D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utoShape 25"/>
          <p:cNvSpPr/>
          <p:nvPr/>
        </p:nvSpPr>
        <p:spPr>
          <a:xfrm>
            <a:off x="12134132" y="7465258"/>
            <a:ext cx="4606821" cy="0"/>
          </a:xfrm>
          <a:prstGeom prst="line">
            <a:avLst/>
          </a:prstGeom>
          <a:ln w="19050" cap="rnd">
            <a:solidFill>
              <a:srgbClr val="A39D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7578570" y="328728"/>
            <a:ext cx="85658" cy="380702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546912" y="2140636"/>
            <a:ext cx="729142" cy="0"/>
          </a:xfrm>
          <a:prstGeom prst="line">
            <a:avLst/>
          </a:prstGeom>
          <a:ln w="7620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546912" y="2900211"/>
            <a:ext cx="15196018" cy="2933617"/>
            <a:chOff x="0" y="0"/>
            <a:chExt cx="4002244" cy="772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02244" cy="772640"/>
            </a:xfrm>
            <a:custGeom>
              <a:avLst/>
              <a:gdLst/>
              <a:ahLst/>
              <a:cxnLst/>
              <a:rect l="l" t="t" r="r" b="b"/>
              <a:pathLst>
                <a:path w="4002244" h="772640">
                  <a:moveTo>
                    <a:pt x="17831" y="0"/>
                  </a:moveTo>
                  <a:lnTo>
                    <a:pt x="3984412" y="0"/>
                  </a:lnTo>
                  <a:cubicBezTo>
                    <a:pt x="3994260" y="0"/>
                    <a:pt x="4002244" y="7983"/>
                    <a:pt x="4002244" y="17831"/>
                  </a:cubicBezTo>
                  <a:lnTo>
                    <a:pt x="4002244" y="754808"/>
                  </a:lnTo>
                  <a:cubicBezTo>
                    <a:pt x="4002244" y="764656"/>
                    <a:pt x="3994260" y="772640"/>
                    <a:pt x="3984412" y="772640"/>
                  </a:cubicBezTo>
                  <a:lnTo>
                    <a:pt x="17831" y="772640"/>
                  </a:lnTo>
                  <a:cubicBezTo>
                    <a:pt x="7983" y="772640"/>
                    <a:pt x="0" y="764656"/>
                    <a:pt x="0" y="754808"/>
                  </a:cubicBezTo>
                  <a:lnTo>
                    <a:pt x="0" y="17831"/>
                  </a:lnTo>
                  <a:cubicBezTo>
                    <a:pt x="0" y="7983"/>
                    <a:pt x="7983" y="0"/>
                    <a:pt x="17831" y="0"/>
                  </a:cubicBezTo>
                  <a:close/>
                </a:path>
              </a:pathLst>
            </a:custGeom>
            <a:solidFill>
              <a:srgbClr val="4F78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002244" cy="820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46912" y="6105787"/>
            <a:ext cx="15196018" cy="2933617"/>
            <a:chOff x="0" y="0"/>
            <a:chExt cx="4002244" cy="7726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02244" cy="772640"/>
            </a:xfrm>
            <a:custGeom>
              <a:avLst/>
              <a:gdLst/>
              <a:ahLst/>
              <a:cxnLst/>
              <a:rect l="l" t="t" r="r" b="b"/>
              <a:pathLst>
                <a:path w="4002244" h="772640">
                  <a:moveTo>
                    <a:pt x="17831" y="0"/>
                  </a:moveTo>
                  <a:lnTo>
                    <a:pt x="3984412" y="0"/>
                  </a:lnTo>
                  <a:cubicBezTo>
                    <a:pt x="3994260" y="0"/>
                    <a:pt x="4002244" y="7983"/>
                    <a:pt x="4002244" y="17831"/>
                  </a:cubicBezTo>
                  <a:lnTo>
                    <a:pt x="4002244" y="754808"/>
                  </a:lnTo>
                  <a:cubicBezTo>
                    <a:pt x="4002244" y="764656"/>
                    <a:pt x="3994260" y="772640"/>
                    <a:pt x="3984412" y="772640"/>
                  </a:cubicBezTo>
                  <a:lnTo>
                    <a:pt x="17831" y="772640"/>
                  </a:lnTo>
                  <a:cubicBezTo>
                    <a:pt x="7983" y="772640"/>
                    <a:pt x="0" y="764656"/>
                    <a:pt x="0" y="754808"/>
                  </a:cubicBezTo>
                  <a:lnTo>
                    <a:pt x="0" y="17831"/>
                  </a:lnTo>
                  <a:cubicBezTo>
                    <a:pt x="0" y="7983"/>
                    <a:pt x="7983" y="0"/>
                    <a:pt x="17831" y="0"/>
                  </a:cubicBezTo>
                  <a:close/>
                </a:path>
              </a:pathLst>
            </a:custGeom>
            <a:solidFill>
              <a:srgbClr val="A39D9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002244" cy="820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46912" y="1162050"/>
            <a:ext cx="6717333" cy="71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56"/>
              </a:lnSpc>
            </a:pPr>
            <a:r>
              <a:rPr lang="en-US" sz="5251" spc="-105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제안하는 마케팅 전략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74167" y="1475272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48615" y="3549808"/>
            <a:ext cx="8028966" cy="1482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250" spc="-67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온라인: 소셜 미디어 광</a:t>
            </a:r>
            <a:r>
              <a:rPr lang="en-US" sz="2250" u="none" strike="noStrike" spc="-67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고, 검색 엔진 마케팅, 콘텐츠 마케팅</a:t>
            </a:r>
          </a:p>
          <a:p>
            <a:pPr algn="l">
              <a:lnSpc>
                <a:spcPts val="4004"/>
              </a:lnSpc>
            </a:pPr>
            <a:r>
              <a:rPr lang="en-US" sz="2250" u="none" strike="noStrike" spc="-67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오프라인: 체험형 이벤트, 전략적 전단 배포, 팝업 스토어 운영</a:t>
            </a:r>
          </a:p>
          <a:p>
            <a:pPr algn="l">
              <a:lnSpc>
                <a:spcPts val="4004"/>
              </a:lnSpc>
            </a:pPr>
            <a:r>
              <a:rPr lang="en-US" sz="2250" u="none" strike="noStrike" spc="-67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크로스 채널: 온·오프라인 연계 프로모션으로 고객 여정 최적화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48615" y="6755384"/>
            <a:ext cx="8028966" cy="1986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250" u="none" strike="noStrike" spc="-67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고객 데이터 분석을 통한 정밀한 세그먼테이션</a:t>
            </a:r>
          </a:p>
          <a:p>
            <a:pPr algn="l">
              <a:lnSpc>
                <a:spcPts val="4004"/>
              </a:lnSpc>
            </a:pPr>
            <a:r>
              <a:rPr lang="en-US" sz="2250" u="none" strike="noStrike" spc="-67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각 세그먼트별 맞춤형 콘텐츠 및 메시지 개발</a:t>
            </a:r>
          </a:p>
          <a:p>
            <a:pPr algn="l">
              <a:lnSpc>
                <a:spcPts val="4004"/>
              </a:lnSpc>
            </a:pPr>
            <a:r>
              <a:rPr lang="en-US" sz="2250" u="none" strike="noStrike" spc="-67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실시간 성과 모니터링 및 A/B 테스트 지속 실행</a:t>
            </a:r>
          </a:p>
          <a:p>
            <a:pPr algn="l">
              <a:lnSpc>
                <a:spcPts val="4004"/>
              </a:lnSpc>
            </a:pPr>
            <a:endParaRPr lang="en-US" sz="2250" u="none" strike="noStrike" spc="-67">
              <a:solidFill>
                <a:srgbClr val="FAF9F9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7571956" y="3794202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/>
          <p:nvPr/>
        </p:nvSpPr>
        <p:spPr>
          <a:xfrm>
            <a:off x="7571956" y="6999778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/>
          <p:cNvSpPr/>
          <p:nvPr/>
        </p:nvSpPr>
        <p:spPr>
          <a:xfrm>
            <a:off x="7571956" y="4299136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Freeform 17"/>
          <p:cNvSpPr/>
          <p:nvPr/>
        </p:nvSpPr>
        <p:spPr>
          <a:xfrm>
            <a:off x="7571956" y="7504713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/>
          <p:cNvSpPr/>
          <p:nvPr/>
        </p:nvSpPr>
        <p:spPr>
          <a:xfrm>
            <a:off x="7571956" y="4802863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Freeform 19"/>
          <p:cNvSpPr/>
          <p:nvPr/>
        </p:nvSpPr>
        <p:spPr>
          <a:xfrm>
            <a:off x="7571956" y="8008439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2539279" y="4612714"/>
            <a:ext cx="3322900" cy="52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27"/>
              </a:lnSpc>
              <a:spcBef>
                <a:spcPct val="0"/>
              </a:spcBef>
            </a:pPr>
            <a:r>
              <a:rPr lang="en-US" sz="2749" b="1" spc="-96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통합 미디어믹스</a:t>
            </a:r>
            <a:r>
              <a:rPr lang="en-US" sz="2749" b="1" u="none" strike="noStrike" spc="-96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활용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39279" y="7818290"/>
            <a:ext cx="3322900" cy="52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27"/>
              </a:lnSpc>
              <a:spcBef>
                <a:spcPct val="0"/>
              </a:spcBef>
            </a:pPr>
            <a:r>
              <a:rPr lang="en-US" sz="2749" b="1" spc="-96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기반</a:t>
            </a:r>
            <a:r>
              <a:rPr lang="en-US" sz="2749" b="1" u="none" strike="noStrike" spc="-96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타겟팅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717068" y="3379732"/>
            <a:ext cx="0" cy="1974574"/>
          </a:xfrm>
          <a:prstGeom prst="line">
            <a:avLst/>
          </a:prstGeom>
          <a:ln w="19050" cap="rnd">
            <a:solidFill>
              <a:srgbClr val="FAF9F9">
                <a:alpha val="2078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AutoShape 23"/>
          <p:cNvSpPr/>
          <p:nvPr/>
        </p:nvSpPr>
        <p:spPr>
          <a:xfrm>
            <a:off x="6717068" y="6585309"/>
            <a:ext cx="0" cy="1974574"/>
          </a:xfrm>
          <a:prstGeom prst="line">
            <a:avLst/>
          </a:prstGeom>
          <a:ln w="19050" cap="rnd">
            <a:solidFill>
              <a:srgbClr val="FAF9F9">
                <a:alpha val="32941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Freeform 24"/>
          <p:cNvSpPr/>
          <p:nvPr/>
        </p:nvSpPr>
        <p:spPr>
          <a:xfrm>
            <a:off x="3584734" y="3514695"/>
            <a:ext cx="1231991" cy="954793"/>
          </a:xfrm>
          <a:custGeom>
            <a:avLst/>
            <a:gdLst/>
            <a:ahLst/>
            <a:cxnLst/>
            <a:rect l="l" t="t" r="r" b="b"/>
            <a:pathLst>
              <a:path w="1231991" h="954793">
                <a:moveTo>
                  <a:pt x="0" y="0"/>
                </a:moveTo>
                <a:lnTo>
                  <a:pt x="1231991" y="0"/>
                </a:lnTo>
                <a:lnTo>
                  <a:pt x="1231991" y="954793"/>
                </a:lnTo>
                <a:lnTo>
                  <a:pt x="0" y="9547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Freeform 25"/>
          <p:cNvSpPr/>
          <p:nvPr/>
        </p:nvSpPr>
        <p:spPr>
          <a:xfrm>
            <a:off x="3708916" y="6720271"/>
            <a:ext cx="983626" cy="977478"/>
          </a:xfrm>
          <a:custGeom>
            <a:avLst/>
            <a:gdLst/>
            <a:ahLst/>
            <a:cxnLst/>
            <a:rect l="l" t="t" r="r" b="b"/>
            <a:pathLst>
              <a:path w="983626" h="977478">
                <a:moveTo>
                  <a:pt x="0" y="0"/>
                </a:moveTo>
                <a:lnTo>
                  <a:pt x="983626" y="0"/>
                </a:lnTo>
                <a:lnTo>
                  <a:pt x="983626" y="977479"/>
                </a:lnTo>
                <a:lnTo>
                  <a:pt x="0" y="9774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7578570" y="328728"/>
            <a:ext cx="85658" cy="380702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546912" y="2140636"/>
            <a:ext cx="729142" cy="0"/>
          </a:xfrm>
          <a:prstGeom prst="line">
            <a:avLst/>
          </a:prstGeom>
          <a:ln w="7620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546912" y="2900211"/>
            <a:ext cx="1559842" cy="817499"/>
            <a:chOff x="0" y="0"/>
            <a:chExt cx="175036" cy="917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5036" cy="91735"/>
            </a:xfrm>
            <a:custGeom>
              <a:avLst/>
              <a:gdLst/>
              <a:ahLst/>
              <a:cxnLst/>
              <a:rect l="l" t="t" r="r" b="b"/>
              <a:pathLst>
                <a:path w="175036" h="91735">
                  <a:moveTo>
                    <a:pt x="45867" y="0"/>
                  </a:moveTo>
                  <a:lnTo>
                    <a:pt x="129169" y="0"/>
                  </a:lnTo>
                  <a:cubicBezTo>
                    <a:pt x="141334" y="0"/>
                    <a:pt x="153000" y="4832"/>
                    <a:pt x="161602" y="13434"/>
                  </a:cubicBezTo>
                  <a:cubicBezTo>
                    <a:pt x="170204" y="22036"/>
                    <a:pt x="175036" y="33703"/>
                    <a:pt x="175036" y="45867"/>
                  </a:cubicBezTo>
                  <a:lnTo>
                    <a:pt x="175036" y="45867"/>
                  </a:lnTo>
                  <a:cubicBezTo>
                    <a:pt x="175036" y="71199"/>
                    <a:pt x="154501" y="91735"/>
                    <a:pt x="129169" y="91735"/>
                  </a:cubicBezTo>
                  <a:lnTo>
                    <a:pt x="45867" y="91735"/>
                  </a:lnTo>
                  <a:cubicBezTo>
                    <a:pt x="20536" y="91735"/>
                    <a:pt x="0" y="71199"/>
                    <a:pt x="0" y="45867"/>
                  </a:cubicBezTo>
                  <a:lnTo>
                    <a:pt x="0" y="45867"/>
                  </a:lnTo>
                  <a:cubicBezTo>
                    <a:pt x="0" y="20536"/>
                    <a:pt x="20536" y="0"/>
                    <a:pt x="45867" y="0"/>
                  </a:cubicBezTo>
                  <a:close/>
                </a:path>
              </a:pathLst>
            </a:custGeom>
            <a:solidFill>
              <a:srgbClr val="4F78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5036" cy="13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546912" y="4170336"/>
            <a:ext cx="7597088" cy="0"/>
          </a:xfrm>
          <a:prstGeom prst="line">
            <a:avLst/>
          </a:prstGeom>
          <a:ln w="1905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3304848" y="4517338"/>
            <a:ext cx="4606821" cy="58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10"/>
              </a:lnSpc>
              <a:spcBef>
                <a:spcPct val="0"/>
              </a:spcBef>
            </a:pPr>
            <a:r>
              <a:rPr lang="en-US" sz="3049" b="1" spc="-106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콘텐츠</a:t>
            </a:r>
            <a:r>
              <a:rPr lang="en-US" sz="3049" b="1" u="none" strike="noStrike" spc="-106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승인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46912" y="4672428"/>
            <a:ext cx="1559842" cy="817499"/>
            <a:chOff x="0" y="0"/>
            <a:chExt cx="175036" cy="917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5036" cy="91735"/>
            </a:xfrm>
            <a:custGeom>
              <a:avLst/>
              <a:gdLst/>
              <a:ahLst/>
              <a:cxnLst/>
              <a:rect l="l" t="t" r="r" b="b"/>
              <a:pathLst>
                <a:path w="175036" h="91735">
                  <a:moveTo>
                    <a:pt x="45867" y="0"/>
                  </a:moveTo>
                  <a:lnTo>
                    <a:pt x="129169" y="0"/>
                  </a:lnTo>
                  <a:cubicBezTo>
                    <a:pt x="141334" y="0"/>
                    <a:pt x="153000" y="4832"/>
                    <a:pt x="161602" y="13434"/>
                  </a:cubicBezTo>
                  <a:cubicBezTo>
                    <a:pt x="170204" y="22036"/>
                    <a:pt x="175036" y="33703"/>
                    <a:pt x="175036" y="45867"/>
                  </a:cubicBezTo>
                  <a:lnTo>
                    <a:pt x="175036" y="45867"/>
                  </a:lnTo>
                  <a:cubicBezTo>
                    <a:pt x="175036" y="71199"/>
                    <a:pt x="154501" y="91735"/>
                    <a:pt x="129169" y="91735"/>
                  </a:cubicBezTo>
                  <a:lnTo>
                    <a:pt x="45867" y="91735"/>
                  </a:lnTo>
                  <a:cubicBezTo>
                    <a:pt x="20536" y="91735"/>
                    <a:pt x="0" y="71199"/>
                    <a:pt x="0" y="45867"/>
                  </a:cubicBezTo>
                  <a:lnTo>
                    <a:pt x="0" y="45867"/>
                  </a:lnTo>
                  <a:cubicBezTo>
                    <a:pt x="0" y="20536"/>
                    <a:pt x="20536" y="0"/>
                    <a:pt x="45867" y="0"/>
                  </a:cubicBezTo>
                  <a:close/>
                </a:path>
              </a:pathLst>
            </a:custGeom>
            <a:solidFill>
              <a:srgbClr val="4F78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5036" cy="13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3324" y="4766544"/>
            <a:ext cx="2427018" cy="48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5"/>
              </a:lnSpc>
              <a:spcBef>
                <a:spcPct val="0"/>
              </a:spcBef>
            </a:pPr>
            <a:r>
              <a:rPr lang="en-US" sz="2549" spc="76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04848" y="5097707"/>
            <a:ext cx="4606821" cy="892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모든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크리에이티브 자산 최종 승인</a:t>
            </a:r>
          </a:p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endParaRPr lang="en-US" sz="2250" u="none" strike="noStrike" spc="-78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14" name="AutoShape 14"/>
          <p:cNvSpPr/>
          <p:nvPr/>
        </p:nvSpPr>
        <p:spPr>
          <a:xfrm flipV="1">
            <a:off x="1546912" y="5942553"/>
            <a:ext cx="7597088" cy="0"/>
          </a:xfrm>
          <a:prstGeom prst="line">
            <a:avLst/>
          </a:prstGeom>
          <a:ln w="1905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546912" y="6444645"/>
            <a:ext cx="1559842" cy="817499"/>
            <a:chOff x="0" y="0"/>
            <a:chExt cx="175036" cy="917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5036" cy="91735"/>
            </a:xfrm>
            <a:custGeom>
              <a:avLst/>
              <a:gdLst/>
              <a:ahLst/>
              <a:cxnLst/>
              <a:rect l="l" t="t" r="r" b="b"/>
              <a:pathLst>
                <a:path w="175036" h="91735">
                  <a:moveTo>
                    <a:pt x="45867" y="0"/>
                  </a:moveTo>
                  <a:lnTo>
                    <a:pt x="129169" y="0"/>
                  </a:lnTo>
                  <a:cubicBezTo>
                    <a:pt x="141334" y="0"/>
                    <a:pt x="153000" y="4832"/>
                    <a:pt x="161602" y="13434"/>
                  </a:cubicBezTo>
                  <a:cubicBezTo>
                    <a:pt x="170204" y="22036"/>
                    <a:pt x="175036" y="33703"/>
                    <a:pt x="175036" y="45867"/>
                  </a:cubicBezTo>
                  <a:lnTo>
                    <a:pt x="175036" y="45867"/>
                  </a:lnTo>
                  <a:cubicBezTo>
                    <a:pt x="175036" y="71199"/>
                    <a:pt x="154501" y="91735"/>
                    <a:pt x="129169" y="91735"/>
                  </a:cubicBezTo>
                  <a:lnTo>
                    <a:pt x="45867" y="91735"/>
                  </a:lnTo>
                  <a:cubicBezTo>
                    <a:pt x="20536" y="91735"/>
                    <a:pt x="0" y="71199"/>
                    <a:pt x="0" y="45867"/>
                  </a:cubicBezTo>
                  <a:lnTo>
                    <a:pt x="0" y="45867"/>
                  </a:lnTo>
                  <a:cubicBezTo>
                    <a:pt x="0" y="20536"/>
                    <a:pt x="20536" y="0"/>
                    <a:pt x="45867" y="0"/>
                  </a:cubicBezTo>
                  <a:close/>
                </a:path>
              </a:pathLst>
            </a:custGeom>
            <a:solidFill>
              <a:srgbClr val="4F78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75036" cy="13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1546912" y="7714770"/>
            <a:ext cx="7597088" cy="0"/>
          </a:xfrm>
          <a:prstGeom prst="line">
            <a:avLst/>
          </a:prstGeom>
          <a:ln w="1905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546912" y="8216862"/>
            <a:ext cx="1559842" cy="817499"/>
            <a:chOff x="0" y="0"/>
            <a:chExt cx="175036" cy="9173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5036" cy="91735"/>
            </a:xfrm>
            <a:custGeom>
              <a:avLst/>
              <a:gdLst/>
              <a:ahLst/>
              <a:cxnLst/>
              <a:rect l="l" t="t" r="r" b="b"/>
              <a:pathLst>
                <a:path w="175036" h="91735">
                  <a:moveTo>
                    <a:pt x="45867" y="0"/>
                  </a:moveTo>
                  <a:lnTo>
                    <a:pt x="129169" y="0"/>
                  </a:lnTo>
                  <a:cubicBezTo>
                    <a:pt x="141334" y="0"/>
                    <a:pt x="153000" y="4832"/>
                    <a:pt x="161602" y="13434"/>
                  </a:cubicBezTo>
                  <a:cubicBezTo>
                    <a:pt x="170204" y="22036"/>
                    <a:pt x="175036" y="33703"/>
                    <a:pt x="175036" y="45867"/>
                  </a:cubicBezTo>
                  <a:lnTo>
                    <a:pt x="175036" y="45867"/>
                  </a:lnTo>
                  <a:cubicBezTo>
                    <a:pt x="175036" y="71199"/>
                    <a:pt x="154501" y="91735"/>
                    <a:pt x="129169" y="91735"/>
                  </a:cubicBezTo>
                  <a:lnTo>
                    <a:pt x="45867" y="91735"/>
                  </a:lnTo>
                  <a:cubicBezTo>
                    <a:pt x="20536" y="91735"/>
                    <a:pt x="0" y="71199"/>
                    <a:pt x="0" y="45867"/>
                  </a:cubicBezTo>
                  <a:lnTo>
                    <a:pt x="0" y="45867"/>
                  </a:lnTo>
                  <a:cubicBezTo>
                    <a:pt x="0" y="20536"/>
                    <a:pt x="20536" y="0"/>
                    <a:pt x="45867" y="0"/>
                  </a:cubicBezTo>
                  <a:close/>
                </a:path>
              </a:pathLst>
            </a:custGeom>
            <a:solidFill>
              <a:srgbClr val="4F78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75036" cy="13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969899" y="5861066"/>
            <a:ext cx="6773032" cy="3178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본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일정은 시장 상황과 캠페인 성과에 따라 유연하게 조정될 수 있습니다. 매주 성과 리뷰 미팅을 통해 진행 상황을 점검하고, 필요시 즉각적인 전략 수정이 가능한 애자일 방식으로 운영됩니다.</a:t>
            </a:r>
          </a:p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각 단계마다 명확한 KPI를 설정하고, 목표 달성 여부를 정량적으로 평가합니다. 이를 통해 프로젝트의 투명성을 확보하고, 이해관계자들과의 효과적인 커뮤니케이션을 유지합니다.</a:t>
            </a:r>
          </a:p>
        </p:txBody>
      </p:sp>
      <p:sp>
        <p:nvSpPr>
          <p:cNvPr id="23" name="Freeform 23"/>
          <p:cNvSpPr/>
          <p:nvPr/>
        </p:nvSpPr>
        <p:spPr>
          <a:xfrm>
            <a:off x="13690148" y="2521095"/>
            <a:ext cx="3052783" cy="2968832"/>
          </a:xfrm>
          <a:custGeom>
            <a:avLst/>
            <a:gdLst/>
            <a:ahLst/>
            <a:cxnLst/>
            <a:rect l="l" t="t" r="r" b="b"/>
            <a:pathLst>
              <a:path w="3052783" h="2968832">
                <a:moveTo>
                  <a:pt x="0" y="0"/>
                </a:moveTo>
                <a:lnTo>
                  <a:pt x="3052783" y="0"/>
                </a:lnTo>
                <a:lnTo>
                  <a:pt x="3052783" y="2968832"/>
                </a:lnTo>
                <a:lnTo>
                  <a:pt x="0" y="29688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1546912" y="1162050"/>
            <a:ext cx="6717333" cy="71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56"/>
              </a:lnSpc>
            </a:pPr>
            <a:r>
              <a:rPr lang="en-US" sz="5251" spc="-105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주요 마일스톤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74445" y="1475272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04848" y="2745121"/>
            <a:ext cx="4606821" cy="58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10"/>
              </a:lnSpc>
              <a:spcBef>
                <a:spcPct val="0"/>
              </a:spcBef>
            </a:pPr>
            <a:r>
              <a:rPr lang="en-US" sz="3049" b="1" spc="-106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킥오프</a:t>
            </a:r>
            <a:r>
              <a:rPr lang="en-US" sz="3049" b="1" u="none" strike="noStrike" spc="-106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미팅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3324" y="2994327"/>
            <a:ext cx="2427018" cy="48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5"/>
              </a:lnSpc>
              <a:spcBef>
                <a:spcPct val="0"/>
              </a:spcBef>
            </a:pPr>
            <a:r>
              <a:rPr lang="en-US" sz="2549" spc="76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01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04848" y="3325490"/>
            <a:ext cx="4606821" cy="43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프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로젝트 시작 및 팀 구성 완료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04848" y="6289555"/>
            <a:ext cx="4606821" cy="58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10"/>
              </a:lnSpc>
              <a:spcBef>
                <a:spcPct val="0"/>
              </a:spcBef>
            </a:pPr>
            <a:r>
              <a:rPr lang="en-US" sz="3049" b="1" spc="-106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캠페인 론칭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3324" y="6538761"/>
            <a:ext cx="2427018" cy="48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5"/>
              </a:lnSpc>
              <a:spcBef>
                <a:spcPct val="0"/>
              </a:spcBef>
            </a:pPr>
            <a:r>
              <a:rPr lang="en-US" sz="2549" spc="76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04848" y="6869924"/>
            <a:ext cx="4606821" cy="43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통합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마케팅 캠페인 공식 시작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04848" y="8061772"/>
            <a:ext cx="4606821" cy="58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10"/>
              </a:lnSpc>
              <a:spcBef>
                <a:spcPct val="0"/>
              </a:spcBef>
            </a:pPr>
            <a:r>
              <a:rPr lang="en-US" sz="3049" b="1" spc="-106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최종</a:t>
            </a:r>
            <a:r>
              <a:rPr lang="en-US" sz="3049" b="1" u="none" strike="noStrike" spc="-106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보고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13324" y="8310978"/>
            <a:ext cx="2427018" cy="48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5"/>
              </a:lnSpc>
              <a:spcBef>
                <a:spcPct val="0"/>
              </a:spcBef>
            </a:pPr>
            <a:r>
              <a:rPr lang="en-US" sz="2549" spc="76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04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304848" y="8642141"/>
            <a:ext cx="4606821" cy="892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프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로젝트 완료 및 성과 보고</a:t>
            </a:r>
          </a:p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endParaRPr lang="en-US" sz="2250" u="none" strike="noStrike" spc="-78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10164351" y="4408055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4" y="0"/>
                </a:lnTo>
                <a:lnTo>
                  <a:pt x="173444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9969899" y="4336677"/>
            <a:ext cx="3723087" cy="1254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7"/>
              </a:lnSpc>
            </a:pPr>
            <a:r>
              <a:rPr lang="en-US" sz="3911" b="1" spc="-136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유연한</a:t>
            </a:r>
          </a:p>
          <a:p>
            <a:pPr marL="0" lvl="0" indent="0" algn="l">
              <a:lnSpc>
                <a:spcPts val="5007"/>
              </a:lnSpc>
            </a:pPr>
            <a:r>
              <a:rPr lang="en-US" sz="3911" b="1" spc="-136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실행</a:t>
            </a:r>
            <a:r>
              <a:rPr lang="en-US" sz="3911" b="1" u="none" strike="noStrike" spc="-136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체계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7578570" y="328728"/>
            <a:ext cx="85658" cy="380702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546912" y="2140636"/>
            <a:ext cx="729142" cy="0"/>
          </a:xfrm>
          <a:prstGeom prst="line">
            <a:avLst/>
          </a:prstGeom>
          <a:ln w="7620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546912" y="1162050"/>
            <a:ext cx="7374293" cy="71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56"/>
              </a:lnSpc>
            </a:pPr>
            <a:r>
              <a:rPr lang="en-US" sz="5251" spc="-105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예산 배분 및 투자 수익률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26042" y="1475272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40" y="2097315"/>
            <a:ext cx="9209515" cy="7744984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44922" y="3107308"/>
            <a:ext cx="7598009" cy="180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예산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배분은 각 채널의 예상 성과와 시장 트렌드를 반영하여 최적화되었습니다. 온라인 광고에 가장 큰 비중(40%)을 두어 디지털 시대의 고객 접점을 극대화하고, 인플루언서 마케팅(30%)을 통해 신뢰도 높은 콘텐츠를 확산시킵니다.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44922" y="5510866"/>
            <a:ext cx="7598009" cy="959878"/>
            <a:chOff x="0" y="0"/>
            <a:chExt cx="2001122" cy="2528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01122" cy="252807"/>
            </a:xfrm>
            <a:custGeom>
              <a:avLst/>
              <a:gdLst/>
              <a:ahLst/>
              <a:cxnLst/>
              <a:rect l="l" t="t" r="r" b="b"/>
              <a:pathLst>
                <a:path w="2001122" h="252807">
                  <a:moveTo>
                    <a:pt x="25474" y="0"/>
                  </a:moveTo>
                  <a:lnTo>
                    <a:pt x="1975648" y="0"/>
                  </a:lnTo>
                  <a:cubicBezTo>
                    <a:pt x="1989717" y="0"/>
                    <a:pt x="2001122" y="11405"/>
                    <a:pt x="2001122" y="25474"/>
                  </a:cubicBezTo>
                  <a:lnTo>
                    <a:pt x="2001122" y="227334"/>
                  </a:lnTo>
                  <a:cubicBezTo>
                    <a:pt x="2001122" y="241402"/>
                    <a:pt x="1989717" y="252807"/>
                    <a:pt x="1975648" y="252807"/>
                  </a:cubicBezTo>
                  <a:lnTo>
                    <a:pt x="25474" y="252807"/>
                  </a:lnTo>
                  <a:cubicBezTo>
                    <a:pt x="11405" y="252807"/>
                    <a:pt x="0" y="241402"/>
                    <a:pt x="0" y="227334"/>
                  </a:cubicBezTo>
                  <a:lnTo>
                    <a:pt x="0" y="25474"/>
                  </a:lnTo>
                  <a:cubicBezTo>
                    <a:pt x="0" y="11405"/>
                    <a:pt x="11405" y="0"/>
                    <a:pt x="25474" y="0"/>
                  </a:cubicBezTo>
                  <a:close/>
                </a:path>
              </a:pathLst>
            </a:custGeom>
            <a:ln w="38100" cap="rnd">
              <a:solidFill>
                <a:srgbClr val="4F785F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001122" cy="300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922" y="6686710"/>
            <a:ext cx="7598009" cy="959878"/>
            <a:chOff x="0" y="0"/>
            <a:chExt cx="2001122" cy="2528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01122" cy="252807"/>
            </a:xfrm>
            <a:custGeom>
              <a:avLst/>
              <a:gdLst/>
              <a:ahLst/>
              <a:cxnLst/>
              <a:rect l="l" t="t" r="r" b="b"/>
              <a:pathLst>
                <a:path w="2001122" h="252807">
                  <a:moveTo>
                    <a:pt x="25474" y="0"/>
                  </a:moveTo>
                  <a:lnTo>
                    <a:pt x="1975648" y="0"/>
                  </a:lnTo>
                  <a:cubicBezTo>
                    <a:pt x="1989717" y="0"/>
                    <a:pt x="2001122" y="11405"/>
                    <a:pt x="2001122" y="25474"/>
                  </a:cubicBezTo>
                  <a:lnTo>
                    <a:pt x="2001122" y="227334"/>
                  </a:lnTo>
                  <a:cubicBezTo>
                    <a:pt x="2001122" y="241402"/>
                    <a:pt x="1989717" y="252807"/>
                    <a:pt x="1975648" y="252807"/>
                  </a:cubicBezTo>
                  <a:lnTo>
                    <a:pt x="25474" y="252807"/>
                  </a:lnTo>
                  <a:cubicBezTo>
                    <a:pt x="11405" y="252807"/>
                    <a:pt x="0" y="241402"/>
                    <a:pt x="0" y="227334"/>
                  </a:cubicBezTo>
                  <a:lnTo>
                    <a:pt x="0" y="25474"/>
                  </a:lnTo>
                  <a:cubicBezTo>
                    <a:pt x="0" y="11405"/>
                    <a:pt x="11405" y="0"/>
                    <a:pt x="25474" y="0"/>
                  </a:cubicBezTo>
                  <a:close/>
                </a:path>
              </a:pathLst>
            </a:custGeom>
            <a:ln w="38100" cap="rnd">
              <a:solidFill>
                <a:srgbClr val="A39D9D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001122" cy="300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922" y="7865663"/>
            <a:ext cx="7598009" cy="959878"/>
            <a:chOff x="0" y="0"/>
            <a:chExt cx="2001122" cy="2528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01122" cy="252807"/>
            </a:xfrm>
            <a:custGeom>
              <a:avLst/>
              <a:gdLst/>
              <a:ahLst/>
              <a:cxnLst/>
              <a:rect l="l" t="t" r="r" b="b"/>
              <a:pathLst>
                <a:path w="2001122" h="252807">
                  <a:moveTo>
                    <a:pt x="25474" y="0"/>
                  </a:moveTo>
                  <a:lnTo>
                    <a:pt x="1975648" y="0"/>
                  </a:lnTo>
                  <a:cubicBezTo>
                    <a:pt x="1989717" y="0"/>
                    <a:pt x="2001122" y="11405"/>
                    <a:pt x="2001122" y="25474"/>
                  </a:cubicBezTo>
                  <a:lnTo>
                    <a:pt x="2001122" y="227334"/>
                  </a:lnTo>
                  <a:cubicBezTo>
                    <a:pt x="2001122" y="241402"/>
                    <a:pt x="1989717" y="252807"/>
                    <a:pt x="1975648" y="252807"/>
                  </a:cubicBezTo>
                  <a:lnTo>
                    <a:pt x="25474" y="252807"/>
                  </a:lnTo>
                  <a:cubicBezTo>
                    <a:pt x="11405" y="252807"/>
                    <a:pt x="0" y="241402"/>
                    <a:pt x="0" y="227334"/>
                  </a:cubicBezTo>
                  <a:lnTo>
                    <a:pt x="0" y="25474"/>
                  </a:lnTo>
                  <a:cubicBezTo>
                    <a:pt x="0" y="11405"/>
                    <a:pt x="11405" y="0"/>
                    <a:pt x="25474" y="0"/>
                  </a:cubicBezTo>
                  <a:close/>
                </a:path>
              </a:pathLst>
            </a:custGeom>
            <a:ln w="38100" cap="rnd">
              <a:solidFill>
                <a:srgbClr val="C8C8C8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001122" cy="300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909239" y="5655619"/>
            <a:ext cx="5918231" cy="52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27"/>
              </a:lnSpc>
              <a:spcBef>
                <a:spcPct val="0"/>
              </a:spcBef>
            </a:pPr>
            <a:r>
              <a:rPr lang="en-US" sz="2749" b="1" spc="-96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온라인 광고 (2천만 원)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09239" y="6831464"/>
            <a:ext cx="5918231" cy="52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27"/>
              </a:lnSpc>
              <a:spcBef>
                <a:spcPct val="0"/>
              </a:spcBef>
            </a:pPr>
            <a:r>
              <a:rPr lang="en-US" sz="2749" b="1" spc="-96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인플루언서 비용 (1천5백만 원)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09239" y="8010417"/>
            <a:ext cx="5918231" cy="52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27"/>
              </a:lnSpc>
              <a:spcBef>
                <a:spcPct val="0"/>
              </a:spcBef>
            </a:pPr>
            <a:r>
              <a:rPr lang="en-US" sz="2749" b="1" spc="-96">
                <a:solidFill>
                  <a:srgbClr val="C8C8C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콘텐츠 제작 (1천만 원)</a:t>
            </a:r>
          </a:p>
        </p:txBody>
      </p:sp>
      <p:sp>
        <p:nvSpPr>
          <p:cNvPr id="20" name="Freeform 20"/>
          <p:cNvSpPr/>
          <p:nvPr/>
        </p:nvSpPr>
        <p:spPr>
          <a:xfrm>
            <a:off x="9602444" y="5903682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Freeform 21"/>
          <p:cNvSpPr/>
          <p:nvPr/>
        </p:nvSpPr>
        <p:spPr>
          <a:xfrm>
            <a:off x="9602444" y="7079526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Freeform 22"/>
          <p:cNvSpPr/>
          <p:nvPr/>
        </p:nvSpPr>
        <p:spPr>
          <a:xfrm>
            <a:off x="9602444" y="8258479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3" name="Freeform 23"/>
          <p:cNvSpPr/>
          <p:nvPr/>
        </p:nvSpPr>
        <p:spPr>
          <a:xfrm>
            <a:off x="4607951" y="5760394"/>
            <a:ext cx="681799" cy="802116"/>
          </a:xfrm>
          <a:custGeom>
            <a:avLst/>
            <a:gdLst/>
            <a:ahLst/>
            <a:cxnLst/>
            <a:rect l="l" t="t" r="r" b="b"/>
            <a:pathLst>
              <a:path w="681799" h="802116">
                <a:moveTo>
                  <a:pt x="0" y="0"/>
                </a:moveTo>
                <a:lnTo>
                  <a:pt x="681799" y="0"/>
                </a:lnTo>
                <a:lnTo>
                  <a:pt x="681799" y="802116"/>
                </a:lnTo>
                <a:lnTo>
                  <a:pt x="0" y="802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7578570" y="328728"/>
            <a:ext cx="85658" cy="380702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546912" y="2140636"/>
            <a:ext cx="729142" cy="0"/>
          </a:xfrm>
          <a:prstGeom prst="line">
            <a:avLst/>
          </a:prstGeom>
          <a:ln w="7620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546912" y="1162050"/>
            <a:ext cx="7374293" cy="71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56"/>
              </a:lnSpc>
            </a:pPr>
            <a:r>
              <a:rPr lang="en-US" sz="5251" spc="-105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기대 효과 및 KPI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42407" y="1475272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46912" y="2900211"/>
            <a:ext cx="7514726" cy="2961613"/>
            <a:chOff x="0" y="0"/>
            <a:chExt cx="1979187" cy="7800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79187" cy="780013"/>
            </a:xfrm>
            <a:custGeom>
              <a:avLst/>
              <a:gdLst/>
              <a:ahLst/>
              <a:cxnLst/>
              <a:rect l="l" t="t" r="r" b="b"/>
              <a:pathLst>
                <a:path w="1979187" h="780013">
                  <a:moveTo>
                    <a:pt x="25756" y="0"/>
                  </a:moveTo>
                  <a:lnTo>
                    <a:pt x="1953431" y="0"/>
                  </a:lnTo>
                  <a:cubicBezTo>
                    <a:pt x="1967656" y="0"/>
                    <a:pt x="1979187" y="11531"/>
                    <a:pt x="1979187" y="25756"/>
                  </a:cubicBezTo>
                  <a:lnTo>
                    <a:pt x="1979187" y="754258"/>
                  </a:lnTo>
                  <a:cubicBezTo>
                    <a:pt x="1979187" y="768482"/>
                    <a:pt x="1967656" y="780013"/>
                    <a:pt x="1953431" y="780013"/>
                  </a:cubicBezTo>
                  <a:lnTo>
                    <a:pt x="25756" y="780013"/>
                  </a:lnTo>
                  <a:cubicBezTo>
                    <a:pt x="11531" y="780013"/>
                    <a:pt x="0" y="768482"/>
                    <a:pt x="0" y="754258"/>
                  </a:cubicBezTo>
                  <a:lnTo>
                    <a:pt x="0" y="25756"/>
                  </a:lnTo>
                  <a:cubicBezTo>
                    <a:pt x="0" y="11531"/>
                    <a:pt x="11531" y="0"/>
                    <a:pt x="25756" y="0"/>
                  </a:cubicBezTo>
                  <a:close/>
                </a:path>
              </a:pathLst>
            </a:custGeom>
            <a:ln w="38100" cap="rnd">
              <a:solidFill>
                <a:srgbClr val="4F785F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979187" cy="827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46912" y="6077791"/>
            <a:ext cx="7514726" cy="2961613"/>
            <a:chOff x="0" y="0"/>
            <a:chExt cx="1979187" cy="7800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79187" cy="780013"/>
            </a:xfrm>
            <a:custGeom>
              <a:avLst/>
              <a:gdLst/>
              <a:ahLst/>
              <a:cxnLst/>
              <a:rect l="l" t="t" r="r" b="b"/>
              <a:pathLst>
                <a:path w="1979187" h="780013">
                  <a:moveTo>
                    <a:pt x="25756" y="0"/>
                  </a:moveTo>
                  <a:lnTo>
                    <a:pt x="1953431" y="0"/>
                  </a:lnTo>
                  <a:cubicBezTo>
                    <a:pt x="1967656" y="0"/>
                    <a:pt x="1979187" y="11531"/>
                    <a:pt x="1979187" y="25756"/>
                  </a:cubicBezTo>
                  <a:lnTo>
                    <a:pt x="1979187" y="754258"/>
                  </a:lnTo>
                  <a:cubicBezTo>
                    <a:pt x="1979187" y="768482"/>
                    <a:pt x="1967656" y="780013"/>
                    <a:pt x="1953431" y="780013"/>
                  </a:cubicBezTo>
                  <a:lnTo>
                    <a:pt x="25756" y="780013"/>
                  </a:lnTo>
                  <a:cubicBezTo>
                    <a:pt x="11531" y="780013"/>
                    <a:pt x="0" y="768482"/>
                    <a:pt x="0" y="754258"/>
                  </a:cubicBezTo>
                  <a:lnTo>
                    <a:pt x="0" y="25756"/>
                  </a:lnTo>
                  <a:cubicBezTo>
                    <a:pt x="0" y="11531"/>
                    <a:pt x="11531" y="0"/>
                    <a:pt x="25756" y="0"/>
                  </a:cubicBezTo>
                  <a:close/>
                </a:path>
              </a:pathLst>
            </a:custGeom>
            <a:ln w="38100" cap="rnd">
              <a:solidFill>
                <a:srgbClr val="A39D9D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979187" cy="827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28205" y="2900211"/>
            <a:ext cx="7514726" cy="2961613"/>
            <a:chOff x="0" y="0"/>
            <a:chExt cx="1979187" cy="78001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79187" cy="780013"/>
            </a:xfrm>
            <a:custGeom>
              <a:avLst/>
              <a:gdLst/>
              <a:ahLst/>
              <a:cxnLst/>
              <a:rect l="l" t="t" r="r" b="b"/>
              <a:pathLst>
                <a:path w="1979187" h="780013">
                  <a:moveTo>
                    <a:pt x="25756" y="0"/>
                  </a:moveTo>
                  <a:lnTo>
                    <a:pt x="1953431" y="0"/>
                  </a:lnTo>
                  <a:cubicBezTo>
                    <a:pt x="1967656" y="0"/>
                    <a:pt x="1979187" y="11531"/>
                    <a:pt x="1979187" y="25756"/>
                  </a:cubicBezTo>
                  <a:lnTo>
                    <a:pt x="1979187" y="754258"/>
                  </a:lnTo>
                  <a:cubicBezTo>
                    <a:pt x="1979187" y="768482"/>
                    <a:pt x="1967656" y="780013"/>
                    <a:pt x="1953431" y="780013"/>
                  </a:cubicBezTo>
                  <a:lnTo>
                    <a:pt x="25756" y="780013"/>
                  </a:lnTo>
                  <a:cubicBezTo>
                    <a:pt x="11531" y="780013"/>
                    <a:pt x="0" y="768482"/>
                    <a:pt x="0" y="754258"/>
                  </a:cubicBezTo>
                  <a:lnTo>
                    <a:pt x="0" y="25756"/>
                  </a:lnTo>
                  <a:cubicBezTo>
                    <a:pt x="0" y="11531"/>
                    <a:pt x="11531" y="0"/>
                    <a:pt x="25756" y="0"/>
                  </a:cubicBezTo>
                  <a:close/>
                </a:path>
              </a:pathLst>
            </a:custGeom>
            <a:ln w="38100" cap="rnd">
              <a:solidFill>
                <a:srgbClr val="A39D9D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979187" cy="827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28205" y="6077791"/>
            <a:ext cx="7514726" cy="2961613"/>
            <a:chOff x="0" y="0"/>
            <a:chExt cx="1979187" cy="7800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79187" cy="780013"/>
            </a:xfrm>
            <a:custGeom>
              <a:avLst/>
              <a:gdLst/>
              <a:ahLst/>
              <a:cxnLst/>
              <a:rect l="l" t="t" r="r" b="b"/>
              <a:pathLst>
                <a:path w="1979187" h="780013">
                  <a:moveTo>
                    <a:pt x="25756" y="0"/>
                  </a:moveTo>
                  <a:lnTo>
                    <a:pt x="1953431" y="0"/>
                  </a:lnTo>
                  <a:cubicBezTo>
                    <a:pt x="1967656" y="0"/>
                    <a:pt x="1979187" y="11531"/>
                    <a:pt x="1979187" y="25756"/>
                  </a:cubicBezTo>
                  <a:lnTo>
                    <a:pt x="1979187" y="754258"/>
                  </a:lnTo>
                  <a:cubicBezTo>
                    <a:pt x="1979187" y="768482"/>
                    <a:pt x="1967656" y="780013"/>
                    <a:pt x="1953431" y="780013"/>
                  </a:cubicBezTo>
                  <a:lnTo>
                    <a:pt x="25756" y="780013"/>
                  </a:lnTo>
                  <a:cubicBezTo>
                    <a:pt x="11531" y="780013"/>
                    <a:pt x="0" y="768482"/>
                    <a:pt x="0" y="754258"/>
                  </a:cubicBezTo>
                  <a:lnTo>
                    <a:pt x="0" y="25756"/>
                  </a:lnTo>
                  <a:cubicBezTo>
                    <a:pt x="0" y="11531"/>
                    <a:pt x="11531" y="0"/>
                    <a:pt x="25756" y="0"/>
                  </a:cubicBezTo>
                  <a:close/>
                </a:path>
              </a:pathLst>
            </a:custGeom>
            <a:ln w="38100" cap="rnd">
              <a:solidFill>
                <a:srgbClr val="4F785F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979187" cy="827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314384" y="4219023"/>
            <a:ext cx="3990902" cy="80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타겟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고객층 내 브랜드 인지도 25% 증가 목표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4384" y="7396603"/>
            <a:ext cx="3990902" cy="1217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콘텐츠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참여율 및 인게이지먼트 20% 이상 증가 목표</a:t>
            </a:r>
          </a:p>
          <a:p>
            <a:pPr marL="0" lvl="0" indent="0" algn="l">
              <a:lnSpc>
                <a:spcPts val="3240"/>
              </a:lnSpc>
            </a:pPr>
            <a:endParaRPr lang="en-US" sz="2250" u="none" strike="noStrike" spc="-78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093664" y="4219023"/>
            <a:ext cx="3990902" cy="1217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캠페인을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통한 신규 고객 유입 30% 증가 목표</a:t>
            </a:r>
          </a:p>
          <a:p>
            <a:pPr marL="0" lvl="0" indent="0" algn="l">
              <a:lnSpc>
                <a:spcPts val="3240"/>
              </a:lnSpc>
            </a:pPr>
            <a:endParaRPr lang="en-US" sz="2250" u="none" strike="noStrike" spc="-78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995677" y="7396603"/>
            <a:ext cx="3990902" cy="80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소셜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미디어 팔로워 및 커뮤니티 규모 확대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14384" y="3572143"/>
            <a:ext cx="4606821" cy="560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49"/>
              </a:lnSpc>
              <a:spcBef>
                <a:spcPct val="0"/>
              </a:spcBef>
            </a:pPr>
            <a:r>
              <a:rPr lang="en-US" sz="2949" b="1" spc="-103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브랜드</a:t>
            </a:r>
            <a:r>
              <a:rPr lang="en-US" sz="2949" b="1" u="none" strike="noStrike" spc="-103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인지도 상승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14384" y="6749723"/>
            <a:ext cx="4606821" cy="560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49"/>
              </a:lnSpc>
              <a:spcBef>
                <a:spcPct val="0"/>
              </a:spcBef>
            </a:pPr>
            <a:r>
              <a:rPr lang="en-US" sz="2949" b="1" spc="-103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브랜드</a:t>
            </a:r>
            <a:r>
              <a:rPr lang="en-US" sz="2949" b="1" u="none" strike="noStrike" spc="-103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인지도 상승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995677" y="3572143"/>
            <a:ext cx="4606821" cy="560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49"/>
              </a:lnSpc>
              <a:spcBef>
                <a:spcPct val="0"/>
              </a:spcBef>
            </a:pPr>
            <a:r>
              <a:rPr lang="en-US" sz="2949" b="1" spc="-103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신규</a:t>
            </a:r>
            <a:r>
              <a:rPr lang="en-US" sz="2949" b="1" u="none" strike="noStrike" spc="-103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고객 증가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95677" y="6749723"/>
            <a:ext cx="4606821" cy="560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49"/>
              </a:lnSpc>
              <a:spcBef>
                <a:spcPct val="0"/>
              </a:spcBef>
            </a:pPr>
            <a:r>
              <a:rPr lang="en-US" sz="2949" b="1" spc="-103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SNS</a:t>
            </a:r>
            <a:r>
              <a:rPr lang="en-US" sz="2949" b="1" u="none" strike="noStrike" spc="-103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팔로워 증가</a:t>
            </a:r>
          </a:p>
        </p:txBody>
      </p:sp>
      <p:sp>
        <p:nvSpPr>
          <p:cNvPr id="26" name="Freeform 26"/>
          <p:cNvSpPr/>
          <p:nvPr/>
        </p:nvSpPr>
        <p:spPr>
          <a:xfrm>
            <a:off x="2455148" y="3695968"/>
            <a:ext cx="1156682" cy="1217560"/>
          </a:xfrm>
          <a:custGeom>
            <a:avLst/>
            <a:gdLst/>
            <a:ahLst/>
            <a:cxnLst/>
            <a:rect l="l" t="t" r="r" b="b"/>
            <a:pathLst>
              <a:path w="1156682" h="1217560">
                <a:moveTo>
                  <a:pt x="0" y="0"/>
                </a:moveTo>
                <a:lnTo>
                  <a:pt x="1156682" y="0"/>
                </a:lnTo>
                <a:lnTo>
                  <a:pt x="1156682" y="1217560"/>
                </a:lnTo>
                <a:lnTo>
                  <a:pt x="0" y="1217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7" name="Freeform 27"/>
          <p:cNvSpPr/>
          <p:nvPr/>
        </p:nvSpPr>
        <p:spPr>
          <a:xfrm>
            <a:off x="10271481" y="7087247"/>
            <a:ext cx="1021642" cy="800712"/>
          </a:xfrm>
          <a:custGeom>
            <a:avLst/>
            <a:gdLst/>
            <a:ahLst/>
            <a:cxnLst/>
            <a:rect l="l" t="t" r="r" b="b"/>
            <a:pathLst>
              <a:path w="1021642" h="800712">
                <a:moveTo>
                  <a:pt x="0" y="0"/>
                </a:moveTo>
                <a:lnTo>
                  <a:pt x="1021641" y="0"/>
                </a:lnTo>
                <a:lnTo>
                  <a:pt x="1021641" y="800712"/>
                </a:lnTo>
                <a:lnTo>
                  <a:pt x="0" y="800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Freeform 28"/>
          <p:cNvSpPr/>
          <p:nvPr/>
        </p:nvSpPr>
        <p:spPr>
          <a:xfrm>
            <a:off x="2385329" y="6954844"/>
            <a:ext cx="1226500" cy="1129914"/>
          </a:xfrm>
          <a:custGeom>
            <a:avLst/>
            <a:gdLst/>
            <a:ahLst/>
            <a:cxnLst/>
            <a:rect l="l" t="t" r="r" b="b"/>
            <a:pathLst>
              <a:path w="1226500" h="1129914">
                <a:moveTo>
                  <a:pt x="0" y="0"/>
                </a:moveTo>
                <a:lnTo>
                  <a:pt x="1226501" y="0"/>
                </a:lnTo>
                <a:lnTo>
                  <a:pt x="1226501" y="1129914"/>
                </a:lnTo>
                <a:lnTo>
                  <a:pt x="0" y="11299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9" name="Freeform 29"/>
          <p:cNvSpPr/>
          <p:nvPr/>
        </p:nvSpPr>
        <p:spPr>
          <a:xfrm>
            <a:off x="10213862" y="3802818"/>
            <a:ext cx="1163897" cy="1003861"/>
          </a:xfrm>
          <a:custGeom>
            <a:avLst/>
            <a:gdLst/>
            <a:ahLst/>
            <a:cxnLst/>
            <a:rect l="l" t="t" r="r" b="b"/>
            <a:pathLst>
              <a:path w="1163897" h="1003861">
                <a:moveTo>
                  <a:pt x="0" y="0"/>
                </a:moveTo>
                <a:lnTo>
                  <a:pt x="1163897" y="0"/>
                </a:lnTo>
                <a:lnTo>
                  <a:pt x="1163897" y="1003861"/>
                </a:lnTo>
                <a:lnTo>
                  <a:pt x="0" y="1003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7578570" y="328728"/>
            <a:ext cx="85658" cy="380702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546912" y="2140636"/>
            <a:ext cx="729142" cy="0"/>
          </a:xfrm>
          <a:prstGeom prst="line">
            <a:avLst/>
          </a:prstGeom>
          <a:ln w="7620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546912" y="1162050"/>
            <a:ext cx="7374293" cy="71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56"/>
              </a:lnSpc>
            </a:pPr>
            <a:r>
              <a:rPr lang="en-US" sz="5251" spc="-105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팀 구성 및 역할 분담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94281" y="1475272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363786" y="2900211"/>
            <a:ext cx="3496729" cy="349672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79379" t="-55793" r="-71166" b="-2202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395635" y="2900211"/>
            <a:ext cx="3496729" cy="349672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b="-5009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29414" y="2900211"/>
            <a:ext cx="3496729" cy="349672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56867" t="-37512" r="-38268" b="-15537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92173" y="6655097"/>
            <a:ext cx="4606821" cy="560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49"/>
              </a:lnSpc>
              <a:spcBef>
                <a:spcPct val="0"/>
              </a:spcBef>
            </a:pPr>
            <a:r>
              <a:rPr lang="en-US" sz="2949" b="1" spc="-103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</a:t>
            </a:r>
            <a:r>
              <a:rPr lang="en-US" sz="2949" b="1" u="none" strike="noStrike" spc="-103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매니저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92778" y="6655097"/>
            <a:ext cx="4606821" cy="560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49"/>
              </a:lnSpc>
              <a:spcBef>
                <a:spcPct val="0"/>
              </a:spcBef>
            </a:pPr>
            <a:r>
              <a:rPr lang="en-US" sz="2949" b="1" spc="-103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마케팅</a:t>
            </a:r>
            <a:r>
              <a:rPr lang="en-US" sz="2949" b="1" u="none" strike="noStrike" spc="-103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전략가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20232" y="6655097"/>
            <a:ext cx="4606821" cy="560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49"/>
              </a:lnSpc>
              <a:spcBef>
                <a:spcPct val="0"/>
              </a:spcBef>
            </a:pPr>
            <a:r>
              <a:rPr lang="en-US" sz="2949" b="1" spc="-103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인플루언서</a:t>
            </a:r>
            <a:r>
              <a:rPr lang="en-US" sz="2949" b="1" u="none" strike="noStrike" spc="-103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매니저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92173" y="7263028"/>
            <a:ext cx="4606821" cy="43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b="1" spc="-78">
                <a:solidFill>
                  <a:srgbClr val="333333">
                    <a:alpha val="8000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역할: 전체</a:t>
            </a:r>
            <a:r>
              <a:rPr lang="en-US" sz="2250" b="1" u="none" strike="noStrike" spc="-78">
                <a:solidFill>
                  <a:srgbClr val="333333">
                    <a:alpha val="8000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일정 및 예산 관리, 팀 조율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2778" y="7263028"/>
            <a:ext cx="4606821" cy="43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b="1" spc="-78">
                <a:solidFill>
                  <a:srgbClr val="333333">
                    <a:alpha val="8000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역할: 전체</a:t>
            </a:r>
            <a:r>
              <a:rPr lang="en-US" sz="2250" b="1" u="none" strike="noStrike" spc="-78">
                <a:solidFill>
                  <a:srgbClr val="333333">
                    <a:alpha val="8000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일정 및 예산 관리, 팀 조율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20232" y="7263028"/>
            <a:ext cx="4606821" cy="43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b="1" spc="-78">
                <a:solidFill>
                  <a:srgbClr val="333333">
                    <a:alpha val="8000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역할: 협업</a:t>
            </a:r>
            <a:r>
              <a:rPr lang="en-US" sz="2250" b="1" u="none" strike="noStrike" spc="-78">
                <a:solidFill>
                  <a:srgbClr val="333333">
                    <a:alpha val="8000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 관리 및 커뮤니케이션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76029" y="8146956"/>
            <a:ext cx="4438843" cy="892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프로젝트 전체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일정 수립 및 진행 관리</a:t>
            </a:r>
          </a:p>
          <a:p>
            <a:pPr algn="l">
              <a:lnSpc>
                <a:spcPts val="3622"/>
              </a:lnSpc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예산 집행 및 비용 효율성 모니터링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76634" y="8146956"/>
            <a:ext cx="4438843" cy="892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시장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조사 및 경쟁사 분석</a:t>
            </a:r>
          </a:p>
          <a:p>
            <a:pPr algn="l">
              <a:lnSpc>
                <a:spcPts val="3622"/>
              </a:lnSpc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타겟 고객 세분화 및 페르소나 개발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13225" y="8146956"/>
            <a:ext cx="4438843" cy="892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인플루언서 발굴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및 선정</a:t>
            </a:r>
          </a:p>
          <a:p>
            <a:pPr algn="l">
              <a:lnSpc>
                <a:spcPts val="3622"/>
              </a:lnSpc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계약 협상 및 브리핑 진행</a:t>
            </a:r>
          </a:p>
        </p:txBody>
      </p:sp>
      <p:sp>
        <p:nvSpPr>
          <p:cNvPr id="21" name="Freeform 21"/>
          <p:cNvSpPr/>
          <p:nvPr/>
        </p:nvSpPr>
        <p:spPr>
          <a:xfrm>
            <a:off x="1816859" y="8348306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Freeform 22"/>
          <p:cNvSpPr/>
          <p:nvPr/>
        </p:nvSpPr>
        <p:spPr>
          <a:xfrm>
            <a:off x="6917464" y="8348306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3" name="Freeform 23"/>
          <p:cNvSpPr/>
          <p:nvPr/>
        </p:nvSpPr>
        <p:spPr>
          <a:xfrm>
            <a:off x="12553239" y="8348306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4" name="Freeform 24"/>
          <p:cNvSpPr/>
          <p:nvPr/>
        </p:nvSpPr>
        <p:spPr>
          <a:xfrm>
            <a:off x="1816859" y="8802378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Freeform 25"/>
          <p:cNvSpPr/>
          <p:nvPr/>
        </p:nvSpPr>
        <p:spPr>
          <a:xfrm>
            <a:off x="6917464" y="8802378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6" name="Freeform 26"/>
          <p:cNvSpPr/>
          <p:nvPr/>
        </p:nvSpPr>
        <p:spPr>
          <a:xfrm>
            <a:off x="12553239" y="8802378"/>
            <a:ext cx="173445" cy="132252"/>
          </a:xfrm>
          <a:custGeom>
            <a:avLst/>
            <a:gdLst/>
            <a:ahLst/>
            <a:cxnLst/>
            <a:rect l="l" t="t" r="r" b="b"/>
            <a:pathLst>
              <a:path w="173445" h="132252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7" name="AutoShape 27"/>
          <p:cNvSpPr/>
          <p:nvPr/>
        </p:nvSpPr>
        <p:spPr>
          <a:xfrm flipV="1">
            <a:off x="1571918" y="7954532"/>
            <a:ext cx="4847331" cy="0"/>
          </a:xfrm>
          <a:prstGeom prst="line">
            <a:avLst/>
          </a:prstGeom>
          <a:ln w="1905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AutoShape 28"/>
          <p:cNvSpPr/>
          <p:nvPr/>
        </p:nvSpPr>
        <p:spPr>
          <a:xfrm flipV="1">
            <a:off x="6672523" y="7954532"/>
            <a:ext cx="4847331" cy="0"/>
          </a:xfrm>
          <a:prstGeom prst="line">
            <a:avLst/>
          </a:prstGeom>
          <a:ln w="1905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AutoShape 29"/>
          <p:cNvSpPr/>
          <p:nvPr/>
        </p:nvSpPr>
        <p:spPr>
          <a:xfrm flipV="1">
            <a:off x="11799977" y="7954532"/>
            <a:ext cx="4847331" cy="0"/>
          </a:xfrm>
          <a:prstGeom prst="line">
            <a:avLst/>
          </a:prstGeom>
          <a:ln w="1905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7578570" y="328728"/>
            <a:ext cx="85658" cy="380702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546912" y="2140636"/>
            <a:ext cx="729142" cy="0"/>
          </a:xfrm>
          <a:prstGeom prst="line">
            <a:avLst/>
          </a:prstGeom>
          <a:ln w="76200" cap="rnd">
            <a:solidFill>
              <a:srgbClr val="4F7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546912" y="2900211"/>
            <a:ext cx="4925068" cy="6139193"/>
            <a:chOff x="0" y="0"/>
            <a:chExt cx="1297137" cy="16169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7137" cy="1616907"/>
            </a:xfrm>
            <a:custGeom>
              <a:avLst/>
              <a:gdLst/>
              <a:ahLst/>
              <a:cxnLst/>
              <a:rect l="l" t="t" r="r" b="b"/>
              <a:pathLst>
                <a:path w="1297137" h="1616907">
                  <a:moveTo>
                    <a:pt x="39299" y="0"/>
                  </a:moveTo>
                  <a:lnTo>
                    <a:pt x="1257839" y="0"/>
                  </a:lnTo>
                  <a:cubicBezTo>
                    <a:pt x="1279543" y="0"/>
                    <a:pt x="1297137" y="17595"/>
                    <a:pt x="1297137" y="39299"/>
                  </a:cubicBezTo>
                  <a:lnTo>
                    <a:pt x="1297137" y="1577608"/>
                  </a:lnTo>
                  <a:cubicBezTo>
                    <a:pt x="1297137" y="1588031"/>
                    <a:pt x="1292997" y="1598027"/>
                    <a:pt x="1285627" y="1605397"/>
                  </a:cubicBezTo>
                  <a:cubicBezTo>
                    <a:pt x="1278257" y="1612767"/>
                    <a:pt x="1268261" y="1616907"/>
                    <a:pt x="1257839" y="1616907"/>
                  </a:cubicBezTo>
                  <a:lnTo>
                    <a:pt x="39299" y="1616907"/>
                  </a:lnTo>
                  <a:cubicBezTo>
                    <a:pt x="28876" y="1616907"/>
                    <a:pt x="18880" y="1612767"/>
                    <a:pt x="11510" y="1605397"/>
                  </a:cubicBezTo>
                  <a:cubicBezTo>
                    <a:pt x="4140" y="1598027"/>
                    <a:pt x="0" y="1588031"/>
                    <a:pt x="0" y="1577608"/>
                  </a:cubicBezTo>
                  <a:lnTo>
                    <a:pt x="0" y="39299"/>
                  </a:lnTo>
                  <a:cubicBezTo>
                    <a:pt x="0" y="17595"/>
                    <a:pt x="17595" y="0"/>
                    <a:pt x="39299" y="0"/>
                  </a:cubicBezTo>
                  <a:close/>
                </a:path>
              </a:pathLst>
            </a:custGeom>
            <a:ln w="38100" cap="rnd">
              <a:solidFill>
                <a:srgbClr val="4F785F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297137" cy="16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81466" y="2900211"/>
            <a:ext cx="4925068" cy="6139193"/>
            <a:chOff x="0" y="0"/>
            <a:chExt cx="1297137" cy="16169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97137" cy="1616907"/>
            </a:xfrm>
            <a:custGeom>
              <a:avLst/>
              <a:gdLst/>
              <a:ahLst/>
              <a:cxnLst/>
              <a:rect l="l" t="t" r="r" b="b"/>
              <a:pathLst>
                <a:path w="1297137" h="1616907">
                  <a:moveTo>
                    <a:pt x="39299" y="0"/>
                  </a:moveTo>
                  <a:lnTo>
                    <a:pt x="1257839" y="0"/>
                  </a:lnTo>
                  <a:cubicBezTo>
                    <a:pt x="1279543" y="0"/>
                    <a:pt x="1297137" y="17595"/>
                    <a:pt x="1297137" y="39299"/>
                  </a:cubicBezTo>
                  <a:lnTo>
                    <a:pt x="1297137" y="1577608"/>
                  </a:lnTo>
                  <a:cubicBezTo>
                    <a:pt x="1297137" y="1588031"/>
                    <a:pt x="1292997" y="1598027"/>
                    <a:pt x="1285627" y="1605397"/>
                  </a:cubicBezTo>
                  <a:cubicBezTo>
                    <a:pt x="1278257" y="1612767"/>
                    <a:pt x="1268261" y="1616907"/>
                    <a:pt x="1257839" y="1616907"/>
                  </a:cubicBezTo>
                  <a:lnTo>
                    <a:pt x="39299" y="1616907"/>
                  </a:lnTo>
                  <a:cubicBezTo>
                    <a:pt x="28876" y="1616907"/>
                    <a:pt x="18880" y="1612767"/>
                    <a:pt x="11510" y="1605397"/>
                  </a:cubicBezTo>
                  <a:cubicBezTo>
                    <a:pt x="4140" y="1598027"/>
                    <a:pt x="0" y="1588031"/>
                    <a:pt x="0" y="1577608"/>
                  </a:cubicBezTo>
                  <a:lnTo>
                    <a:pt x="0" y="39299"/>
                  </a:lnTo>
                  <a:cubicBezTo>
                    <a:pt x="0" y="17595"/>
                    <a:pt x="17595" y="0"/>
                    <a:pt x="39299" y="0"/>
                  </a:cubicBezTo>
                  <a:close/>
                </a:path>
              </a:pathLst>
            </a:custGeom>
            <a:ln w="38100" cap="rnd">
              <a:solidFill>
                <a:srgbClr val="4F785F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97137" cy="16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17863" y="2900211"/>
            <a:ext cx="4925068" cy="6139193"/>
            <a:chOff x="0" y="0"/>
            <a:chExt cx="1297137" cy="16169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97137" cy="1616907"/>
            </a:xfrm>
            <a:custGeom>
              <a:avLst/>
              <a:gdLst/>
              <a:ahLst/>
              <a:cxnLst/>
              <a:rect l="l" t="t" r="r" b="b"/>
              <a:pathLst>
                <a:path w="1297137" h="1616907">
                  <a:moveTo>
                    <a:pt x="39299" y="0"/>
                  </a:moveTo>
                  <a:lnTo>
                    <a:pt x="1257839" y="0"/>
                  </a:lnTo>
                  <a:cubicBezTo>
                    <a:pt x="1279543" y="0"/>
                    <a:pt x="1297137" y="17595"/>
                    <a:pt x="1297137" y="39299"/>
                  </a:cubicBezTo>
                  <a:lnTo>
                    <a:pt x="1297137" y="1577608"/>
                  </a:lnTo>
                  <a:cubicBezTo>
                    <a:pt x="1297137" y="1588031"/>
                    <a:pt x="1292997" y="1598027"/>
                    <a:pt x="1285627" y="1605397"/>
                  </a:cubicBezTo>
                  <a:cubicBezTo>
                    <a:pt x="1278257" y="1612767"/>
                    <a:pt x="1268261" y="1616907"/>
                    <a:pt x="1257839" y="1616907"/>
                  </a:cubicBezTo>
                  <a:lnTo>
                    <a:pt x="39299" y="1616907"/>
                  </a:lnTo>
                  <a:cubicBezTo>
                    <a:pt x="28876" y="1616907"/>
                    <a:pt x="18880" y="1612767"/>
                    <a:pt x="11510" y="1605397"/>
                  </a:cubicBezTo>
                  <a:cubicBezTo>
                    <a:pt x="4140" y="1598027"/>
                    <a:pt x="0" y="1588031"/>
                    <a:pt x="0" y="1577608"/>
                  </a:cubicBezTo>
                  <a:lnTo>
                    <a:pt x="0" y="39299"/>
                  </a:lnTo>
                  <a:cubicBezTo>
                    <a:pt x="0" y="17595"/>
                    <a:pt x="17595" y="0"/>
                    <a:pt x="39299" y="0"/>
                  </a:cubicBezTo>
                  <a:close/>
                </a:path>
              </a:pathLst>
            </a:custGeom>
            <a:ln w="38100" cap="rnd">
              <a:solidFill>
                <a:srgbClr val="4F785F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97137" cy="16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72740" y="3119708"/>
            <a:ext cx="4473414" cy="2733074"/>
            <a:chOff x="0" y="0"/>
            <a:chExt cx="592259" cy="3618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92259" cy="361846"/>
            </a:xfrm>
            <a:custGeom>
              <a:avLst/>
              <a:gdLst/>
              <a:ahLst/>
              <a:cxnLst/>
              <a:rect l="l" t="t" r="r" b="b"/>
              <a:pathLst>
                <a:path w="592259" h="361846">
                  <a:moveTo>
                    <a:pt x="22498" y="0"/>
                  </a:moveTo>
                  <a:lnTo>
                    <a:pt x="569760" y="0"/>
                  </a:lnTo>
                  <a:cubicBezTo>
                    <a:pt x="575727" y="0"/>
                    <a:pt x="581450" y="2370"/>
                    <a:pt x="585669" y="6590"/>
                  </a:cubicBezTo>
                  <a:cubicBezTo>
                    <a:pt x="589888" y="10809"/>
                    <a:pt x="592259" y="16532"/>
                    <a:pt x="592259" y="22498"/>
                  </a:cubicBezTo>
                  <a:lnTo>
                    <a:pt x="592259" y="339348"/>
                  </a:lnTo>
                  <a:cubicBezTo>
                    <a:pt x="592259" y="351773"/>
                    <a:pt x="582186" y="361846"/>
                    <a:pt x="569760" y="361846"/>
                  </a:cubicBezTo>
                  <a:lnTo>
                    <a:pt x="22498" y="361846"/>
                  </a:lnTo>
                  <a:cubicBezTo>
                    <a:pt x="16532" y="361846"/>
                    <a:pt x="10809" y="359476"/>
                    <a:pt x="6590" y="355256"/>
                  </a:cubicBezTo>
                  <a:cubicBezTo>
                    <a:pt x="2370" y="351037"/>
                    <a:pt x="0" y="345314"/>
                    <a:pt x="0" y="339348"/>
                  </a:cubicBezTo>
                  <a:lnTo>
                    <a:pt x="0" y="22498"/>
                  </a:lnTo>
                  <a:cubicBezTo>
                    <a:pt x="0" y="16532"/>
                    <a:pt x="2370" y="10809"/>
                    <a:pt x="6590" y="6590"/>
                  </a:cubicBezTo>
                  <a:cubicBezTo>
                    <a:pt x="10809" y="2370"/>
                    <a:pt x="16532" y="0"/>
                    <a:pt x="22498" y="0"/>
                  </a:cubicBezTo>
                  <a:close/>
                </a:path>
              </a:pathLst>
            </a:custGeom>
            <a:blipFill>
              <a:blip r:embed="rId3"/>
              <a:stretch>
                <a:fillRect l="-24981" t="-4608" b="-3189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07293" y="3119708"/>
            <a:ext cx="4473414" cy="2733074"/>
            <a:chOff x="0" y="0"/>
            <a:chExt cx="592259" cy="3618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92259" cy="361846"/>
            </a:xfrm>
            <a:custGeom>
              <a:avLst/>
              <a:gdLst/>
              <a:ahLst/>
              <a:cxnLst/>
              <a:rect l="l" t="t" r="r" b="b"/>
              <a:pathLst>
                <a:path w="592259" h="361846">
                  <a:moveTo>
                    <a:pt x="22498" y="0"/>
                  </a:moveTo>
                  <a:lnTo>
                    <a:pt x="569760" y="0"/>
                  </a:lnTo>
                  <a:cubicBezTo>
                    <a:pt x="575727" y="0"/>
                    <a:pt x="581450" y="2370"/>
                    <a:pt x="585669" y="6590"/>
                  </a:cubicBezTo>
                  <a:cubicBezTo>
                    <a:pt x="589888" y="10809"/>
                    <a:pt x="592259" y="16532"/>
                    <a:pt x="592259" y="22498"/>
                  </a:cubicBezTo>
                  <a:lnTo>
                    <a:pt x="592259" y="339348"/>
                  </a:lnTo>
                  <a:cubicBezTo>
                    <a:pt x="592259" y="351773"/>
                    <a:pt x="582186" y="361846"/>
                    <a:pt x="569760" y="361846"/>
                  </a:cubicBezTo>
                  <a:lnTo>
                    <a:pt x="22498" y="361846"/>
                  </a:lnTo>
                  <a:cubicBezTo>
                    <a:pt x="16532" y="361846"/>
                    <a:pt x="10809" y="359476"/>
                    <a:pt x="6590" y="355256"/>
                  </a:cubicBezTo>
                  <a:cubicBezTo>
                    <a:pt x="2370" y="351037"/>
                    <a:pt x="0" y="345314"/>
                    <a:pt x="0" y="339348"/>
                  </a:cubicBezTo>
                  <a:lnTo>
                    <a:pt x="0" y="22498"/>
                  </a:lnTo>
                  <a:cubicBezTo>
                    <a:pt x="0" y="16532"/>
                    <a:pt x="2370" y="10809"/>
                    <a:pt x="6590" y="6590"/>
                  </a:cubicBezTo>
                  <a:cubicBezTo>
                    <a:pt x="10809" y="2370"/>
                    <a:pt x="16532" y="0"/>
                    <a:pt x="22498" y="0"/>
                  </a:cubicBezTo>
                  <a:close/>
                </a:path>
              </a:pathLst>
            </a:custGeom>
            <a:blipFill>
              <a:blip r:embed="rId4"/>
              <a:stretch>
                <a:fillRect t="-4608" b="-4608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043690" y="3119708"/>
            <a:ext cx="4473414" cy="2733074"/>
            <a:chOff x="0" y="0"/>
            <a:chExt cx="592259" cy="36184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92259" cy="361846"/>
            </a:xfrm>
            <a:custGeom>
              <a:avLst/>
              <a:gdLst/>
              <a:ahLst/>
              <a:cxnLst/>
              <a:rect l="l" t="t" r="r" b="b"/>
              <a:pathLst>
                <a:path w="592259" h="361846">
                  <a:moveTo>
                    <a:pt x="22498" y="0"/>
                  </a:moveTo>
                  <a:lnTo>
                    <a:pt x="569760" y="0"/>
                  </a:lnTo>
                  <a:cubicBezTo>
                    <a:pt x="575727" y="0"/>
                    <a:pt x="581450" y="2370"/>
                    <a:pt x="585669" y="6590"/>
                  </a:cubicBezTo>
                  <a:cubicBezTo>
                    <a:pt x="589888" y="10809"/>
                    <a:pt x="592259" y="16532"/>
                    <a:pt x="592259" y="22498"/>
                  </a:cubicBezTo>
                  <a:lnTo>
                    <a:pt x="592259" y="339348"/>
                  </a:lnTo>
                  <a:cubicBezTo>
                    <a:pt x="592259" y="351773"/>
                    <a:pt x="582186" y="361846"/>
                    <a:pt x="569760" y="361846"/>
                  </a:cubicBezTo>
                  <a:lnTo>
                    <a:pt x="22498" y="361846"/>
                  </a:lnTo>
                  <a:cubicBezTo>
                    <a:pt x="16532" y="361846"/>
                    <a:pt x="10809" y="359476"/>
                    <a:pt x="6590" y="355256"/>
                  </a:cubicBezTo>
                  <a:cubicBezTo>
                    <a:pt x="2370" y="351037"/>
                    <a:pt x="0" y="345314"/>
                    <a:pt x="0" y="339348"/>
                  </a:cubicBezTo>
                  <a:lnTo>
                    <a:pt x="0" y="22498"/>
                  </a:lnTo>
                  <a:cubicBezTo>
                    <a:pt x="0" y="16532"/>
                    <a:pt x="2370" y="10809"/>
                    <a:pt x="6590" y="6590"/>
                  </a:cubicBezTo>
                  <a:cubicBezTo>
                    <a:pt x="10809" y="2370"/>
                    <a:pt x="16532" y="0"/>
                    <a:pt x="22498" y="0"/>
                  </a:cubicBezTo>
                  <a:close/>
                </a:path>
              </a:pathLst>
            </a:custGeom>
            <a:blipFill>
              <a:blip r:embed="rId5"/>
              <a:stretch>
                <a:fillRect t="-9026" b="-9026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46912" y="1162050"/>
            <a:ext cx="7374293" cy="71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56"/>
              </a:lnSpc>
            </a:pPr>
            <a:r>
              <a:rPr lang="en-US" sz="5251" spc="-105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리스크 관리 및 대응 방안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02047" y="1475272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13995" y="6922332"/>
            <a:ext cx="3990902" cy="1626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주간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성과 모니터링을 통한 조기</a:t>
            </a:r>
          </a:p>
          <a:p>
            <a:pPr algn="ctr">
              <a:lnSpc>
                <a:spcPts val="3240"/>
              </a:lnSpc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경보 시스템을 운영하여</a:t>
            </a:r>
          </a:p>
          <a:p>
            <a:pPr marL="0" lvl="0" indent="0" algn="ctr">
              <a:lnSpc>
                <a:spcPts val="3240"/>
              </a:lnSpc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저성과 채널의 예산을 고성과 채널로 신속히 이동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48549" y="6922332"/>
            <a:ext cx="3990902" cy="203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상세한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브랜드 가이드라인 제공 및 사전 승인 프로세스 연구 / </a:t>
            </a:r>
          </a:p>
          <a:p>
            <a:pPr algn="ctr">
              <a:lnSpc>
                <a:spcPts val="3240"/>
              </a:lnSpc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백업 인플루언서 풀 5명 이상 확보하여 대비합니다.</a:t>
            </a:r>
          </a:p>
          <a:p>
            <a:pPr algn="ctr">
              <a:lnSpc>
                <a:spcPts val="3240"/>
              </a:lnSpc>
            </a:pPr>
            <a:endParaRPr lang="en-US" sz="2250" u="none" strike="noStrike" spc="-78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284946" y="6922332"/>
            <a:ext cx="3990902" cy="203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다양한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시나리오별 마케팅 대응 플랜을 사전 수립하고, 경쟁사 동향에 관한  실시간 트래킹 시스템을  구축하여 대비합니다.</a:t>
            </a:r>
          </a:p>
          <a:p>
            <a:pPr algn="ctr">
              <a:lnSpc>
                <a:spcPts val="3240"/>
              </a:lnSpc>
            </a:pPr>
            <a:endParaRPr lang="en-US" sz="2250" u="none" strike="noStrike" spc="-78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706036" y="6109957"/>
            <a:ext cx="4606821" cy="598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1"/>
              </a:lnSpc>
              <a:spcBef>
                <a:spcPct val="0"/>
              </a:spcBef>
            </a:pPr>
            <a:r>
              <a:rPr lang="en-US" sz="3149" b="1" spc="-110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광고</a:t>
            </a:r>
            <a:r>
              <a:rPr lang="en-US" sz="3149" b="1" u="none" strike="noStrike" spc="-110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성과 미달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40590" y="6109957"/>
            <a:ext cx="4606821" cy="598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1"/>
              </a:lnSpc>
              <a:spcBef>
                <a:spcPct val="0"/>
              </a:spcBef>
            </a:pPr>
            <a:r>
              <a:rPr lang="en-US" sz="3149" b="1" spc="-110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콘텐츠</a:t>
            </a:r>
            <a:r>
              <a:rPr lang="en-US" sz="3149" b="1" u="none" strike="noStrike" spc="-110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품질 문제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976986" y="6109957"/>
            <a:ext cx="4606821" cy="598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1"/>
              </a:lnSpc>
              <a:spcBef>
                <a:spcPct val="0"/>
              </a:spcBef>
            </a:pPr>
            <a:r>
              <a:rPr lang="en-US" sz="3149" b="1" spc="-110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시장</a:t>
            </a:r>
            <a:r>
              <a:rPr lang="en-US" sz="3149" b="1" u="none" strike="noStrike" spc="-110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환경 급변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19573" y="7502029"/>
            <a:ext cx="10967441" cy="737429"/>
            <a:chOff x="0" y="0"/>
            <a:chExt cx="1364329" cy="917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4329" cy="91735"/>
            </a:xfrm>
            <a:custGeom>
              <a:avLst/>
              <a:gdLst/>
              <a:ahLst/>
              <a:cxnLst/>
              <a:rect l="l" t="t" r="r" b="b"/>
              <a:pathLst>
                <a:path w="1364329" h="91735">
                  <a:moveTo>
                    <a:pt x="45867" y="0"/>
                  </a:moveTo>
                  <a:lnTo>
                    <a:pt x="1318462" y="0"/>
                  </a:lnTo>
                  <a:cubicBezTo>
                    <a:pt x="1343794" y="0"/>
                    <a:pt x="1364329" y="20536"/>
                    <a:pt x="1364329" y="45867"/>
                  </a:cubicBezTo>
                  <a:lnTo>
                    <a:pt x="1364329" y="45867"/>
                  </a:lnTo>
                  <a:cubicBezTo>
                    <a:pt x="1364329" y="71199"/>
                    <a:pt x="1343794" y="91735"/>
                    <a:pt x="1318462" y="91735"/>
                  </a:cubicBezTo>
                  <a:lnTo>
                    <a:pt x="45867" y="91735"/>
                  </a:lnTo>
                  <a:cubicBezTo>
                    <a:pt x="20536" y="91735"/>
                    <a:pt x="0" y="71199"/>
                    <a:pt x="0" y="45867"/>
                  </a:cubicBezTo>
                  <a:lnTo>
                    <a:pt x="0" y="45867"/>
                  </a:lnTo>
                  <a:cubicBezTo>
                    <a:pt x="0" y="20536"/>
                    <a:pt x="20536" y="0"/>
                    <a:pt x="45867" y="0"/>
                  </a:cubicBezTo>
                  <a:close/>
                </a:path>
              </a:pathLst>
            </a:custGeom>
            <a:solidFill>
              <a:srgbClr val="4F785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64329" cy="13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5615" y="7502029"/>
            <a:ext cx="3162812" cy="737429"/>
            <a:chOff x="0" y="0"/>
            <a:chExt cx="393448" cy="917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3448" cy="91735"/>
            </a:xfrm>
            <a:custGeom>
              <a:avLst/>
              <a:gdLst/>
              <a:ahLst/>
              <a:cxnLst/>
              <a:rect l="l" t="t" r="r" b="b"/>
              <a:pathLst>
                <a:path w="393448" h="91735">
                  <a:moveTo>
                    <a:pt x="45867" y="0"/>
                  </a:moveTo>
                  <a:lnTo>
                    <a:pt x="347581" y="0"/>
                  </a:lnTo>
                  <a:cubicBezTo>
                    <a:pt x="372912" y="0"/>
                    <a:pt x="393448" y="20536"/>
                    <a:pt x="393448" y="45867"/>
                  </a:cubicBezTo>
                  <a:lnTo>
                    <a:pt x="393448" y="45867"/>
                  </a:lnTo>
                  <a:cubicBezTo>
                    <a:pt x="393448" y="71199"/>
                    <a:pt x="372912" y="91735"/>
                    <a:pt x="347581" y="91735"/>
                  </a:cubicBezTo>
                  <a:lnTo>
                    <a:pt x="45867" y="91735"/>
                  </a:lnTo>
                  <a:cubicBezTo>
                    <a:pt x="20536" y="91735"/>
                    <a:pt x="0" y="71199"/>
                    <a:pt x="0" y="45867"/>
                  </a:cubicBezTo>
                  <a:lnTo>
                    <a:pt x="0" y="45867"/>
                  </a:lnTo>
                  <a:cubicBezTo>
                    <a:pt x="0" y="20536"/>
                    <a:pt x="20536" y="0"/>
                    <a:pt x="45867" y="0"/>
                  </a:cubicBezTo>
                  <a:close/>
                </a:path>
              </a:pathLst>
            </a:custGeom>
            <a:solidFill>
              <a:srgbClr val="A39D9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93448" cy="13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088199" y="2324757"/>
            <a:ext cx="3914204" cy="4114800"/>
          </a:xfrm>
          <a:custGeom>
            <a:avLst/>
            <a:gdLst/>
            <a:ahLst/>
            <a:cxnLst/>
            <a:rect l="l" t="t" r="r" b="b"/>
            <a:pathLst>
              <a:path w="3914204" h="4114800">
                <a:moveTo>
                  <a:pt x="0" y="0"/>
                </a:moveTo>
                <a:lnTo>
                  <a:pt x="3914203" y="0"/>
                </a:lnTo>
                <a:lnTo>
                  <a:pt x="39142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712711" y="2524940"/>
            <a:ext cx="9014673" cy="1396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87"/>
              </a:lnSpc>
            </a:pPr>
            <a:r>
              <a:rPr lang="en-US" sz="10379" spc="-207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경청해 주셔서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12711" y="4011395"/>
            <a:ext cx="12103881" cy="1396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87"/>
              </a:lnSpc>
            </a:pPr>
            <a:r>
              <a:rPr lang="en-US" sz="10379" spc="-207">
                <a:solidFill>
                  <a:srgbClr val="4F785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감사합니다.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69861" y="5971069"/>
            <a:ext cx="10520872" cy="622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679" spc="-16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본 프로젝트는 브랜드 성장과 매출 증대에 핵심적으로 기여할 것입니다. </a:t>
            </a:r>
          </a:p>
          <a:p>
            <a:pPr algn="l">
              <a:lnSpc>
                <a:spcPts val="2587"/>
              </a:lnSpc>
            </a:pPr>
            <a:endParaRPr lang="en-US" sz="1679" spc="-16">
              <a:solidFill>
                <a:srgbClr val="333333">
                  <a:alpha val="45882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769861" y="5502860"/>
            <a:ext cx="7287980" cy="35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 b="1" spc="-90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성공적인 캠페인을 위한 비즈니스 전략과 실행 계획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67261" y="7772114"/>
            <a:ext cx="2360239" cy="180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lang="en-US" sz="1400" b="1" spc="23">
                <a:solidFill>
                  <a:srgbClr val="FAF9F9"/>
                </a:solidFill>
                <a:latin typeface="Poppins"/>
                <a:ea typeface="Poppins"/>
                <a:cs typeface="Poppins"/>
                <a:sym typeface="Poppins Medium"/>
              </a:rPr>
              <a:t>www.reallygreatsite.com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33664" y="7720665"/>
            <a:ext cx="2043327" cy="24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563" spc="-31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라라나 마케팅 1팀 이수진</a:t>
            </a:r>
          </a:p>
        </p:txBody>
      </p:sp>
      <p:sp>
        <p:nvSpPr>
          <p:cNvPr id="15" name="Freeform 15"/>
          <p:cNvSpPr/>
          <p:nvPr/>
        </p:nvSpPr>
        <p:spPr>
          <a:xfrm rot="-5400000">
            <a:off x="17578570" y="328728"/>
            <a:ext cx="85658" cy="380702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690</Words>
  <Application>Microsoft Macintosh PowerPoint</Application>
  <PresentationFormat>사용자 지정</PresentationFormat>
  <Paragraphs>98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210 옴니고딕</vt:lpstr>
      <vt:lpstr>JASO Sans</vt:lpstr>
      <vt:lpstr>JASO Sans Bold</vt:lpstr>
      <vt:lpstr>Poppins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녹색과 베이지색 기본스타일의 기업 비즈니스 마케팅 사업 제안서 분석 발표 보고서 프레젠테이션</dc:title>
  <cp:lastModifiedBy>김 연동</cp:lastModifiedBy>
  <cp:revision>2</cp:revision>
  <dcterms:created xsi:type="dcterms:W3CDTF">2006-08-16T00:00:00Z</dcterms:created>
  <dcterms:modified xsi:type="dcterms:W3CDTF">2026-09-17T10:41:21Z</dcterms:modified>
  <dc:identifier>DAHVWGTAXHc</dc:identifier>
</cp:coreProperties>
</file>