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2" r:id="rId4"/>
    <p:sldId id="261" r:id="rId5"/>
  </p:sldIdLst>
  <p:sldSz cx="12191999" cy="6858000"/>
  <p:notesSz cx="6858000" cy="9144000"/>
  <p:embeddedFontLst>
    <p:embeddedFont>
      <p:font typeface="210 옴니고딕" panose="02020603020101020101" pitchFamily="18" charset="-127"/>
      <p:regular r:id="rId7"/>
    </p:embeddedFont>
    <p:embeddedFont>
      <p:font typeface="맑은 고딕" panose="020B0503020000020004" pitchFamily="34" charset="-127"/>
      <p:regular r:id="rId8"/>
      <p:bold r:id="rId9"/>
    </p:embeddedFont>
    <p:embeddedFont>
      <p:font typeface="JASO Sans" panose="020E0002060000000900" pitchFamily="34" charset="-127"/>
      <p:regular r:id="rId10"/>
      <p:bold r:id="rId11"/>
    </p:embeddedFont>
    <p:embeddedFont>
      <p:font typeface="JASO Sans Bold" panose="020E0002060000000900" pitchFamily="34" charset="-127"/>
      <p:bold r:id="rId12"/>
    </p:embeddedFont>
    <p:embeddedFont>
      <p:font typeface="Poppins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 autoAdjust="0"/>
    <p:restoredTop sz="94603" autoAdjust="0"/>
  </p:normalViewPr>
  <p:slideViewPr>
    <p:cSldViewPr>
      <p:cViewPr varScale="1">
        <p:scale>
          <a:sx n="72" d="100"/>
          <a:sy n="72" d="100"/>
        </p:scale>
        <p:origin x="55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CA81-4584-4F4E-AD03-433EA5402E1B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BA17-DA40-BD44-85FE-A98594C716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827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- 2026년 5월 AWS 팀 과제 「NginX를 살려라」: 외부 공격을 받는 상황에서 nginx가 계속 동작하도록 NLB 뒤 EC2 3대에 systemd·watchdog·cron으로 자동 복구를 구성했고, 프로세스를 강제 종료해도 약 1초 안에 복귀하는 것을 확인했다.</a:t>
            </a:r>
          </a:p>
          <a:p>
            <a:r>
              <a:t>- 2026년 7~9월 StockCast: 재고관리 시스템을 개발해 AWS에 배포·운영했다. 인프라는 Terraform으로 관리하고 장애 시 자동 복구되도록 워치독과 알람을 설정했다. CI에 pip-audit을 적용해 starlette 취약점 9건을 찾아 수정했다.</a:t>
            </a:r>
          </a:p>
          <a:p>
            <a:r>
              <a:t>- 2021년 12월 Log4j: 패치보다 Log4j가 어느 서버에 설치되어 있는지 파악하는 데 먼저 시간이 걸렸다는 기록이 많았다. 분석 도구는 이미 있지만 결과를 서버·담당자·조치로 이어 주는 관리 기능이 없었다.</a:t>
            </a:r>
          </a:p>
          <a:p>
            <a:r>
              <a:t>- EOLWatch: 새로운 CVE를 찾거나 발급하는 것이 아니라 알려진 취약점을 확인하고 관리한다.</a:t>
            </a:r>
          </a:p>
          <a:p>
            <a:endParaRPr/>
          </a:p>
          <a:p>
            <a:r>
              <a:t>누가 쓰나</a:t>
            </a:r>
          </a:p>
          <a:p>
            <a:r>
              <a:t>- 보안 담당자 / CVE 발표 시 해당 구성요소가 설치된 서버, 고객사, 수정 버전</a:t>
            </a:r>
          </a:p>
          <a:p>
            <a:r>
              <a:t>- 유지보수 엔지니어 / 패치·업그레이드 작업의 처리 상태와 재점검 결과</a:t>
            </a:r>
          </a:p>
          <a:p>
            <a:r>
              <a:t>- 운영 관리자 / 장비 교체·업그레이드 계획에서 CVE와 지원종료 일정을 함께 본 우선순위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분석 엔진을 새로 만들기보다 운영자가 실제로 조치할 수 있게 결과를 정리하는 데 집중한다.</a:t>
            </a:r>
          </a:p>
          <a:p>
            <a:r>
              <a:t>SBOM은 SPDX 2.3 표준 형식으로 만들고, 다른 도구가 만든 SPDX나 CycloneDX 문서도 가져올 수 있게 했다.</a:t>
            </a:r>
          </a:p>
          <a:p>
            <a:r>
              <a:t>취약점은 OSV API로 직접 조회한다. 공개 DB라 별도 계정 없이 CVE와 수정 버전을 확인할 수 있다. Syft·Grype 연동은 검토 중이다.</a:t>
            </a:r>
          </a:p>
          <a:p>
            <a:endParaRPr/>
          </a:p>
          <a:p>
            <a:r>
              <a:t>처리 흐름 8단계</a:t>
            </a:r>
          </a:p>
          <a:p>
            <a:r>
              <a:t>대상 서버 등록 → 수집·SBOM 생성 → 취약점 분석 → 결과 저장·자산 연결 → 영향 서버와 버전 표시 → 업데이트 등 조치 → 재수집·재분석 → 조치 전후 비교·이력 관리</a:t>
            </a:r>
          </a:p>
          <a:p>
            <a:endParaRPr/>
          </a:p>
          <a:p>
            <a:r>
              <a:t>SBOM 품질 점수</a:t>
            </a:r>
          </a:p>
          <a:p>
            <a:r>
              <a:t>9개 항목을 확인해 100점 기준으로 계산하며 항목은 CISA 최소 요소를 참고했다.</a:t>
            </a:r>
          </a:p>
          <a:p>
            <a:r>
              <a:t>- 문서: 문서 네임스페이스, 생성 시각, 작성자와 생성 도구</a:t>
            </a:r>
          </a:p>
          <a:p>
            <a:r>
              <a:t>- 구성요소: 이름, 버전, 공급자, purl 또는 CPE 식별자</a:t>
            </a:r>
          </a:p>
          <a:p>
            <a:r>
              <a:t>- 관계·기타: 의존관계, 라이선스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구성도</a:t>
            </a:r>
          </a:p>
          <a:p>
            <a:r>
              <a:t>사용자 브라우저 → React 화면·Nginx → FastAPI API 서버 → worker(SSH 수집·SBOM 생성·취약점 분석) → PostgreSQL 16</a:t>
            </a:r>
          </a:p>
          <a:p>
            <a:r>
              <a:t>worker가 SSH 22·키 인증으로 점검 대상 서버 2대에 접속한다. 시연은 로컬 VM에서 하며 과거 AWS 배포 구성은 참고 기록으로만 남겨 둔다.</a:t>
            </a:r>
          </a:p>
          <a:p>
            <a:r>
              <a:t>SBOM 원본은 그대로 보관하고, 검색에 필요한 항목만 17개 테이블로 나눠 저장한다.</a:t>
            </a:r>
          </a:p>
          <a:p>
            <a:endParaRPr/>
          </a:p>
          <a:p>
            <a:r>
              <a:t>기술 스택 선택 이유</a:t>
            </a:r>
          </a:p>
          <a:p>
            <a:r>
              <a:t>- SPDX 2.3 · CycloneDX 가져오기: 표준 형식을 쓰면 다른 도구 결과도 같은 방식으로 받는다.</a:t>
            </a:r>
          </a:p>
          <a:p>
            <a:r>
              <a:t>- OSV API: 공개 DB라 별도 계정 없이 CVE와 수정 버전을 조회할 수 있다.</a:t>
            </a:r>
          </a:p>
          <a:p>
            <a:r>
              <a:t>- Paramiko · APScheduler: 대상이 많지 않아 작업 큐 없이 스케줄러로 처리한다.</a:t>
            </a:r>
          </a:p>
          <a:p>
            <a:r>
              <a:t>- Python · FastAPI · SQLAlchemy: 수집 기능도 Python으로 작성해 언어를 하나로 맞췄다.</a:t>
            </a:r>
          </a:p>
          <a:p>
            <a:r>
              <a:t>- PostgreSQL 16 · React 19: 관계 데이터와 SBOM 원본을 한 DB에서 관리한다.</a:t>
            </a:r>
          </a:p>
          <a:p>
            <a:r>
              <a:t>- Docker Compose · 로컬 VM: 스크립트로 만들어 두어 다시 구축하기 쉽다.</a:t>
            </a:r>
          </a:p>
          <a:p>
            <a:endParaRPr/>
          </a:p>
          <a:p>
            <a:r>
              <a:t>데이터 설계 — 전체 17개 테이블</a:t>
            </a:r>
          </a:p>
          <a:p>
            <a:r>
              <a:t>- SBOM: sbom_documents, components, dependency_edges</a:t>
            </a:r>
          </a:p>
          <a:p>
            <a:r>
              <a:t>- 취약점: vulnerabilities, component_vulnerabilities</a:t>
            </a:r>
          </a:p>
          <a:p>
            <a:r>
              <a:t>- 제품·배포: product_releases, deployments</a:t>
            </a:r>
          </a:p>
          <a:p>
            <a:r>
              <a:t>- 자산·계약: customers, sites, assets, contracts, contract_assets</a:t>
            </a:r>
          </a:p>
          <a:p>
            <a:r>
              <a:t>- 점검·알림: collection_jobs, check_results, notification_deliveries</a:t>
            </a:r>
          </a:p>
          <a:p>
            <a:r>
              <a:t>- 사용자·감사: users, audit_logs</a:t>
            </a:r>
          </a:p>
          <a:p>
            <a:endParaRPr/>
          </a:p>
          <a:p>
            <a:r>
              <a:t>구현 단계 8단계</a:t>
            </a:r>
          </a:p>
          <a:p>
            <a:r>
              <a:t>기획·설계 → 자산 관리 기반 → 수집과 SBOM → CVE 조회와 조치 → 실행 환경 구성 → 분석 기능 통합 → 정확성 보완·재점검 → 시연과 제출 자료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로젝트 요약서"/>
          <p:cNvSpPr txBox="1"/>
          <p:nvPr/>
        </p:nvSpPr>
        <p:spPr>
          <a:xfrm>
            <a:off x="822960" y="658368"/>
            <a:ext cx="6400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프로젝트 요약서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3774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SBOM · 취약점 · 조치 통합 관리"/>
          <p:cNvSpPr txBox="1"/>
          <p:nvPr/>
        </p:nvSpPr>
        <p:spPr>
          <a:xfrm>
            <a:off x="832104" y="3657600"/>
            <a:ext cx="1046988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SBOM · 취약점 · 조치 통합 관리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/ BACKGROUND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01 / BACKGROUND</a:t>
            </a:r>
          </a:p>
        </p:txBody>
      </p:sp>
      <p:sp>
        <p:nvSpPr>
          <p:cNvPr id="3" name="프로젝트 배경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프로젝트 배경</a:t>
            </a:r>
          </a:p>
        </p:txBody>
      </p:sp>
      <p:sp>
        <p:nvSpPr>
          <p:cNvPr id="4" name="운영 경험에서 출발한 취약점 관리의 필요성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운영 경험에서 출발한 취약점 관리의 필요성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697480"/>
            <a:ext cx="0" cy="2633472"/>
          </a:xfrm>
          <a:prstGeom prst="line">
            <a:avLst/>
          </a:prstGeom>
          <a:ln w="1397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2414016"/>
            <a:ext cx="566928" cy="566928"/>
          </a:xfrm>
          <a:prstGeom prst="ellipse">
            <a:avLst/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640080" y="241401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NginX 방어"/>
          <p:cNvSpPr txBox="1"/>
          <p:nvPr/>
        </p:nvSpPr>
        <p:spPr>
          <a:xfrm>
            <a:off x="1435608" y="240487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NginX 방어</a:t>
            </a:r>
          </a:p>
        </p:txBody>
      </p:sp>
      <p:sp>
        <p:nvSpPr>
          <p:cNvPr id="9" name="외부 공격 상황에서도 서비스를 / 계속 살려 두는 AWS 팀 과제"/>
          <p:cNvSpPr txBox="1"/>
          <p:nvPr/>
        </p:nvSpPr>
        <p:spPr>
          <a:xfrm>
            <a:off x="1435608" y="288036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외부 공격 상황에서도 서비스를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계속 살려 두는 AWS 팀 과제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48456"/>
            <a:ext cx="566928" cy="566928"/>
          </a:xfrm>
          <a:prstGeom prst="ellipse">
            <a:avLst/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2"/>
          <p:cNvSpPr txBox="1"/>
          <p:nvPr/>
        </p:nvSpPr>
        <p:spPr>
          <a:xfrm>
            <a:off x="640080" y="364845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StockCast 운영"/>
          <p:cNvSpPr txBox="1"/>
          <p:nvPr/>
        </p:nvSpPr>
        <p:spPr>
          <a:xfrm>
            <a:off x="1435608" y="363931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StockCast 운영</a:t>
            </a:r>
          </a:p>
        </p:txBody>
      </p:sp>
      <p:sp>
        <p:nvSpPr>
          <p:cNvPr id="13" name="재고관리 시스템을 직접 배포하고 / 운영한 개인 프로젝트"/>
          <p:cNvSpPr txBox="1"/>
          <p:nvPr/>
        </p:nvSpPr>
        <p:spPr>
          <a:xfrm>
            <a:off x="1435608" y="411480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재고관리 시스템을 직접 배포하고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운영한 개인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82896"/>
            <a:ext cx="566928" cy="566928"/>
          </a:xfrm>
          <a:prstGeom prst="ellipse">
            <a:avLst/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3"/>
          <p:cNvSpPr txBox="1"/>
          <p:nvPr/>
        </p:nvSpPr>
        <p:spPr>
          <a:xfrm>
            <a:off x="640080" y="488289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Log4j 사례"/>
          <p:cNvSpPr txBox="1"/>
          <p:nvPr/>
        </p:nvSpPr>
        <p:spPr>
          <a:xfrm>
            <a:off x="1435608" y="487375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Log4j 사례</a:t>
            </a:r>
          </a:p>
        </p:txBody>
      </p:sp>
      <p:sp>
        <p:nvSpPr>
          <p:cNvPr id="17" name="취약점 공개 당시 현장에서 / 무엇이 문제였는지 찾아본 사례"/>
          <p:cNvSpPr txBox="1"/>
          <p:nvPr/>
        </p:nvSpPr>
        <p:spPr>
          <a:xfrm>
            <a:off x="1435608" y="534924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취약점 공개 당시 현장에서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무엇이 문제였는지 찾아본 사례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386584"/>
            <a:ext cx="5605272" cy="3611880"/>
          </a:xfrm>
          <a:prstGeom prst="roundRect">
            <a:avLst>
              <a:gd name="adj" fmla="val 3037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697480"/>
            <a:ext cx="1600200" cy="28346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프로젝트를 시작한 계기"/>
          <p:cNvSpPr txBox="1"/>
          <p:nvPr/>
        </p:nvSpPr>
        <p:spPr>
          <a:xfrm>
            <a:off x="6318504" y="2697480"/>
            <a:ext cx="16002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프로젝트를 시작한 계기</a:t>
            </a:r>
          </a:p>
        </p:txBody>
      </p:sp>
      <p:sp>
        <p:nvSpPr>
          <p:cNvPr id="21" name="서버를 지키는 경험, / 취약점에 대비하는 관리로."/>
          <p:cNvSpPr txBox="1"/>
          <p:nvPr/>
        </p:nvSpPr>
        <p:spPr>
          <a:xfrm>
            <a:off x="6336792" y="3246120"/>
            <a:ext cx="4910328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서버를 지키는 경험,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취약점에 대비하는 관리로.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4690872"/>
            <a:ext cx="448056" cy="0"/>
          </a:xfrm>
          <a:prstGeom prst="line">
            <a:avLst/>
          </a:prstGeom>
          <a:ln w="25400">
            <a:solidFill>
              <a:srgbClr val="FAF9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두 과제는 서버를 멈추지 않게 지키는 일이었다. / Log4j 사례를 보며, 내부 취약점을 미리 파악하고 / 대비할 필요성을 느꼈다."/>
          <p:cNvSpPr txBox="1"/>
          <p:nvPr/>
        </p:nvSpPr>
        <p:spPr>
          <a:xfrm>
            <a:off x="6345936" y="4965192"/>
            <a:ext cx="4873752" cy="8046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두 과제는 서버를 멈추지 않게 지키는 일이었다.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Log4j 사례를 보며, 내부 취약점을 미리 파악하고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대비할 필요성을 느꼈다.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26" name="02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CAPABILITIES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02 / CAPABILITIES</a:t>
            </a:r>
          </a:p>
        </p:txBody>
      </p:sp>
      <p:sp>
        <p:nvSpPr>
          <p:cNvPr id="3" name="주요 기능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주요 기능</a:t>
            </a:r>
          </a:p>
        </p:txBody>
      </p:sp>
      <p:sp>
        <p:nvSpPr>
          <p:cNvPr id="4" name="구성요소를 식별하고, 영향 자산을 찾아 조치 이력까지 연결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구성요소를 식별하고, 영향 자산을 찾아 조치 이력까지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04672" y="2596896"/>
            <a:ext cx="10360152" cy="0"/>
          </a:xfrm>
          <a:prstGeom prst="line">
            <a:avLst/>
          </a:prstGeom>
          <a:ln w="12700">
            <a:solidFill>
              <a:srgbClr val="C8C8C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2386584"/>
            <a:ext cx="411480" cy="411480"/>
          </a:xfrm>
          <a:prstGeom prst="ellipse">
            <a:avLst/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594360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AF9F9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885" y="3130905"/>
            <a:ext cx="321868" cy="422452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5294" y="3261664"/>
            <a:ext cx="181051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5294" y="3347161"/>
            <a:ext cx="181051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5294" y="3432657"/>
            <a:ext cx="125730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BOM 생성"/>
          <p:cNvSpPr txBox="1"/>
          <p:nvPr/>
        </p:nvSpPr>
        <p:spPr>
          <a:xfrm>
            <a:off x="594360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SBOM 생성</a:t>
            </a:r>
          </a:p>
        </p:txBody>
      </p:sp>
      <p:sp>
        <p:nvSpPr>
          <p:cNvPr id="13" name="구성요소 · 버전 식별"/>
          <p:cNvSpPr txBox="1"/>
          <p:nvPr/>
        </p:nvSpPr>
        <p:spPr>
          <a:xfrm>
            <a:off x="594360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구성요소 · 버전 식별</a:t>
            </a:r>
          </a:p>
        </p:txBody>
      </p:sp>
      <p:sp>
        <p:nvSpPr>
          <p:cNvPr id="14" name="설치된 구성요소와 버전을 / 식별해 SPDX 2.3 형식으로 / 남깁니다."/>
          <p:cNvSpPr txBox="1"/>
          <p:nvPr/>
        </p:nvSpPr>
        <p:spPr>
          <a:xfrm>
            <a:off x="594360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설치된 구성요소와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식별해 SPDX 2.3 형식으로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남깁니다.</a:t>
            </a:r>
          </a:p>
        </p:txBody>
      </p:sp>
      <p:sp>
        <p:nvSpPr>
          <p:cNvPr id="15" name="SPDX 2.3"/>
          <p:cNvSpPr txBox="1"/>
          <p:nvPr/>
        </p:nvSpPr>
        <p:spPr>
          <a:xfrm>
            <a:off x="594360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SPDX 2.3</a:t>
            </a:r>
          </a:p>
        </p:txBody>
      </p:sp>
      <p:sp>
        <p:nvSpPr>
          <p:cNvPr id="16" name="Oval 15"/>
          <p:cNvSpPr/>
          <p:nvPr/>
        </p:nvSpPr>
        <p:spPr>
          <a:xfrm>
            <a:off x="3438144" y="2386584"/>
            <a:ext cx="411480" cy="411480"/>
          </a:xfrm>
          <a:prstGeom prst="ellipse">
            <a:avLst/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2"/>
          <p:cNvSpPr txBox="1"/>
          <p:nvPr/>
        </p:nvSpPr>
        <p:spPr>
          <a:xfrm>
            <a:off x="343814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AF9F9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3488436" y="3130905"/>
            <a:ext cx="296722" cy="296722"/>
          </a:xfrm>
          <a:prstGeom prst="ellipse">
            <a:avLst/>
          </a:prstGeom>
          <a:noFill/>
          <a:ln w="2032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749954" y="3402482"/>
            <a:ext cx="140818" cy="150876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34282" y="3211372"/>
            <a:ext cx="0" cy="95555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621709" y="3337102"/>
            <a:ext cx="25146" cy="25146"/>
          </a:xfrm>
          <a:prstGeom prst="ellipse">
            <a:avLst/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취약점 분석"/>
          <p:cNvSpPr txBox="1"/>
          <p:nvPr/>
        </p:nvSpPr>
        <p:spPr>
          <a:xfrm>
            <a:off x="343814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취약점 분석</a:t>
            </a:r>
          </a:p>
        </p:txBody>
      </p:sp>
      <p:sp>
        <p:nvSpPr>
          <p:cNvPr id="23" name="CVE · 수정 버전 확인"/>
          <p:cNvSpPr txBox="1"/>
          <p:nvPr/>
        </p:nvSpPr>
        <p:spPr>
          <a:xfrm>
            <a:off x="343814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CVE · 수정 버전 확인</a:t>
            </a:r>
          </a:p>
        </p:txBody>
      </p:sp>
      <p:sp>
        <p:nvSpPr>
          <p:cNvPr id="24" name="알려진 취약점 데이터와 / 대조해 CVE와 수정 버전을 / 찾습니다."/>
          <p:cNvSpPr txBox="1"/>
          <p:nvPr/>
        </p:nvSpPr>
        <p:spPr>
          <a:xfrm>
            <a:off x="343814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알려진 취약점 데이터와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대조해 CVE와 수정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찾습니다.</a:t>
            </a:r>
          </a:p>
        </p:txBody>
      </p:sp>
      <p:sp>
        <p:nvSpPr>
          <p:cNvPr id="25" name="CVE / FIX VERSION"/>
          <p:cNvSpPr txBox="1"/>
          <p:nvPr/>
        </p:nvSpPr>
        <p:spPr>
          <a:xfrm>
            <a:off x="343814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CVE / FIX VERSION</a:t>
            </a:r>
          </a:p>
        </p:txBody>
      </p:sp>
      <p:sp>
        <p:nvSpPr>
          <p:cNvPr id="26" name="Oval 25"/>
          <p:cNvSpPr/>
          <p:nvPr/>
        </p:nvSpPr>
        <p:spPr>
          <a:xfrm>
            <a:off x="6272784" y="2386584"/>
            <a:ext cx="411480" cy="411480"/>
          </a:xfrm>
          <a:prstGeom prst="ellipse">
            <a:avLst/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3"/>
          <p:cNvSpPr txBox="1"/>
          <p:nvPr/>
        </p:nvSpPr>
        <p:spPr>
          <a:xfrm>
            <a:off x="627278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AF9F9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8163" y="3110788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38163" y="3291840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408572" y="3181197"/>
            <a:ext cx="10058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8572" y="3362248"/>
            <a:ext cx="10058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24244" y="3442715"/>
            <a:ext cx="0" cy="105614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88455" y="3548329"/>
            <a:ext cx="271577" cy="0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자산 연결"/>
          <p:cNvSpPr txBox="1"/>
          <p:nvPr/>
        </p:nvSpPr>
        <p:spPr>
          <a:xfrm>
            <a:off x="627278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자산 연결</a:t>
            </a:r>
          </a:p>
        </p:txBody>
      </p:sp>
      <p:sp>
        <p:nvSpPr>
          <p:cNvPr id="35" name="영향받는 서버 확인"/>
          <p:cNvSpPr txBox="1"/>
          <p:nvPr/>
        </p:nvSpPr>
        <p:spPr>
          <a:xfrm>
            <a:off x="627278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영향받는 서버 확인</a:t>
            </a:r>
          </a:p>
        </p:txBody>
      </p:sp>
      <p:sp>
        <p:nvSpPr>
          <p:cNvPr id="36" name="분석 결과를 고객사·사이트· / 자산에 연결해 영향받는 / 서버를 표시합니다."/>
          <p:cNvSpPr txBox="1"/>
          <p:nvPr/>
        </p:nvSpPr>
        <p:spPr>
          <a:xfrm>
            <a:off x="627278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분석 결과를 고객사·사이트·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자산에 연결해 영향받는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서버를 표시합니다.</a:t>
            </a:r>
          </a:p>
        </p:txBody>
      </p:sp>
      <p:sp>
        <p:nvSpPr>
          <p:cNvPr id="37" name="CUSTOMER / SITE / ASSET"/>
          <p:cNvSpPr txBox="1"/>
          <p:nvPr/>
        </p:nvSpPr>
        <p:spPr>
          <a:xfrm>
            <a:off x="627278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CUSTOMER / SITE / ASSET</a:t>
            </a:r>
          </a:p>
        </p:txBody>
      </p:sp>
      <p:sp>
        <p:nvSpPr>
          <p:cNvPr id="38" name="Oval 37"/>
          <p:cNvSpPr/>
          <p:nvPr/>
        </p:nvSpPr>
        <p:spPr>
          <a:xfrm>
            <a:off x="9107424" y="2386584"/>
            <a:ext cx="411480" cy="411480"/>
          </a:xfrm>
          <a:prstGeom prst="ellipse">
            <a:avLst/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4"/>
          <p:cNvSpPr txBox="1"/>
          <p:nvPr/>
        </p:nvSpPr>
        <p:spPr>
          <a:xfrm>
            <a:off x="910742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AF9F9"/>
                </a:solidFill>
                <a:latin typeface="Aptos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0" name="Oval 39"/>
          <p:cNvSpPr/>
          <p:nvPr/>
        </p:nvSpPr>
        <p:spPr>
          <a:xfrm>
            <a:off x="9147657" y="3130905"/>
            <a:ext cx="422452" cy="422452"/>
          </a:xfrm>
          <a:prstGeom prst="ellipse">
            <a:avLst/>
          </a:prstGeom>
          <a:noFill/>
          <a:ln w="2032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243212" y="3347161"/>
            <a:ext cx="85496" cy="80467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328708" y="3261664"/>
            <a:ext cx="155906" cy="165964"/>
          </a:xfrm>
          <a:prstGeom prst="line">
            <a:avLst/>
          </a:prstGeom>
          <a:ln w="2032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조치 관리"/>
          <p:cNvSpPr txBox="1"/>
          <p:nvPr/>
        </p:nvSpPr>
        <p:spPr>
          <a:xfrm>
            <a:off x="910742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 관리</a:t>
            </a:r>
          </a:p>
        </p:txBody>
      </p:sp>
      <p:sp>
        <p:nvSpPr>
          <p:cNvPr id="44" name="이력 · 재점검 비교"/>
          <p:cNvSpPr txBox="1"/>
          <p:nvPr/>
        </p:nvSpPr>
        <p:spPr>
          <a:xfrm>
            <a:off x="910742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이력 · 재점검 비교</a:t>
            </a:r>
          </a:p>
        </p:txBody>
      </p:sp>
      <p:sp>
        <p:nvSpPr>
          <p:cNvPr id="45" name="담당자·기한·상태와 이력을 / 남기고 재분석으로 / 조치 전후를 비교합니다."/>
          <p:cNvSpPr txBox="1"/>
          <p:nvPr/>
        </p:nvSpPr>
        <p:spPr>
          <a:xfrm>
            <a:off x="910742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담당자·기한·상태와 이력을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남기고 재분석으로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 전후를 비교합니다.</a:t>
            </a:r>
          </a:p>
        </p:txBody>
      </p:sp>
      <p:sp>
        <p:nvSpPr>
          <p:cNvPr id="46" name="OWNER / STATUS / HISTORY"/>
          <p:cNvSpPr txBox="1"/>
          <p:nvPr/>
        </p:nvSpPr>
        <p:spPr>
          <a:xfrm>
            <a:off x="910742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OWNER / STATUS / HISTORY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49" name="03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/ ARCHITECTURE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03 / ARCHITECTURE</a:t>
            </a:r>
          </a:p>
        </p:txBody>
      </p:sp>
      <p:sp>
        <p:nvSpPr>
          <p:cNvPr id="3" name="기술 구성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기술 구성</a:t>
            </a:r>
          </a:p>
        </p:txBody>
      </p:sp>
      <p:sp>
        <p:nvSpPr>
          <p:cNvPr id="4" name="로컬 VM에서 수집·분석하고, 표준 SBOM과 조치 데이터를 함께 관리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로컬 VM에서 수집·분석하고, 표준 SBOM과 조치 데이터를 함께 관리합니다.</a:t>
            </a:r>
          </a:p>
        </p:txBody>
      </p:sp>
      <p:sp>
        <p:nvSpPr>
          <p:cNvPr id="5" name="SYSTEM FLOW"/>
          <p:cNvSpPr txBox="1"/>
          <p:nvPr/>
        </p:nvSpPr>
        <p:spPr>
          <a:xfrm>
            <a:off x="594360" y="2249424"/>
            <a:ext cx="6217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SYSTEM FLOW</a:t>
            </a:r>
          </a:p>
        </p:txBody>
      </p:sp>
      <p:sp>
        <p:nvSpPr>
          <p:cNvPr id="6" name="TECH STACK"/>
          <p:cNvSpPr txBox="1"/>
          <p:nvPr/>
        </p:nvSpPr>
        <p:spPr>
          <a:xfrm>
            <a:off x="7644383" y="2249424"/>
            <a:ext cx="3840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TECH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06056" y="2221992"/>
            <a:ext cx="0" cy="3822192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" y="3081528"/>
            <a:ext cx="1179576" cy="1060704"/>
          </a:xfrm>
          <a:prstGeom prst="roundRect">
            <a:avLst>
              <a:gd name="adj" fmla="val 10344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3264408"/>
            <a:ext cx="493776" cy="33832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4F7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41832" y="3346704"/>
            <a:ext cx="493776" cy="0"/>
          </a:xfrm>
          <a:prstGeom prst="line">
            <a:avLst/>
          </a:prstGeom>
          <a:ln w="1016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용자 브라우저"/>
          <p:cNvSpPr txBox="1"/>
          <p:nvPr/>
        </p:nvSpPr>
        <p:spPr>
          <a:xfrm>
            <a:off x="667512" y="3730752"/>
            <a:ext cx="1069848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01368" y="3630168"/>
            <a:ext cx="237744" cy="0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66543" y="2734056"/>
            <a:ext cx="4837176" cy="2523744"/>
          </a:xfrm>
          <a:prstGeom prst="roundRect">
            <a:avLst>
              <a:gd name="adj" fmla="val 4347"/>
            </a:avLst>
          </a:prstGeom>
          <a:solidFill>
            <a:srgbClr val="FAF9F9"/>
          </a:solidFill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OLWatch  /  Docker Compose"/>
          <p:cNvSpPr txBox="1"/>
          <p:nvPr/>
        </p:nvSpPr>
        <p:spPr>
          <a:xfrm>
            <a:off x="2240280" y="2880360"/>
            <a:ext cx="4480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EOLWatch  /  Docker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ct 19 · Nginx"/>
          <p:cNvSpPr txBox="1"/>
          <p:nvPr/>
        </p:nvSpPr>
        <p:spPr>
          <a:xfrm>
            <a:off x="2295144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React 19 ·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stAPI"/>
          <p:cNvSpPr txBox="1"/>
          <p:nvPr/>
        </p:nvSpPr>
        <p:spPr>
          <a:xfrm>
            <a:off x="4599432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FastAPI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2816" y="3639312"/>
            <a:ext cx="292608" cy="0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orker"/>
          <p:cNvSpPr txBox="1"/>
          <p:nvPr/>
        </p:nvSpPr>
        <p:spPr>
          <a:xfrm>
            <a:off x="4617720" y="4389120"/>
            <a:ext cx="1856231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AF9F9"/>
                </a:solidFill>
                <a:latin typeface="Aptos"/>
                <a:ea typeface="Apple SD Gothic Neo"/>
                <a:cs typeface="Apple SD Gothic Neo"/>
              </a:rPr>
              <a:t>worker</a:t>
            </a:r>
          </a:p>
        </p:txBody>
      </p:sp>
      <p:sp>
        <p:nvSpPr>
          <p:cNvPr id="22" name="SSH 수집 · SBOM · 분석"/>
          <p:cNvSpPr txBox="1"/>
          <p:nvPr/>
        </p:nvSpPr>
        <p:spPr>
          <a:xfrm>
            <a:off x="4599432" y="4709160"/>
            <a:ext cx="1892807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SSH 수집 · SBOM · 분석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50408" y="3986784"/>
            <a:ext cx="0" cy="283464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67712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stgreSQL 16"/>
          <p:cNvSpPr txBox="1"/>
          <p:nvPr/>
        </p:nvSpPr>
        <p:spPr>
          <a:xfrm>
            <a:off x="2322576" y="4379976"/>
            <a:ext cx="1837943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PostgreSQL 16</a:t>
            </a:r>
          </a:p>
        </p:txBody>
      </p:sp>
      <p:sp>
        <p:nvSpPr>
          <p:cNvPr id="26" name="SBOM 원본 · 총 17개 테이블"/>
          <p:cNvSpPr txBox="1"/>
          <p:nvPr/>
        </p:nvSpPr>
        <p:spPr>
          <a:xfrm>
            <a:off x="2322576" y="4718304"/>
            <a:ext cx="183794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SBOM 원본 · 총 17개 테이블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261104" y="4654296"/>
            <a:ext cx="265176" cy="0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50408" y="5001768"/>
            <a:ext cx="0" cy="429768"/>
          </a:xfrm>
          <a:prstGeom prst="line">
            <a:avLst/>
          </a:prstGeom>
          <a:ln w="1524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17520" y="5431536"/>
            <a:ext cx="2862072" cy="0"/>
          </a:xfrm>
          <a:prstGeom prst="line">
            <a:avLst/>
          </a:prstGeom>
          <a:ln w="15240">
            <a:solidFill>
              <a:srgbClr val="4F7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17520" y="5431536"/>
            <a:ext cx="0" cy="173736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79592" y="5431536"/>
            <a:ext cx="0" cy="173736"/>
          </a:xfrm>
          <a:prstGeom prst="line">
            <a:avLst/>
          </a:prstGeom>
          <a:ln w="15240">
            <a:solidFill>
              <a:srgbClr val="4F78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776472" y="5294376"/>
            <a:ext cx="1316736" cy="246888"/>
          </a:xfrm>
          <a:prstGeom prst="rect">
            <a:avLst/>
          </a:prstGeom>
          <a:solidFill>
            <a:srgbClr val="FA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SH 22 · 키 인증"/>
          <p:cNvSpPr txBox="1"/>
          <p:nvPr/>
        </p:nvSpPr>
        <p:spPr>
          <a:xfrm>
            <a:off x="3776472" y="5294376"/>
            <a:ext cx="1316736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SSH 22 · 키 인증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76856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대상 서버 1 · 로컬 VM"/>
          <p:cNvSpPr txBox="1"/>
          <p:nvPr/>
        </p:nvSpPr>
        <p:spPr>
          <a:xfrm>
            <a:off x="2331720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대상 서버 1 · 로컬 VM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1768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대상 서버 2 · 로컬 VM"/>
          <p:cNvSpPr txBox="1"/>
          <p:nvPr/>
        </p:nvSpPr>
        <p:spPr>
          <a:xfrm>
            <a:off x="5056631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대상 서버 2 · 로컬 VM</a:t>
            </a:r>
          </a:p>
        </p:txBody>
      </p:sp>
      <p:sp>
        <p:nvSpPr>
          <p:cNvPr id="38" name="웹 / API"/>
          <p:cNvSpPr txBox="1"/>
          <p:nvPr/>
        </p:nvSpPr>
        <p:spPr>
          <a:xfrm>
            <a:off x="7644383" y="2724912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웹 / API</a:t>
            </a:r>
          </a:p>
        </p:txBody>
      </p:sp>
      <p:sp>
        <p:nvSpPr>
          <p:cNvPr id="39" name="React 19 · FastAPI"/>
          <p:cNvSpPr txBox="1"/>
          <p:nvPr/>
        </p:nvSpPr>
        <p:spPr>
          <a:xfrm>
            <a:off x="7644383" y="3035808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React 19 · FastAPI</a:t>
            </a:r>
          </a:p>
        </p:txBody>
      </p:sp>
      <p:sp>
        <p:nvSpPr>
          <p:cNvPr id="40" name="화면 · API 서버"/>
          <p:cNvSpPr txBox="1"/>
          <p:nvPr/>
        </p:nvSpPr>
        <p:spPr>
          <a:xfrm>
            <a:off x="7644383" y="3429000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화면 · API 서버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44383" y="3675887"/>
            <a:ext cx="3950209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저장 / 표준"/>
          <p:cNvSpPr txBox="1"/>
          <p:nvPr/>
        </p:nvSpPr>
        <p:spPr>
          <a:xfrm>
            <a:off x="7644383" y="3749039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저장 / 표준</a:t>
            </a:r>
          </a:p>
        </p:txBody>
      </p:sp>
      <p:sp>
        <p:nvSpPr>
          <p:cNvPr id="43" name="PostgreSQL 16 · SPDX 2.3"/>
          <p:cNvSpPr txBox="1"/>
          <p:nvPr/>
        </p:nvSpPr>
        <p:spPr>
          <a:xfrm>
            <a:off x="7644383" y="4059935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PostgreSQL 16 · SPDX 2.3</a:t>
            </a:r>
          </a:p>
        </p:txBody>
      </p:sp>
      <p:sp>
        <p:nvSpPr>
          <p:cNvPr id="44" name="관계 데이터 · SBOM 원본"/>
          <p:cNvSpPr txBox="1"/>
          <p:nvPr/>
        </p:nvSpPr>
        <p:spPr>
          <a:xfrm>
            <a:off x="7644383" y="4453127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관계 데이터 · SBOM 원본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44383" y="4700016"/>
            <a:ext cx="3950209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분석"/>
          <p:cNvSpPr txBox="1"/>
          <p:nvPr/>
        </p:nvSpPr>
        <p:spPr>
          <a:xfrm>
            <a:off x="7644383" y="4773168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47" name="OSV API"/>
          <p:cNvSpPr txBox="1"/>
          <p:nvPr/>
        </p:nvSpPr>
        <p:spPr>
          <a:xfrm>
            <a:off x="7644383" y="5084064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OSV API</a:t>
            </a:r>
          </a:p>
        </p:txBody>
      </p:sp>
      <p:sp>
        <p:nvSpPr>
          <p:cNvPr id="48" name="CVE · 수정 버전 조회"/>
          <p:cNvSpPr txBox="1"/>
          <p:nvPr/>
        </p:nvSpPr>
        <p:spPr>
          <a:xfrm>
            <a:off x="7644383" y="5477256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CVE · 수정 버전 조회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44383" y="5879592"/>
            <a:ext cx="740664" cy="283464"/>
          </a:xfrm>
          <a:prstGeom prst="roundRect">
            <a:avLst>
              <a:gd name="adj" fmla="val 12000"/>
            </a:avLst>
          </a:prstGeom>
          <a:solidFill>
            <a:srgbClr val="FA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연동 검토"/>
          <p:cNvSpPr txBox="1"/>
          <p:nvPr/>
        </p:nvSpPr>
        <p:spPr>
          <a:xfrm>
            <a:off x="7644383" y="5879592"/>
            <a:ext cx="740664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연동 검토</a:t>
            </a:r>
          </a:p>
        </p:txBody>
      </p:sp>
      <p:sp>
        <p:nvSpPr>
          <p:cNvPr id="51" name="Syft · Grype"/>
          <p:cNvSpPr txBox="1"/>
          <p:nvPr/>
        </p:nvSpPr>
        <p:spPr>
          <a:xfrm>
            <a:off x="8485632" y="5907024"/>
            <a:ext cx="301752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Syft · Grype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54" name="04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" panose="02110004020202020204"/>
        <a:ea typeface="Apple SD Gothic Ne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ple SD Gothic Ne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772</Words>
  <Application>Microsoft Macintosh PowerPoint</Application>
  <PresentationFormat>사용자 지정</PresentationFormat>
  <Paragraphs>98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210 옴니고딕</vt:lpstr>
      <vt:lpstr>Arial</vt:lpstr>
      <vt:lpstr>JASO Sans</vt:lpstr>
      <vt:lpstr>Poppins</vt:lpstr>
      <vt:lpstr>JASO Sans Bold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프로젝트 요약서</dc:title>
  <cp:lastModifiedBy>김 연동</cp:lastModifiedBy>
  <cp:revision>9</cp:revision>
  <dcterms:created xsi:type="dcterms:W3CDTF">2006-08-16T00:00:00Z</dcterms:created>
  <dcterms:modified xsi:type="dcterms:W3CDTF">2026-09-16T12:32:24Z</dcterms:modified>
  <dc:identifier>DAHVWGTAXHc</dc:identifier>
  <dc:subject>SBOM · 취약점 · 조치 통합 관리</dc:subject>
  <dc:creator>김연동</dc:creator>
  <cp:keywords>EOLWatch, SBOM, CVE, 자산 관리, 조치 관리</cp:keywords>
</cp:coreProperties>
</file>