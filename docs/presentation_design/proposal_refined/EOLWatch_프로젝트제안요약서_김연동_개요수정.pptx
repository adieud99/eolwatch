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ContentType="application/x-fontdata" Extension="fntdata"/>
  <Default ContentType="image/svg+xml" Extension="svg"/>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자료는 프로젝트 착수 전에 시스원에 제안하는 요약서입니다. 표지를 포함해 총 4장이며, 앞으로 개발할 목적과 범위, 추진 방법과 예상 산출물을 설명합니다.</a:t>
            </a:r>
          </a:p>
          <a:p>
            <a:r>
              <a:t>EOLWatch는 고객사 서버·프로젝트의 소프트웨어 구성요소, 취약점, 지원 종료 일정과 담당자의 조치 이력을 연결하는 웹 서비스로 제안합니다.</a:t>
            </a:r>
          </a:p>
          <a:p>
            <a:r>
              <a:t>시스원의 공개 사업 소개에 있는 시스템통합 유지관리 및 공개SW 기술지원 업무를 활용 대상으로 설정했습니다. 회사 내부의 업무 방식이나 현재 시스템의 부족을 확인한 사실로 단정하지 않습니다.</a:t>
            </a:r>
          </a:p>
          <a:p>
            <a:r>
              <a:t>사업 범위 참고: https://www.sysone.co.kr/businesses_veiw.php?idx=6 및 https://www.sysone.co.kr/businesses.php</a:t>
            </a:r>
          </a:p>
          <a:p>
            <a:r>
              <a:t>본 요약서는 구현 완료 보고나 실제 기업 도입 성과를 제시하는 자료가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프로젝트가 무엇인지 정의하고, 유지관리 업무에서 맡을 역할을 연결해 설명합니다. EOLWatch는 고객사 자산의 소프트웨어 구성, 알려진 취약점, 지원 종료와 담당자 조치 이력을 함께 관리하도록 개발하고자 하는 웹 서비스입니다.</a:t>
            </a:r>
          </a:p>
          <a:p>
            <a:r>
              <a:t>프로젝트의 역할은 세 가지입니다. 첫째, 고객사·서버별 구성요소 및 위험 정보를 한곳에서 확인하게 하는 현황 정리입니다. 둘째, 영향받는 자산과 교체·업그레이드 검토 대상을 확인해 담당자가 대응 순서를 정하도록 돕는 판단 지원입니다. 셋째, 작업 이력과 동일 범위 재분석 결과를 연결해 담당자 인계와 고객 보고에 쓸 근거를 관리하는 것입니다.</a:t>
            </a:r>
          </a:p>
          <a:p>
            <a:r>
              <a:t>다음 장에서는 이 역할을 구현할 네 가지 기능인 SBOM 생성, 취약점 분석, 자산 연결, 조치 관리를 설명합니다. 지원 종료 일정은 자산·제품 정보와 함께 관리하는 방향으로 설계하며, 공식 출처와 확인 시점을 남길 계획입니다.</a:t>
            </a:r>
          </a:p>
          <a:p>
            <a:r>
              <a:t>시스원의 현재 내부 시스템이나 업무의 부족을 단정하지 않으며, 실제 기업 적용이나 시간·비용 절감 성과를 주장하지 않습니다. 이 장의 역할은 개발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원래 요약서에서 정한 네 가지 핵심 기능을 유지합니다. 네 기능 모두 이번 프로젝트에서 개발할 범위로 제안합니다.</a:t>
            </a:r>
          </a:p>
          <a:p>
            <a:r>
              <a:t>SBOM 생성: 지정된 서버 경로나 프로젝트에서 소프트웨어 구성요소와 버전을 식별해 SPDX 2.3 형식으로 저장할 계획입니다. SBOM은 소프트웨어 구성요소 명세서입니다.</a:t>
            </a:r>
          </a:p>
          <a:p>
            <a:r>
              <a:t>취약점 분석: 구성요소 정보를 알려진 취약점 데이터와 대조해 CVE와 수정 버전을 확인하도록 개발할 계획입니다. 구성요소 식별과 취약점 대조에는 Syft·Grype 등 공개 도구를 활용하고, 분석 결과를 업무에 연결하는 관리 기능을 중심으로 개발합니다.</a:t>
            </a:r>
          </a:p>
          <a:p>
            <a:r>
              <a:t>자산 연결: 분석 결과를 고객사·사이트·자산에 연결해 영향받는 서버를 확인하도록 할 계획입니다. 제품과 지원 종료 일정도 연결 자산을 기준으로 확인하는 방향으로 설계합니다.</a:t>
            </a:r>
          </a:p>
          <a:p>
            <a:r>
              <a:t>조치 관리: 담당자·기한·상태와 처리 이력을 기록하고, 같은 자산의 같은 범위를 재분석해 조치 전후 변화를 비교하도록 개발할 계획입니다. 실제 업데이트와 조치 완료 판단은 담당자가 수행하도록 설계합니다.</a:t>
            </a:r>
          </a:p>
          <a:p>
            <a:r>
              <a:t>이 장은 구현 완료 보고가 아니며, 개발할 핵심 기능 네 가지를 설명하는 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앞서 제시한 네 기능이 제대로 연결되는지 어떻게 확인하고, 회사가 어떤 결과물을 검토할 수 있을지 보여줍니다. 기술 이름을 나열하기보다 검증 계획과 예상 산출물을 중심으로 설명합니다.</a:t>
            </a:r>
          </a:p>
          <a:p>
            <a:r>
              <a:t>시범 환경에는 관리 서버와 점검 대상 서버를 준비할 계획입니다. 구체적인 대수·접근 권한·분석 범위는 요구사항을 정할 때 확인하며, 실제 고객사 운영 환경 접근이 확정됐다는 의미는 아닙니다.</a:t>
            </a:r>
          </a:p>
          <a:p>
            <a:r>
              <a:t>기본 확인에서는 구성요소 수집 결과를 대상 환경의 실제 이름·버전과 대조하고, 분석 결과가 올바른 고객사·사이트·자산에 연결되는지 확인할 계획입니다.</a:t>
            </a:r>
          </a:p>
          <a:p>
            <a:r>
              <a:t>변경 확인에서는 시범 환경의 소프트웨어를 업데이트한 뒤 같은 범위를 다시 분석할 계획입니다. 전후 결과가 구분되는지, 담당자·기한·작업 내용이 저장되는지, 보고서에 필요한 근거가 포함되는지 확인하고 보완하는 것이 목표입니다. 재분석에서 검출되지 않았다는 이유만으로 자동 완료나 안전성을 보장하지 않습니다.</a:t>
            </a:r>
          </a:p>
          <a:p>
            <a:r>
              <a:t>예상 산출물은 자산·분석 결과·조치 작업을 확인하는 웹 시제품, 구성요소 목록과 조치 전후 비교 보고서, 소스 코드와 설치·사용·백업·복구 안내입니다. 이를 통해 기업 담당자가 기능과 자료의 적합성을 확인하고 향후 적용 여부를 검토할 수 있도록 할 계획입니다.</a:t>
            </a:r>
          </a:p>
          <a:p>
            <a:r>
              <a:t>구현은 React·FastAPI·PostgreSQL과 Docker 기반 구성을 검토하며, 구성요소 식별·취약점 대조에는 공개 분석 도구를 활용할 계획입니다. 현재 검증 결과나 기업 도입 성과를 제시하는 장이 아닙니다.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Base3_rId2" Type="http://schemas.openxmlformats.org/officeDocument/2006/relationships/image" Target="../media/base_reuse_image3.png"/><Relationship Id="rIdBase3_rId3" Type="http://schemas.openxmlformats.org/officeDocument/2006/relationships/image" Target="../media/base_reuse_image4.svg"/><Relationship Id="rIdBase3_rId4" Type="http://schemas.openxmlformats.org/officeDocument/2006/relationships/image" Target="../media/base_reuse_image6.png"/><Relationship Id="rIdBase3_rId5" Type="http://schemas.openxmlformats.org/officeDocument/2006/relationships/image" Target="../media/base_reuse_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Base7_rId10" Type="http://schemas.openxmlformats.org/officeDocument/2006/relationships/image" Target="../media/base_reuse_image29.png"/><Relationship Id="rIdBase7_rId11" Type="http://schemas.openxmlformats.org/officeDocument/2006/relationships/image" Target="../media/base_reuse_image30.svg"/><Relationship Id="rIdBase7_rId2" Type="http://schemas.openxmlformats.org/officeDocument/2006/relationships/image" Target="../media/base_reuse_image3.png"/><Relationship Id="rIdBase7_rId3" Type="http://schemas.openxmlformats.org/officeDocument/2006/relationships/image" Target="../media/base_reuse_image4.svg"/><Relationship Id="rIdBase7_rId4" Type="http://schemas.openxmlformats.org/officeDocument/2006/relationships/image" Target="../media/base_reuse_image23.png"/><Relationship Id="rIdBase7_rId5" Type="http://schemas.openxmlformats.org/officeDocument/2006/relationships/image" Target="../media/base_reuse_image24.svg"/><Relationship Id="rIdBase7_rId6" Type="http://schemas.openxmlformats.org/officeDocument/2006/relationships/image" Target="../media/base_reuse_image25.png"/><Relationship Id="rIdBase7_rId7" Type="http://schemas.openxmlformats.org/officeDocument/2006/relationships/image" Target="../media/base_reuse_image26.svg"/><Relationship Id="rIdBase7_rId8" Type="http://schemas.openxmlformats.org/officeDocument/2006/relationships/image" Target="../media/base_reuse_image27.png"/><Relationship Id="rIdBase7_rId9" Type="http://schemas.openxmlformats.org/officeDocument/2006/relationships/image" Target="../media/base_reuse_image2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Base4_rId2" Type="http://schemas.openxmlformats.org/officeDocument/2006/relationships/image" Target="../media/base_reuse_image3.png"/><Relationship Id="rIdBase4_rId3" Type="http://schemas.openxmlformats.org/officeDocument/2006/relationships/image" Target="../media/base_reuse_image4.svg"/><Relationship Id="rIdBase4_rId4" Type="http://schemas.openxmlformats.org/officeDocument/2006/relationships/image" Target="../media/base_reuse_image6.png"/><Relationship Id="rIdBase4_rId5" Type="http://schemas.openxmlformats.org/officeDocument/2006/relationships/image" Target="../media/base_reuse_image7.svg"/><Relationship Id="rIdBase4_rId6" Type="http://schemas.openxmlformats.org/officeDocument/2006/relationships/image" Target="../media/base_reuse_image8.png"/><Relationship Id="rIdBase4_rId7" Type="http://schemas.openxmlformats.org/officeDocument/2006/relationships/image" Target="../media/base_reuse_image9.svg"/><Relationship Id="rIdBase4_rId8" Type="http://schemas.openxmlformats.org/officeDocument/2006/relationships/image" Target="../media/base_reuse_image10.png"/><Relationship Id="rIdBase4_rId9" Type="http://schemas.openxmlformats.org/officeDocument/2006/relationships/image" Target="../media/base_reuse_image11.sv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AF9F9"/>
        </a:solidFill>
        <a:effectLst/>
      </p:bgPr>
    </p:bg>
    <p:spTree>
      <p:nvGrpSpPr>
        <p:cNvPr id="1" name=""/>
        <p:cNvGrpSpPr/>
        <p:nvPr/>
      </p:nvGrpSpPr>
      <p:grpSpPr>
        <a:xfrm>
          <a:off x="0" y="0"/>
          <a:ext cx="0" cy="0"/>
          <a:chOff x="0" y="0"/>
          <a:chExt cx="0" cy="0"/>
        </a:xfrm>
      </p:grpSpPr>
      <p:sp>
        <p:nvSpPr>
          <p:cNvPr id="2" name="시스원 유지관리·공개SW 기술지원 업무 활용 제안"/>
          <p:cNvSpPr txBox="1"/>
          <p:nvPr/>
        </p:nvSpPr>
        <p:spPr>
          <a:xfrm>
            <a:off x="822960" y="658368"/>
            <a:ext cx="10424160" cy="274320"/>
          </a:xfrm>
          <a:prstGeom prst="rect">
            <a:avLst/>
          </a:prstGeom>
          <a:noFill/>
          <a:effectLst/>
        </p:spPr>
        <p:txBody>
          <a:bodyPr wrap="square" lIns="0" rIns="0" tIns="0" bIns="0" anchor="t">
            <a:noAutofit/>
          </a:bodyPr>
          <a:lstStyle/>
          <a:p>
            <a:pPr algn="l">
              <a:lnSpc>
                <a:spcPct val="115000"/>
              </a:lnSpc>
              <a:spcBef>
                <a:spcPts val="0"/>
              </a:spcBef>
              <a:spcAft>
                <a:spcPts val="0"/>
              </a:spcAft>
            </a:pPr>
            <a:r>
              <a:rPr sz="1200" b="1" lang="ko-KR">
                <a:solidFill>
                  <a:srgbClr val="4F785F"/>
                </a:solidFill>
                <a:latin typeface="Apple SD Gothic Neo"/>
                <a:ea typeface="Apple SD Gothic Neo"/>
                <a:cs typeface="Apple SD Gothic Neo"/>
              </a:rPr>
              <a:t>시스원 유지관리·공개SW 기술지원 업무를 위한 프로젝트 제안</a:t>
            </a:r>
          </a:p>
        </p:txBody>
      </p:sp>
      <p:sp>
        <p:nvSpPr>
          <p:cNvPr id="3" name="EOLWatch"/>
          <p:cNvSpPr txBox="1"/>
          <p:nvPr/>
        </p:nvSpPr>
        <p:spPr>
          <a:xfrm>
            <a:off x="768096" y="2148840"/>
            <a:ext cx="10561320" cy="1152144"/>
          </a:xfrm>
          <a:prstGeom prst="rect">
            <a:avLst/>
          </a:prstGeom>
          <a:noFill/>
          <a:effectLst/>
        </p:spPr>
        <p:txBody>
          <a:bodyPr wrap="square" lIns="0" rIns="0" tIns="0" bIns="0" anchor="t">
            <a:noAutofit/>
          </a:bodyPr>
          <a:lstStyle/>
          <a:p>
            <a:pPr algn="l">
              <a:lnSpc>
                <a:spcPct val="115000"/>
              </a:lnSpc>
              <a:spcBef>
                <a:spcPts val="0"/>
              </a:spcBef>
              <a:spcAft>
                <a:spcPts val="0"/>
              </a:spcAft>
            </a:pPr>
            <a:r>
              <a:rPr sz="6800" b="1" lang="ko-KR">
                <a:solidFill>
                  <a:srgbClr val="333333"/>
                </a:solidFill>
                <a:latin typeface="Aptos"/>
                <a:ea typeface="Apple SD Gothic Neo"/>
                <a:cs typeface="Apple SD Gothic Neo"/>
              </a:rPr>
              <a:t>EOLWatch</a:t>
            </a:r>
          </a:p>
        </p:txBody>
      </p:sp>
      <p:sp>
        <p:nvSpPr>
          <p:cNvPr id="4" name="고객사 자산의 취약점·지원 종료를 / 담당자의 조치와 보고 근거로 연결합니다."/>
          <p:cNvSpPr txBox="1"/>
          <p:nvPr/>
        </p:nvSpPr>
        <p:spPr>
          <a:xfrm>
            <a:off x="832104" y="3502152"/>
            <a:ext cx="10469880" cy="1005840"/>
          </a:xfrm>
          <a:prstGeom prst="rect">
            <a:avLst/>
          </a:prstGeom>
          <a:noFill/>
          <a:effectLst/>
        </p:spPr>
        <p:txBody>
          <a:bodyPr wrap="square" lIns="0" rIns="0" tIns="0" bIns="0" anchor="t">
            <a:noAutofit/>
          </a:bodyPr>
          <a:lstStyle/>
          <a:p>
            <a:pPr algn="l">
              <a:lnSpc>
                <a:spcPct val="125000"/>
              </a:lnSpc>
              <a:spcBef>
                <a:spcPts val="0"/>
              </a:spcBef>
              <a:spcAft>
                <a:spcPts val="0"/>
              </a:spcAft>
            </a:pPr>
            <a:r>
              <a:rPr sz="2500" b="0" lang="ko-KR">
                <a:solidFill>
                  <a:srgbClr val="4F785F"/>
                </a:solidFill>
                <a:latin typeface="Apple SD Gothic Neo"/>
                <a:ea typeface="Apple SD Gothic Neo"/>
                <a:cs typeface="Apple SD Gothic Neo"/>
              </a:rPr>
              <a:t>고객사 자산의 취약점·지원 종료·조치를</a:t>
            </a:r>
            <a:br>
              <a:rPr sz="2500" b="0" lang="ko-KR">
                <a:solidFill>
                  <a:srgbClr val="4F785F"/>
                </a:solidFill>
                <a:latin typeface="Apple SD Gothic Neo"/>
                <a:ea typeface="Apple SD Gothic Neo"/>
                <a:cs typeface="Apple SD Gothic Neo"/>
              </a:rPr>
            </a:br>
            <a:r>
              <a:rPr sz="2500" b="0" lang="ko-KR">
                <a:solidFill>
                  <a:srgbClr val="4F785F"/>
                </a:solidFill>
                <a:latin typeface="Apple SD Gothic Neo"/>
                <a:ea typeface="Apple SD Gothic Neo"/>
                <a:cs typeface="Apple SD Gothic Neo"/>
              </a:rPr>
              <a:t>한곳에서 관리하는 웹 서비스 개발 제안</a:t>
            </a:r>
          </a:p>
        </p:txBody>
      </p:sp>
      <p:cxnSp>
        <p:nvCxnSpPr>
          <p:cNvPr id="5" name="Connector 4"/>
          <p:cNvCxnSpPr/>
          <p:nvPr/>
        </p:nvCxnSpPr>
        <p:spPr>
          <a:xfrm>
            <a:off x="832104" y="5504688"/>
            <a:ext cx="10533888" cy="0"/>
          </a:xfrm>
          <a:prstGeom prst="line">
            <a:avLst/>
          </a:prstGeom>
          <a:ln w="8890">
            <a:solidFill>
              <a:srgbClr val="C8C8C8"/>
            </a:solidFill>
          </a:ln>
          <a:effectLst/>
        </p:spPr>
        <p:style>
          <a:lnRef idx="2">
            <a:schemeClr val="accent1"/>
          </a:lnRef>
          <a:fillRef idx="0">
            <a:schemeClr val="accent1"/>
          </a:fillRef>
          <a:effectRef idx="0">
            <a:schemeClr val="accent1"/>
          </a:effectRef>
          <a:fontRef idx="minor">
            <a:schemeClr val="tx1"/>
          </a:fontRef>
        </p:style>
      </p:cxnSp>
      <p:sp>
        <p:nvSpPr>
          <p:cNvPr id="6" name="한국폴리텍대학 광명융합기술교육원"/>
          <p:cNvSpPr txBox="1"/>
          <p:nvPr/>
        </p:nvSpPr>
        <p:spPr>
          <a:xfrm>
            <a:off x="832104" y="5806440"/>
            <a:ext cx="8229600" cy="265176"/>
          </a:xfrm>
          <a:prstGeom prst="rect">
            <a:avLst/>
          </a:prstGeom>
          <a:noFill/>
          <a:effectLst/>
        </p:spPr>
        <p:txBody>
          <a:bodyPr wrap="square" lIns="0" rIns="0" tIns="0" bIns="0" anchor="t">
            <a:noAutofit/>
          </a:bodyPr>
          <a:lstStyle/>
          <a:p>
            <a:pPr algn="l">
              <a:lnSpc>
                <a:spcPct val="115000"/>
              </a:lnSpc>
              <a:spcBef>
                <a:spcPts val="0"/>
              </a:spcBef>
              <a:spcAft>
                <a:spcPts val="0"/>
              </a:spcAft>
            </a:pPr>
            <a:r>
              <a:rPr sz="1300" b="0" lang="ko-KR">
                <a:solidFill>
                  <a:srgbClr val="333333"/>
                </a:solidFill>
                <a:latin typeface="Apple SD Gothic Neo"/>
                <a:ea typeface="Apple SD Gothic Neo"/>
                <a:cs typeface="Apple SD Gothic Neo"/>
              </a:rPr>
              <a:t>한국폴리텍대학 광명융합기술교육원</a:t>
            </a:r>
          </a:p>
        </p:txBody>
      </p:sp>
      <p:sp>
        <p:nvSpPr>
          <p:cNvPr id="7" name="데이터분석과  김연동"/>
          <p:cNvSpPr txBox="1"/>
          <p:nvPr/>
        </p:nvSpPr>
        <p:spPr>
          <a:xfrm>
            <a:off x="832104" y="6236208"/>
            <a:ext cx="8229600" cy="283464"/>
          </a:xfrm>
          <a:prstGeom prst="rect">
            <a:avLst/>
          </a:prstGeom>
          <a:noFill/>
          <a:effectLst/>
        </p:spPr>
        <p:txBody>
          <a:bodyPr wrap="square" lIns="0" rIns="0" tIns="0" bIns="0" anchor="t">
            <a:noAutofit/>
          </a:bodyPr>
          <a:lstStyle/>
          <a:p>
            <a:pPr algn="l">
              <a:lnSpc>
                <a:spcPct val="115000"/>
              </a:lnSpc>
              <a:spcBef>
                <a:spcPts val="0"/>
              </a:spcBef>
              <a:spcAft>
                <a:spcPts val="0"/>
              </a:spcAft>
            </a:pPr>
            <a:r>
              <a:rPr sz="1400" b="1" lang="ko-KR">
                <a:solidFill>
                  <a:srgbClr val="333333"/>
                </a:solidFill>
                <a:latin typeface="Apple SD Gothic Neo"/>
                <a:ea typeface="Apple SD Gothic Neo"/>
                <a:cs typeface="Apple SD Gothic Neo"/>
              </a:rPr>
              <a:t>데이터분석과  김연동</a:t>
            </a:r>
          </a:p>
        </p:txBody>
      </p:sp>
      <p:sp>
        <p:nvSpPr>
          <p:cNvPr id="8" name="2026.09.17"/>
          <p:cNvSpPr txBox="1"/>
          <p:nvPr/>
        </p:nvSpPr>
        <p:spPr>
          <a:xfrm>
            <a:off x="9601200" y="6245352"/>
            <a:ext cx="1764792" cy="246888"/>
          </a:xfrm>
          <a:prstGeom prst="rect">
            <a:avLst/>
          </a:prstGeom>
          <a:noFill/>
          <a:effectLst/>
        </p:spPr>
        <p:txBody>
          <a:bodyPr wrap="square" lIns="0" rIns="0" tIns="0" bIns="0" anchor="t">
            <a:noAutofit/>
          </a:bodyPr>
          <a:lstStyle/>
          <a:p>
            <a:pPr algn="r">
              <a:lnSpc>
                <a:spcPct val="115000"/>
              </a:lnSpc>
              <a:spcBef>
                <a:spcPts val="0"/>
              </a:spcBef>
              <a:spcAft>
                <a:spcPts val="0"/>
              </a:spcAft>
            </a:pPr>
            <a:r>
              <a:rPr sz="1200" b="0" lang="ko-KR">
                <a:solidFill>
                  <a:srgbClr val="333333"/>
                </a:solidFill>
                <a:latin typeface="Aptos"/>
                <a:ea typeface="Apple SD Gothic Neo"/>
                <a:cs typeface="Apple SD Gothic Neo"/>
              </a:rPr>
              <a:t>2026.09.17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showMasterSp="0">
  <p:cSld>
    <p:bg>
      <p:bgPr>
        <a:solidFill>
          <a:srgbClr val="FA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1719046" y="219152"/>
            <a:ext cx="57105" cy="253801"/>
          </a:xfrm>
          <a:custGeom>
            <a:avLst/>
            <a:gdLst/>
            <a:ahLst/>
            <a:cxnLst/>
            <a:rect r="r" b="b" t="t" l="l"/>
            <a:pathLst>
              <a:path h="380702" w="85658">
                <a:moveTo>
                  <a:pt x="0" y="0"/>
                </a:moveTo>
                <a:lnTo>
                  <a:pt x="85658" y="0"/>
                </a:lnTo>
                <a:lnTo>
                  <a:pt x="85658" y="380702"/>
                </a:lnTo>
                <a:lnTo>
                  <a:pt x="0" y="380702"/>
                </a:lnTo>
                <a:lnTo>
                  <a:pt x="0" y="0"/>
                </a:lnTo>
                <a:close/>
              </a:path>
            </a:pathLst>
          </a:custGeom>
          <a:blipFill>
            <a:blip r:embed="rIdBase3_rId2">
              <a:extLst>
                <a:ext uri="{96DAC541-7B7A-43D3-8B79-37D633B846F1}">
                  <asvg:svgBlip xmlns:asvg="http://schemas.microsoft.com/office/drawing/2016/SVG/main" r:embed="rIdBase3_rId3"/>
                </a:ext>
              </a:extLst>
            </a:blip>
            <a:stretch>
              <a:fillRect l="0" t="0" r="0" b="0"/>
            </a:stretch>
          </a:blipFill>
        </p:spPr>
      </p:sp>
      <p:sp>
        <p:nvSpPr>
          <p:cNvPr name="AutoShape 3" id="3"/>
          <p:cNvSpPr/>
          <p:nvPr/>
        </p:nvSpPr>
        <p:spPr>
          <a:xfrm>
            <a:off x="1031275" y="1427091"/>
            <a:ext cx="486095" cy="0"/>
          </a:xfrm>
          <a:prstGeom prst="line">
            <a:avLst/>
          </a:prstGeom>
          <a:ln cap="rnd" w="50800">
            <a:solidFill>
              <a:srgbClr val="4F785F"/>
            </a:solidFill>
            <a:prstDash val="solid"/>
            <a:headEnd type="none" len="sm" w="sm"/>
            <a:tailEnd type="none" len="sm" w="sm"/>
          </a:ln>
        </p:spPr>
      </p:sp>
      <p:sp>
        <p:nvSpPr>
          <p:cNvPr name="TextBox 4" id="4"/>
          <p:cNvSpPr txBox="true"/>
          <p:nvPr/>
        </p:nvSpPr>
        <p:spPr>
          <a:xfrm rot="0">
            <a:off x="1031275" y="774700"/>
            <a:ext cx="4478222" cy="474779"/>
          </a:xfrm>
          <a:prstGeom prst="rect">
            <a:avLst/>
          </a:prstGeom>
        </p:spPr>
        <p:txBody>
          <a:bodyPr anchor="t" rtlCol="false" tIns="0" lIns="0" bIns="0" rIns="0">
            <a:spAutoFit/>
          </a:bodyPr>
          <a:lstStyle/>
          <a:p>
            <a:pPr algn="l" marL="0" indent="0" lvl="0">
              <a:lnSpc>
                <a:spcPts val="3571"/>
              </a:lnSpc>
            </a:pPr>
            <a:r>
              <a:rPr lang="en-US" sz="3501" spc="-70">
                <a:solidFill>
                  <a:srgbClr val="333333"/>
                </a:solidFill>
                <a:latin typeface="210 옴니고딕"/>
                <a:ea typeface="210 옴니고딕"/>
                <a:cs typeface="210 옴니고딕"/>
                <a:sym typeface="210 옴니고딕"/>
              </a:rPr>
              <a:t>프로젝트 개요</a:t>
            </a:r>
          </a:p>
        </p:txBody>
      </p:sp>
      <p:sp>
        <p:nvSpPr>
          <p:cNvPr name="TextBox 5" id="5"/>
          <p:cNvSpPr txBox="true"/>
          <p:nvPr/>
        </p:nvSpPr>
        <p:spPr>
          <a:xfrm rot="0">
            <a:off x="4512208" y="983515"/>
            <a:ext cx="4195680" cy="152429"/>
          </a:xfrm>
          <a:prstGeom prst="rect">
            <a:avLst/>
          </a:prstGeom>
        </p:spPr>
        <p:txBody>
          <a:bodyPr anchor="t" rtlCol="false" tIns="0" lIns="0" bIns="0" rIns="0">
            <a:spAutoFit/>
          </a:bodyPr>
          <a:lstStyle/>
          <a:p>
            <a:pPr algn="l" marL="0" indent="0" lvl="1">
              <a:lnSpc>
                <a:spcPts val="1240"/>
              </a:lnSpc>
              <a:spcBef>
                <a:spcPct val="0"/>
              </a:spcBef>
            </a:pPr>
            <a:r>
              <a:rPr lang="en-US" sz="1033" spc="-17" strike="noStrike" u="none">
                <a:solidFill>
                  <a:srgbClr val="333333">
                    <a:alpha val="53725"/>
                  </a:srgbClr>
                </a:solidFill>
                <a:latin typeface="JASO Sans"/>
                <a:ea typeface="JASO Sans"/>
                <a:cs typeface="JASO Sans"/>
                <a:sym typeface="JASO Sans"/>
              </a:rPr>
              <a:t>소프트웨어 현황과 조치 업무를 연결하는 관리 서비스</a:t>
            </a:r>
          </a:p>
        </p:txBody>
      </p:sp>
      <p:grpSp>
        <p:nvGrpSpPr>
          <p:cNvPr name="Group 6" id="6"/>
          <p:cNvGrpSpPr/>
          <p:nvPr/>
        </p:nvGrpSpPr>
        <p:grpSpPr>
          <a:xfrm rot="0">
            <a:off x="1031275" y="1933474"/>
            <a:ext cx="10129359" cy="544999"/>
            <a:chOff x="0" y="0"/>
            <a:chExt cx="1136656" cy="61157"/>
          </a:xfrm>
        </p:grpSpPr>
        <p:sp>
          <p:nvSpPr>
            <p:cNvPr name="Freeform 7" id="7"/>
            <p:cNvSpPr/>
            <p:nvPr/>
          </p:nvSpPr>
          <p:spPr>
            <a:xfrm flipH="false" flipV="false" rot="0">
              <a:off x="0" y="0"/>
              <a:ext cx="1136656" cy="61157"/>
            </a:xfrm>
            <a:custGeom>
              <a:avLst/>
              <a:gdLst/>
              <a:ahLst/>
              <a:cxnLst/>
              <a:rect r="r" b="b" t="t" l="l"/>
              <a:pathLst>
                <a:path h="91735" w="1704984">
                  <a:moveTo>
                    <a:pt x="39808" y="0"/>
                  </a:moveTo>
                  <a:lnTo>
                    <a:pt x="1665177" y="0"/>
                  </a:lnTo>
                  <a:cubicBezTo>
                    <a:pt x="1687162" y="0"/>
                    <a:pt x="1704984" y="17822"/>
                    <a:pt x="1704984" y="39808"/>
                  </a:cubicBezTo>
                  <a:lnTo>
                    <a:pt x="1704984" y="51927"/>
                  </a:lnTo>
                  <a:cubicBezTo>
                    <a:pt x="1704984" y="73912"/>
                    <a:pt x="1687162" y="91735"/>
                    <a:pt x="1665177" y="91735"/>
                  </a:cubicBezTo>
                  <a:lnTo>
                    <a:pt x="39808" y="91735"/>
                  </a:lnTo>
                  <a:cubicBezTo>
                    <a:pt x="29250" y="91735"/>
                    <a:pt x="19125" y="87541"/>
                    <a:pt x="11659" y="80075"/>
                  </a:cubicBezTo>
                  <a:cubicBezTo>
                    <a:pt x="4194" y="72610"/>
                    <a:pt x="0" y="62485"/>
                    <a:pt x="0" y="51927"/>
                  </a:cubicBezTo>
                  <a:lnTo>
                    <a:pt x="0" y="39808"/>
                  </a:lnTo>
                  <a:cubicBezTo>
                    <a:pt x="0" y="29250"/>
                    <a:pt x="4194" y="19125"/>
                    <a:pt x="11659" y="11659"/>
                  </a:cubicBezTo>
                  <a:cubicBezTo>
                    <a:pt x="19125" y="4194"/>
                    <a:pt x="29250" y="0"/>
                    <a:pt x="39808" y="0"/>
                  </a:cubicBezTo>
                  <a:close/>
                </a:path>
              </a:pathLst>
            </a:custGeom>
            <a:solidFill>
              <a:srgbClr val="4F785F"/>
            </a:solidFill>
          </p:spPr>
        </p:sp>
        <p:sp>
          <p:nvSpPr>
            <p:cNvPr name="TextBox 8" id="8"/>
            <p:cNvSpPr txBox="true"/>
            <p:nvPr/>
          </p:nvSpPr>
          <p:spPr>
            <a:xfrm>
              <a:off x="0" y="-31750"/>
              <a:ext cx="1136656" cy="92907"/>
            </a:xfrm>
            <a:prstGeom prst="rect">
              <a:avLst/>
            </a:prstGeom>
          </p:spPr>
          <p:txBody>
            <a:bodyPr anchor="ctr" rtlCol="false" tIns="33867" lIns="33867" bIns="33867" rIns="33867"/>
            <a:lstStyle/>
            <a:p>
              <a:pPr algn="ctr">
                <a:lnSpc>
                  <a:spcPts val="1725"/>
                </a:lnSpc>
              </a:pPr>
            </a:p>
          </p:txBody>
        </p:sp>
      </p:grpSp>
      <p:grpSp>
        <p:nvGrpSpPr>
          <p:cNvPr name="Group 9" id="9"/>
          <p:cNvGrpSpPr/>
          <p:nvPr/>
        </p:nvGrpSpPr>
        <p:grpSpPr>
          <a:xfrm rot="0">
            <a:off x="1031275" y="3650971"/>
            <a:ext cx="10130678" cy="544999"/>
            <a:chOff x="0" y="0"/>
            <a:chExt cx="1136804" cy="61157"/>
          </a:xfrm>
        </p:grpSpPr>
        <p:sp>
          <p:nvSpPr>
            <p:cNvPr name="Freeform 10" id="10"/>
            <p:cNvSpPr/>
            <p:nvPr/>
          </p:nvSpPr>
          <p:spPr>
            <a:xfrm flipH="false" flipV="false" rot="0">
              <a:off x="0" y="0"/>
              <a:ext cx="1136804" cy="61157"/>
            </a:xfrm>
            <a:custGeom>
              <a:avLst/>
              <a:gdLst/>
              <a:ahLst/>
              <a:cxnLst/>
              <a:rect r="r" b="b" t="t" l="l"/>
              <a:pathLst>
                <a:path h="91735" w="1705206">
                  <a:moveTo>
                    <a:pt x="39802" y="0"/>
                  </a:moveTo>
                  <a:lnTo>
                    <a:pt x="1665404" y="0"/>
                  </a:lnTo>
                  <a:cubicBezTo>
                    <a:pt x="1675960" y="0"/>
                    <a:pt x="1686084" y="4193"/>
                    <a:pt x="1693549" y="11658"/>
                  </a:cubicBezTo>
                  <a:cubicBezTo>
                    <a:pt x="1701013" y="19122"/>
                    <a:pt x="1705206" y="29246"/>
                    <a:pt x="1705206" y="39802"/>
                  </a:cubicBezTo>
                  <a:lnTo>
                    <a:pt x="1705206" y="51932"/>
                  </a:lnTo>
                  <a:cubicBezTo>
                    <a:pt x="1705206" y="62489"/>
                    <a:pt x="1701013" y="72613"/>
                    <a:pt x="1693549" y="80077"/>
                  </a:cubicBezTo>
                  <a:cubicBezTo>
                    <a:pt x="1686084" y="87541"/>
                    <a:pt x="1675960" y="91735"/>
                    <a:pt x="1665404" y="91735"/>
                  </a:cubicBezTo>
                  <a:lnTo>
                    <a:pt x="39802" y="91735"/>
                  </a:lnTo>
                  <a:cubicBezTo>
                    <a:pt x="29246" y="91735"/>
                    <a:pt x="19122" y="87541"/>
                    <a:pt x="11658" y="80077"/>
                  </a:cubicBezTo>
                  <a:cubicBezTo>
                    <a:pt x="4193" y="72613"/>
                    <a:pt x="0" y="62489"/>
                    <a:pt x="0" y="51932"/>
                  </a:cubicBezTo>
                  <a:lnTo>
                    <a:pt x="0" y="39802"/>
                  </a:lnTo>
                  <a:cubicBezTo>
                    <a:pt x="0" y="29246"/>
                    <a:pt x="4193" y="19122"/>
                    <a:pt x="11658" y="11658"/>
                  </a:cubicBezTo>
                  <a:cubicBezTo>
                    <a:pt x="19122" y="4193"/>
                    <a:pt x="29246" y="0"/>
                    <a:pt x="39802" y="0"/>
                  </a:cubicBezTo>
                  <a:close/>
                </a:path>
              </a:pathLst>
            </a:custGeom>
            <a:solidFill>
              <a:srgbClr val="A39D9D"/>
            </a:solidFill>
          </p:spPr>
        </p:sp>
        <p:sp>
          <p:nvSpPr>
            <p:cNvPr name="TextBox 11" id="11"/>
            <p:cNvSpPr txBox="true"/>
            <p:nvPr/>
          </p:nvSpPr>
          <p:spPr>
            <a:xfrm>
              <a:off x="0" y="-31750"/>
              <a:ext cx="1136804" cy="92907"/>
            </a:xfrm>
            <a:prstGeom prst="rect">
              <a:avLst/>
            </a:prstGeom>
          </p:spPr>
          <p:txBody>
            <a:bodyPr anchor="ctr" rtlCol="false" tIns="33867" lIns="33867" bIns="33867" rIns="33867"/>
            <a:lstStyle/>
            <a:p>
              <a:pPr algn="ctr">
                <a:lnSpc>
                  <a:spcPts val="1725"/>
                </a:lnSpc>
              </a:pPr>
            </a:p>
          </p:txBody>
        </p:sp>
      </p:grpSp>
      <p:sp>
        <p:nvSpPr>
          <p:cNvPr name="Freeform 12" id="12"/>
          <p:cNvSpPr/>
          <p:nvPr/>
        </p:nvSpPr>
        <p:spPr>
          <a:xfrm flipH="false" flipV="false" rot="0">
            <a:off x="1316955" y="2144230"/>
            <a:ext cx="115630" cy="88168"/>
          </a:xfrm>
          <a:custGeom>
            <a:avLst/>
            <a:gdLst/>
            <a:ahLst/>
            <a:cxnLst/>
            <a:rect r="r" b="b" t="t" l="l"/>
            <a:pathLst>
              <a:path h="132252" w="173445">
                <a:moveTo>
                  <a:pt x="0" y="0"/>
                </a:moveTo>
                <a:lnTo>
                  <a:pt x="173445" y="0"/>
                </a:lnTo>
                <a:lnTo>
                  <a:pt x="173445" y="132251"/>
                </a:lnTo>
                <a:lnTo>
                  <a:pt x="0" y="132251"/>
                </a:lnTo>
                <a:lnTo>
                  <a:pt x="0" y="0"/>
                </a:lnTo>
                <a:close/>
              </a:path>
            </a:pathLst>
          </a:custGeom>
          <a:blipFill>
            <a:blip r:embed="rIdBase3_rId4">
              <a:extLst>
                <a:ext uri="{96DAC541-7B7A-43D3-8B79-37D633B846F1}">
                  <asvg:svgBlip xmlns:asvg="http://schemas.microsoft.com/office/drawing/2016/SVG/main" r:embed="rIdBase3_rId5"/>
                </a:ext>
              </a:extLst>
            </a:blip>
            <a:stretch>
              <a:fillRect l="0" t="0" r="0" b="0"/>
            </a:stretch>
          </a:blipFill>
        </p:spPr>
      </p:sp>
      <p:sp>
        <p:nvSpPr>
          <p:cNvPr name="Freeform 13" id="13"/>
          <p:cNvSpPr/>
          <p:nvPr/>
        </p:nvSpPr>
        <p:spPr>
          <a:xfrm flipH="false" flipV="false" rot="0">
            <a:off x="1316955" y="3861728"/>
            <a:ext cx="115630" cy="88168"/>
          </a:xfrm>
          <a:custGeom>
            <a:avLst/>
            <a:gdLst/>
            <a:ahLst/>
            <a:cxnLst/>
            <a:rect r="r" b="b" t="t" l="l"/>
            <a:pathLst>
              <a:path h="132252" w="173445">
                <a:moveTo>
                  <a:pt x="0" y="0"/>
                </a:moveTo>
                <a:lnTo>
                  <a:pt x="173445" y="0"/>
                </a:lnTo>
                <a:lnTo>
                  <a:pt x="173445" y="132251"/>
                </a:lnTo>
                <a:lnTo>
                  <a:pt x="0" y="132251"/>
                </a:lnTo>
                <a:lnTo>
                  <a:pt x="0" y="0"/>
                </a:lnTo>
                <a:close/>
              </a:path>
            </a:pathLst>
          </a:custGeom>
          <a:blipFill>
            <a:blip r:embed="rIdBase3_rId4">
              <a:extLst>
                <a:ext uri="{96DAC541-7B7A-43D3-8B79-37D633B846F1}">
                  <asvg:svgBlip xmlns:asvg="http://schemas.microsoft.com/office/drawing/2016/SVG/main" r:embed="rIdBase3_rId5"/>
                </a:ext>
              </a:extLst>
            </a:blip>
            <a:stretch>
              <a:fillRect l="0" t="0" r="0" b="0"/>
            </a:stretch>
          </a:blipFill>
        </p:spPr>
      </p:sp>
      <p:sp>
        <p:nvSpPr>
          <p:cNvPr name="TextBox 14" id="14"/>
          <p:cNvSpPr txBox="true"/>
          <p:nvPr/>
        </p:nvSpPr>
        <p:spPr>
          <a:xfrm rot="0">
            <a:off x="1031275" y="2636906"/>
            <a:ext cx="10130678" cy="594965"/>
          </a:xfrm>
          <a:prstGeom prst="rect">
            <a:avLst/>
          </a:prstGeom>
        </p:spPr>
        <p:txBody>
          <a:bodyPr anchor="t" rtlCol="false" tIns="0" lIns="0" bIns="0" rIns="0">
            <a:spAutoFit/>
          </a:bodyPr>
          <a:lstStyle/>
          <a:p>
            <a:pPr algn="l" marL="0" indent="0" lvl="0">
              <a:lnSpc>
                <a:spcPts val="2415"/>
              </a:lnSpc>
              <a:spcBef>
                <a:spcPct val="0"/>
              </a:spcBef>
            </a:pPr>
            <a:r>
              <a:rPr lang="en-US" sz="1500" spc="-52">
                <a:solidFill>
                  <a:srgbClr val="333333">
                    <a:alpha val="80000"/>
                  </a:srgbClr>
                </a:solidFill>
                <a:latin typeface="JASO Sans"/>
                <a:ea typeface="JASO Sans"/>
                <a:cs typeface="JASO Sans"/>
                <a:sym typeface="JASO Sans"/>
              </a:rPr>
              <a:t>EOLWatch는 고객사 자산의 소프트웨어 구성·취약점·지원 종료와 조치 이력을 함께 관리하는 웹 서비스입니다.</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분석 결과를 실제 자산과 담당자 업무에 연결해, 대상 파악부터 조치·보고까지 지원하도록 개발하고자 합니다.</a:t>
            </a:r>
          </a:p>
        </p:txBody>
      </p:sp>
      <p:sp>
        <p:nvSpPr>
          <p:cNvPr name="TextBox 15" id="15"/>
          <p:cNvSpPr txBox="true"/>
          <p:nvPr/>
        </p:nvSpPr>
        <p:spPr>
          <a:xfrm rot="0">
            <a:off x="1031275" y="5126518"/>
            <a:ext cx="3071214" cy="899751"/>
          </a:xfrm>
          <a:prstGeom prst="rect">
            <a:avLst/>
          </a:prstGeom>
        </p:spPr>
        <p:txBody>
          <a:bodyPr anchor="t" rtlCol="false" tIns="0" lIns="0" bIns="0" rIns="0">
            <a:spAutoFit/>
          </a:bodyPr>
          <a:lstStyle/>
          <a:p>
            <a:pPr algn="ctr" marL="0" indent="0" lvl="0">
              <a:lnSpc>
                <a:spcPts val="2415"/>
              </a:lnSpc>
              <a:spcBef>
                <a:spcPct val="0"/>
              </a:spcBef>
            </a:pPr>
            <a:r>
              <a:rPr lang="en-US" sz="1500" spc="-52">
                <a:solidFill>
                  <a:srgbClr val="333333">
                    <a:alpha val="80000"/>
                  </a:srgbClr>
                </a:solidFill>
                <a:latin typeface="JASO Sans"/>
                <a:ea typeface="JASO Sans"/>
                <a:cs typeface="JASO Sans"/>
                <a:sym typeface="JASO Sans"/>
              </a:rPr>
              <a:t>고객사·서버별 구성요소와</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취약점·지원 종료 정보를</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한곳에서 확인하도록 지원</a:t>
            </a:r>
          </a:p>
        </p:txBody>
      </p:sp>
      <p:sp>
        <p:nvSpPr>
          <p:cNvPr name="TextBox 16" id="16"/>
          <p:cNvSpPr txBox="true"/>
          <p:nvPr/>
        </p:nvSpPr>
        <p:spPr>
          <a:xfrm rot="0">
            <a:off x="4561007" y="5126518"/>
            <a:ext cx="3071214" cy="899751"/>
          </a:xfrm>
          <a:prstGeom prst="rect">
            <a:avLst/>
          </a:prstGeom>
        </p:spPr>
        <p:txBody>
          <a:bodyPr anchor="t" rtlCol="false" tIns="0" lIns="0" bIns="0" rIns="0">
            <a:spAutoFit/>
          </a:bodyPr>
          <a:lstStyle/>
          <a:p>
            <a:pPr algn="ctr" marL="0" indent="0" lvl="0">
              <a:lnSpc>
                <a:spcPts val="2415"/>
              </a:lnSpc>
              <a:spcBef>
                <a:spcPct val="0"/>
              </a:spcBef>
            </a:pPr>
            <a:r>
              <a:rPr lang="en-US" sz="1500" spc="-52" strike="noStrike" u="none">
                <a:solidFill>
                  <a:srgbClr val="333333">
                    <a:alpha val="80000"/>
                  </a:srgbClr>
                </a:solidFill>
                <a:latin typeface="JASO Sans"/>
                <a:ea typeface="JASO Sans"/>
                <a:cs typeface="JASO Sans"/>
                <a:sym typeface="JASO Sans"/>
              </a:rPr>
              <a:t>영향받는 자산과 변경 필요</a:t>
            </a:r>
            <a:br>
              <a:rPr lang="en-US" sz="1500" spc="-52" strike="noStrike" u="none">
                <a:solidFill>
                  <a:srgbClr val="333333">
                    <a:alpha val="80000"/>
                  </a:srgbClr>
                </a:solidFill>
                <a:latin typeface="JASO Sans"/>
                <a:ea typeface="JASO Sans"/>
                <a:cs typeface="JASO Sans"/>
                <a:sym typeface="JASO Sans"/>
              </a:rPr>
            </a:br>
            <a:r>
              <a:rPr lang="en-US" sz="1500" spc="-52" strike="noStrike" u="none">
                <a:solidFill>
                  <a:srgbClr val="333333">
                    <a:alpha val="80000"/>
                  </a:srgbClr>
                </a:solidFill>
                <a:latin typeface="JASO Sans"/>
                <a:ea typeface="JASO Sans"/>
                <a:cs typeface="JASO Sans"/>
                <a:sym typeface="JASO Sans"/>
              </a:rPr>
              <a:t>대상을 파악해 담당자가</a:t>
            </a:r>
            <a:br>
              <a:rPr lang="en-US" sz="1500" spc="-52" strike="noStrike" u="none">
                <a:solidFill>
                  <a:srgbClr val="333333">
                    <a:alpha val="80000"/>
                  </a:srgbClr>
                </a:solidFill>
                <a:latin typeface="JASO Sans"/>
                <a:ea typeface="JASO Sans"/>
                <a:cs typeface="JASO Sans"/>
                <a:sym typeface="JASO Sans"/>
              </a:rPr>
            </a:br>
            <a:r>
              <a:rPr lang="en-US" sz="1500" spc="-52" strike="noStrike" u="none">
                <a:solidFill>
                  <a:srgbClr val="333333">
                    <a:alpha val="80000"/>
                  </a:srgbClr>
                </a:solidFill>
                <a:latin typeface="JASO Sans"/>
                <a:ea typeface="JASO Sans"/>
                <a:cs typeface="JASO Sans"/>
                <a:sym typeface="JASO Sans"/>
              </a:rPr>
              <a:t>조치 순서를 정하도록 지원</a:t>
            </a:r>
          </a:p>
        </p:txBody>
      </p:sp>
      <p:sp>
        <p:nvSpPr>
          <p:cNvPr name="TextBox 17" id="17"/>
          <p:cNvSpPr txBox="true"/>
          <p:nvPr/>
        </p:nvSpPr>
        <p:spPr>
          <a:xfrm rot="0">
            <a:off x="8089421" y="5126518"/>
            <a:ext cx="3071214" cy="1204536"/>
          </a:xfrm>
          <a:prstGeom prst="rect">
            <a:avLst/>
          </a:prstGeom>
        </p:spPr>
        <p:txBody>
          <a:bodyPr anchor="t" rtlCol="false" tIns="0" lIns="0" bIns="0" rIns="0">
            <a:spAutoFit/>
          </a:bodyPr>
          <a:lstStyle/>
          <a:p>
            <a:pPr algn="ctr" marL="0" indent="0" lvl="0">
              <a:lnSpc>
                <a:spcPts val="2415"/>
              </a:lnSpc>
              <a:spcBef>
                <a:spcPct val="0"/>
              </a:spcBef>
            </a:pPr>
            <a:r>
              <a:rPr lang="en-US" sz="1500" spc="-52">
                <a:solidFill>
                  <a:srgbClr val="333333">
                    <a:alpha val="80000"/>
                  </a:srgbClr>
                </a:solidFill>
                <a:latin typeface="JASO Sans"/>
                <a:ea typeface="JASO Sans"/>
                <a:cs typeface="JASO Sans"/>
                <a:sym typeface="JASO Sans"/>
              </a:rPr>
              <a:t>작업 이력과 재분석 결과를</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연결해 담당자 인계 및</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고객 보고 근거로 활용</a:t>
            </a:r>
          </a:p>
        </p:txBody>
      </p:sp>
      <p:sp>
        <p:nvSpPr>
          <p:cNvPr name="TextBox 18" id="18"/>
          <p:cNvSpPr txBox="true"/>
          <p:nvPr/>
        </p:nvSpPr>
        <p:spPr>
          <a:xfrm rot="0">
            <a:off x="1031275" y="4464485"/>
            <a:ext cx="3071214" cy="349068"/>
          </a:xfrm>
          <a:prstGeom prst="rect">
            <a:avLst/>
          </a:prstGeom>
        </p:spPr>
        <p:txBody>
          <a:bodyPr anchor="t" rtlCol="false" tIns="0" lIns="0" bIns="0" rIns="0">
            <a:spAutoFit/>
          </a:bodyPr>
          <a:lstStyle/>
          <a:p>
            <a:pPr algn="ctr" marL="0" indent="0" lvl="0">
              <a:lnSpc>
                <a:spcPts val="2951"/>
              </a:lnSpc>
              <a:spcBef>
                <a:spcPct val="0"/>
              </a:spcBef>
            </a:pPr>
            <a:r>
              <a:rPr lang="en-US" b="true" sz="1833" spc="-64" strike="noStrike" u="none">
                <a:solidFill>
                  <a:srgbClr val="A39D9D"/>
                </a:solidFill>
                <a:latin typeface="JASO Sans Bold"/>
                <a:ea typeface="JASO Sans Bold"/>
                <a:cs typeface="JASO Sans Bold"/>
                <a:sym typeface="JASO Sans Bold"/>
              </a:rPr>
              <a:t>자산 현황 정리</a:t>
            </a:r>
          </a:p>
        </p:txBody>
      </p:sp>
      <p:sp>
        <p:nvSpPr>
          <p:cNvPr name="TextBox 19" id="19"/>
          <p:cNvSpPr txBox="true"/>
          <p:nvPr/>
        </p:nvSpPr>
        <p:spPr>
          <a:xfrm rot="0">
            <a:off x="4561007" y="4464485"/>
            <a:ext cx="3071214" cy="349068"/>
          </a:xfrm>
          <a:prstGeom prst="rect">
            <a:avLst/>
          </a:prstGeom>
        </p:spPr>
        <p:txBody>
          <a:bodyPr anchor="t" rtlCol="false" tIns="0" lIns="0" bIns="0" rIns="0">
            <a:spAutoFit/>
          </a:bodyPr>
          <a:lstStyle/>
          <a:p>
            <a:pPr algn="ctr" marL="0" indent="0" lvl="0">
              <a:lnSpc>
                <a:spcPts val="2951"/>
              </a:lnSpc>
              <a:spcBef>
                <a:spcPct val="0"/>
              </a:spcBef>
            </a:pPr>
            <a:r>
              <a:rPr lang="en-US" b="true" sz="1833" spc="-64">
                <a:solidFill>
                  <a:srgbClr val="A39D9D"/>
                </a:solidFill>
                <a:latin typeface="JASO Sans Bold"/>
                <a:ea typeface="JASO Sans Bold"/>
                <a:cs typeface="JASO Sans Bold"/>
                <a:sym typeface="JASO Sans Bold"/>
              </a:rPr>
              <a:t>대응 판단 지원</a:t>
            </a:r>
          </a:p>
        </p:txBody>
      </p:sp>
      <p:sp>
        <p:nvSpPr>
          <p:cNvPr name="TextBox 20" id="20"/>
          <p:cNvSpPr txBox="true"/>
          <p:nvPr/>
        </p:nvSpPr>
        <p:spPr>
          <a:xfrm rot="0">
            <a:off x="8089421" y="4464485"/>
            <a:ext cx="3071214" cy="349068"/>
          </a:xfrm>
          <a:prstGeom prst="rect">
            <a:avLst/>
          </a:prstGeom>
        </p:spPr>
        <p:txBody>
          <a:bodyPr anchor="t" rtlCol="false" tIns="0" lIns="0" bIns="0" rIns="0">
            <a:spAutoFit/>
          </a:bodyPr>
          <a:lstStyle/>
          <a:p>
            <a:pPr algn="ctr" marL="0" indent="0" lvl="0">
              <a:lnSpc>
                <a:spcPts val="2951"/>
              </a:lnSpc>
              <a:spcBef>
                <a:spcPct val="0"/>
              </a:spcBef>
            </a:pPr>
            <a:r>
              <a:rPr lang="en-US" b="true" sz="1833" spc="-64">
                <a:solidFill>
                  <a:srgbClr val="A39D9D"/>
                </a:solidFill>
                <a:latin typeface="JASO Sans Bold"/>
                <a:ea typeface="JASO Sans Bold"/>
                <a:cs typeface="JASO Sans Bold"/>
                <a:sym typeface="JASO Sans Bold"/>
              </a:rPr>
              <a:t>처리 근거 관리</a:t>
            </a:r>
          </a:p>
        </p:txBody>
      </p:sp>
      <p:sp>
        <p:nvSpPr>
          <p:cNvPr name="TextBox 21" id="21"/>
          <p:cNvSpPr txBox="true"/>
          <p:nvPr/>
        </p:nvSpPr>
        <p:spPr>
          <a:xfrm rot="0">
            <a:off x="1496879" y="1996218"/>
            <a:ext cx="1618012" cy="324261"/>
          </a:xfrm>
          <a:prstGeom prst="rect">
            <a:avLst/>
          </a:prstGeom>
        </p:spPr>
        <p:txBody>
          <a:bodyPr anchor="t" rtlCol="false" tIns="0" lIns="0" bIns="0" rIns="0">
            <a:spAutoFit/>
          </a:bodyPr>
          <a:lstStyle/>
          <a:p>
            <a:pPr algn="l" marL="0" indent="0" lvl="0">
              <a:lnSpc>
                <a:spcPts val="2737"/>
              </a:lnSpc>
              <a:spcBef>
                <a:spcPct val="0"/>
              </a:spcBef>
            </a:pPr>
            <a:r>
              <a:rPr lang="en-US" b="true" sz="1699" spc="-59">
                <a:solidFill>
                  <a:srgbClr val="FAF9F9"/>
                </a:solidFill>
                <a:latin typeface="JASO Sans Bold"/>
                <a:ea typeface="JASO Sans Bold"/>
                <a:cs typeface="JASO Sans Bold"/>
                <a:sym typeface="JASO Sans Bold"/>
              </a:rPr>
              <a:t>EOLWatch 소개</a:t>
            </a:r>
          </a:p>
        </p:txBody>
      </p:sp>
      <p:sp>
        <p:nvSpPr>
          <p:cNvPr name="TextBox 22" id="22"/>
          <p:cNvSpPr txBox="true"/>
          <p:nvPr/>
        </p:nvSpPr>
        <p:spPr>
          <a:xfrm rot="0">
            <a:off x="1496879" y="3713716"/>
            <a:ext cx="1618012" cy="324261"/>
          </a:xfrm>
          <a:prstGeom prst="rect">
            <a:avLst/>
          </a:prstGeom>
        </p:spPr>
        <p:txBody>
          <a:bodyPr anchor="t" rtlCol="false" tIns="0" lIns="0" bIns="0" rIns="0">
            <a:spAutoFit/>
          </a:bodyPr>
          <a:lstStyle/>
          <a:p>
            <a:pPr algn="l" marL="0" indent="0" lvl="0">
              <a:lnSpc>
                <a:spcPts val="2737"/>
              </a:lnSpc>
              <a:spcBef>
                <a:spcPct val="0"/>
              </a:spcBef>
            </a:pPr>
            <a:r>
              <a:rPr lang="en-US" b="true" sz="1699" spc="-59">
                <a:solidFill>
                  <a:srgbClr val="FAF9F9"/>
                </a:solidFill>
                <a:latin typeface="JASO Sans Bold"/>
                <a:ea typeface="JASO Sans Bold"/>
                <a:cs typeface="JASO Sans Bold"/>
                <a:sym typeface="JASO Sans Bold"/>
              </a:rPr>
              <a:t>프로젝트의 역할</a:t>
            </a:r>
          </a:p>
        </p:txBody>
      </p:sp>
      <p:sp>
        <p:nvSpPr>
          <p:cNvPr name="AutoShape 23" id="23"/>
          <p:cNvSpPr/>
          <p:nvPr/>
        </p:nvSpPr>
        <p:spPr>
          <a:xfrm>
            <a:off x="1031275" y="4976838"/>
            <a:ext cx="3071214" cy="0"/>
          </a:xfrm>
          <a:prstGeom prst="line">
            <a:avLst/>
          </a:prstGeom>
          <a:ln cap="rnd" w="12700">
            <a:solidFill>
              <a:srgbClr val="A39D9D"/>
            </a:solidFill>
            <a:prstDash val="solid"/>
            <a:headEnd type="none" len="sm" w="sm"/>
            <a:tailEnd type="none" len="sm" w="sm"/>
          </a:ln>
        </p:spPr>
      </p:sp>
      <p:sp>
        <p:nvSpPr>
          <p:cNvPr name="AutoShape 24" id="24"/>
          <p:cNvSpPr/>
          <p:nvPr/>
        </p:nvSpPr>
        <p:spPr>
          <a:xfrm>
            <a:off x="4561007" y="4976838"/>
            <a:ext cx="3071214" cy="0"/>
          </a:xfrm>
          <a:prstGeom prst="line">
            <a:avLst/>
          </a:prstGeom>
          <a:ln cap="rnd" w="12700">
            <a:solidFill>
              <a:srgbClr val="A39D9D"/>
            </a:solidFill>
            <a:prstDash val="solid"/>
            <a:headEnd type="none" len="sm" w="sm"/>
            <a:tailEnd type="none" len="sm" w="sm"/>
          </a:ln>
        </p:spPr>
      </p:sp>
      <p:sp>
        <p:nvSpPr>
          <p:cNvPr name="AutoShape 25" id="25"/>
          <p:cNvSpPr/>
          <p:nvPr/>
        </p:nvSpPr>
        <p:spPr>
          <a:xfrm>
            <a:off x="8089421" y="4976838"/>
            <a:ext cx="3071214" cy="0"/>
          </a:xfrm>
          <a:prstGeom prst="line">
            <a:avLst/>
          </a:prstGeom>
          <a:ln cap="rnd" w="12700">
            <a:solidFill>
              <a:srgbClr val="A39D9D"/>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showMasterSp="0">
  <p:cSld>
    <p:bg>
      <p:bgPr>
        <a:solidFill>
          <a:srgbClr val="FA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1719046" y="219152"/>
            <a:ext cx="57105" cy="253801"/>
          </a:xfrm>
          <a:custGeom>
            <a:avLst/>
            <a:gdLst/>
            <a:ahLst/>
            <a:cxnLst/>
            <a:rect r="r" b="b" t="t" l="l"/>
            <a:pathLst>
              <a:path h="380702" w="85658">
                <a:moveTo>
                  <a:pt x="0" y="0"/>
                </a:moveTo>
                <a:lnTo>
                  <a:pt x="85658" y="0"/>
                </a:lnTo>
                <a:lnTo>
                  <a:pt x="85658" y="380702"/>
                </a:lnTo>
                <a:lnTo>
                  <a:pt x="0" y="380702"/>
                </a:lnTo>
                <a:lnTo>
                  <a:pt x="0" y="0"/>
                </a:lnTo>
                <a:close/>
              </a:path>
            </a:pathLst>
          </a:custGeom>
          <a:blipFill>
            <a:blip r:embed="rIdBase7_rId2">
              <a:extLst>
                <a:ext uri="{96DAC541-7B7A-43D3-8B79-37D633B846F1}">
                  <asvg:svgBlip xmlns:asvg="http://schemas.microsoft.com/office/drawing/2016/SVG/main" r:embed="rIdBase7_rId3"/>
                </a:ext>
              </a:extLst>
            </a:blip>
            <a:stretch>
              <a:fillRect l="0" t="0" r="0" b="0"/>
            </a:stretch>
          </a:blipFill>
        </p:spPr>
      </p:sp>
      <p:sp>
        <p:nvSpPr>
          <p:cNvPr name="AutoShape 3" id="3"/>
          <p:cNvSpPr/>
          <p:nvPr/>
        </p:nvSpPr>
        <p:spPr>
          <a:xfrm>
            <a:off x="1031275" y="1427091"/>
            <a:ext cx="486095" cy="0"/>
          </a:xfrm>
          <a:prstGeom prst="line">
            <a:avLst/>
          </a:prstGeom>
          <a:ln cap="rnd" w="50800">
            <a:solidFill>
              <a:srgbClr val="4F785F"/>
            </a:solidFill>
            <a:prstDash val="solid"/>
            <a:headEnd type="none" len="sm" w="sm"/>
            <a:tailEnd type="none" len="sm" w="sm"/>
          </a:ln>
        </p:spPr>
      </p:sp>
      <p:sp>
        <p:nvSpPr>
          <p:cNvPr name="TextBox 4" id="4"/>
          <p:cNvSpPr txBox="true"/>
          <p:nvPr/>
        </p:nvSpPr>
        <p:spPr>
          <a:xfrm rot="0">
            <a:off x="1031275" y="774700"/>
            <a:ext cx="4916195" cy="474779"/>
          </a:xfrm>
          <a:prstGeom prst="rect">
            <a:avLst/>
          </a:prstGeom>
        </p:spPr>
        <p:txBody>
          <a:bodyPr anchor="t" rtlCol="false" tIns="0" lIns="0" bIns="0" rIns="0">
            <a:spAutoFit/>
          </a:bodyPr>
          <a:lstStyle/>
          <a:p>
            <a:pPr algn="l" marL="0" indent="0" lvl="0">
              <a:lnSpc>
                <a:spcPts val="3571"/>
              </a:lnSpc>
            </a:pPr>
            <a:r>
              <a:rPr lang="en-US" sz="3501" spc="-70">
                <a:solidFill>
                  <a:srgbClr val="333333"/>
                </a:solidFill>
                <a:latin typeface="210 옴니고딕"/>
                <a:ea typeface="210 옴니고딕"/>
                <a:cs typeface="210 옴니고딕"/>
                <a:sym typeface="210 옴니고딕"/>
              </a:rPr>
              <a:t>주요 기능</a:t>
            </a:r>
          </a:p>
        </p:txBody>
      </p:sp>
      <p:sp>
        <p:nvSpPr>
          <p:cNvPr name="TextBox 5" id="5"/>
          <p:cNvSpPr txBox="true"/>
          <p:nvPr/>
        </p:nvSpPr>
        <p:spPr>
          <a:xfrm rot="0">
            <a:off x="4361604" y="983515"/>
            <a:ext cx="4195680" cy="152429"/>
          </a:xfrm>
          <a:prstGeom prst="rect">
            <a:avLst/>
          </a:prstGeom>
        </p:spPr>
        <p:txBody>
          <a:bodyPr anchor="t" rtlCol="false" tIns="0" lIns="0" bIns="0" rIns="0">
            <a:spAutoFit/>
          </a:bodyPr>
          <a:lstStyle/>
          <a:p>
            <a:pPr algn="l" marL="0" indent="0" lvl="1">
              <a:lnSpc>
                <a:spcPts val="1240"/>
              </a:lnSpc>
              <a:spcBef>
                <a:spcPct val="0"/>
              </a:spcBef>
            </a:pPr>
            <a:r>
              <a:rPr lang="en-US" sz="1033" spc="-17" strike="noStrike" u="none">
                <a:solidFill>
                  <a:srgbClr val="333333">
                    <a:alpha val="53725"/>
                  </a:srgbClr>
                </a:solidFill>
                <a:latin typeface="JASO Sans"/>
                <a:ea typeface="JASO Sans"/>
                <a:cs typeface="JASO Sans"/>
                <a:sym typeface="JASO Sans"/>
              </a:rPr>
              <a:t>SBOM 생성부터 영향 자산 확인과 조치 관리까지</a:t>
            </a:r>
          </a:p>
        </p:txBody>
      </p:sp>
      <p:grpSp>
        <p:nvGrpSpPr>
          <p:cNvPr name="Group 6" id="6"/>
          <p:cNvGrpSpPr/>
          <p:nvPr/>
        </p:nvGrpSpPr>
        <p:grpSpPr>
          <a:xfrm rot="0">
            <a:off x="1031275" y="1933474"/>
            <a:ext cx="5009817" cy="1974409"/>
            <a:chOff x="0" y="0"/>
            <a:chExt cx="1319458" cy="520009"/>
          </a:xfrm>
        </p:grpSpPr>
        <p:sp>
          <p:nvSpPr>
            <p:cNvPr name="Freeform 7" id="7"/>
            <p:cNvSpPr/>
            <p:nvPr/>
          </p:nvSpPr>
          <p:spPr>
            <a:xfrm flipH="false" flipV="false" rot="0">
              <a:off x="0" y="0"/>
              <a:ext cx="1319458" cy="520009"/>
            </a:xfrm>
            <a:custGeom>
              <a:avLst/>
              <a:gdLst/>
              <a:ahLst/>
              <a:cxnLst/>
              <a:rect r="r" b="b" t="t" l="l"/>
              <a:pathLst>
                <a:path h="780013" w="1979187">
                  <a:moveTo>
                    <a:pt x="25756" y="0"/>
                  </a:moveTo>
                  <a:lnTo>
                    <a:pt x="1953431" y="0"/>
                  </a:lnTo>
                  <a:cubicBezTo>
                    <a:pt x="1967656" y="0"/>
                    <a:pt x="1979187" y="11531"/>
                    <a:pt x="1979187" y="25756"/>
                  </a:cubicBezTo>
                  <a:lnTo>
                    <a:pt x="1979187" y="754258"/>
                  </a:lnTo>
                  <a:cubicBezTo>
                    <a:pt x="1979187" y="768482"/>
                    <a:pt x="1967656" y="780013"/>
                    <a:pt x="1953431" y="780013"/>
                  </a:cubicBezTo>
                  <a:lnTo>
                    <a:pt x="25756" y="780013"/>
                  </a:lnTo>
                  <a:cubicBezTo>
                    <a:pt x="11531" y="780013"/>
                    <a:pt x="0" y="768482"/>
                    <a:pt x="0" y="754258"/>
                  </a:cubicBezTo>
                  <a:lnTo>
                    <a:pt x="0" y="25756"/>
                  </a:lnTo>
                  <a:cubicBezTo>
                    <a:pt x="0" y="11531"/>
                    <a:pt x="11531" y="0"/>
                    <a:pt x="25756" y="0"/>
                  </a:cubicBezTo>
                  <a:close/>
                </a:path>
              </a:pathLst>
            </a:custGeom>
            <a:ln w="25400" cap="rnd">
              <a:solidFill>
                <a:srgbClr val="4F785F"/>
              </a:solidFill>
              <a:prstDash val="solid"/>
              <a:round/>
            </a:ln>
          </p:spPr>
        </p:sp>
        <p:sp>
          <p:nvSpPr>
            <p:cNvPr name="TextBox 8" id="8"/>
            <p:cNvSpPr txBox="true"/>
            <p:nvPr/>
          </p:nvSpPr>
          <p:spPr>
            <a:xfrm>
              <a:off x="0" y="-31750"/>
              <a:ext cx="1319458" cy="551759"/>
            </a:xfrm>
            <a:prstGeom prst="rect">
              <a:avLst/>
            </a:prstGeom>
          </p:spPr>
          <p:txBody>
            <a:bodyPr anchor="ctr" rtlCol="false" tIns="33867" lIns="33867" bIns="33867" rIns="33867"/>
            <a:lstStyle/>
            <a:p>
              <a:pPr algn="ctr">
                <a:lnSpc>
                  <a:spcPts val="1725"/>
                </a:lnSpc>
              </a:pPr>
            </a:p>
          </p:txBody>
        </p:sp>
      </p:grpSp>
      <p:grpSp>
        <p:nvGrpSpPr>
          <p:cNvPr name="Group 9" id="9"/>
          <p:cNvGrpSpPr/>
          <p:nvPr/>
        </p:nvGrpSpPr>
        <p:grpSpPr>
          <a:xfrm rot="0">
            <a:off x="1031275" y="4051860"/>
            <a:ext cx="5009817" cy="1974409"/>
            <a:chOff x="0" y="0"/>
            <a:chExt cx="1319458" cy="520009"/>
          </a:xfrm>
        </p:grpSpPr>
        <p:sp>
          <p:nvSpPr>
            <p:cNvPr name="Freeform 10" id="10"/>
            <p:cNvSpPr/>
            <p:nvPr/>
          </p:nvSpPr>
          <p:spPr>
            <a:xfrm flipH="false" flipV="false" rot="0">
              <a:off x="0" y="0"/>
              <a:ext cx="1319458" cy="520009"/>
            </a:xfrm>
            <a:custGeom>
              <a:avLst/>
              <a:gdLst/>
              <a:ahLst/>
              <a:cxnLst/>
              <a:rect r="r" b="b" t="t" l="l"/>
              <a:pathLst>
                <a:path h="780013" w="1979187">
                  <a:moveTo>
                    <a:pt x="25756" y="0"/>
                  </a:moveTo>
                  <a:lnTo>
                    <a:pt x="1953431" y="0"/>
                  </a:lnTo>
                  <a:cubicBezTo>
                    <a:pt x="1967656" y="0"/>
                    <a:pt x="1979187" y="11531"/>
                    <a:pt x="1979187" y="25756"/>
                  </a:cubicBezTo>
                  <a:lnTo>
                    <a:pt x="1979187" y="754258"/>
                  </a:lnTo>
                  <a:cubicBezTo>
                    <a:pt x="1979187" y="768482"/>
                    <a:pt x="1967656" y="780013"/>
                    <a:pt x="1953431" y="780013"/>
                  </a:cubicBezTo>
                  <a:lnTo>
                    <a:pt x="25756" y="780013"/>
                  </a:lnTo>
                  <a:cubicBezTo>
                    <a:pt x="11531" y="780013"/>
                    <a:pt x="0" y="768482"/>
                    <a:pt x="0" y="754258"/>
                  </a:cubicBezTo>
                  <a:lnTo>
                    <a:pt x="0" y="25756"/>
                  </a:lnTo>
                  <a:cubicBezTo>
                    <a:pt x="0" y="11531"/>
                    <a:pt x="11531" y="0"/>
                    <a:pt x="25756" y="0"/>
                  </a:cubicBezTo>
                  <a:close/>
                </a:path>
              </a:pathLst>
            </a:custGeom>
            <a:ln w="25400" cap="rnd">
              <a:solidFill>
                <a:srgbClr val="A39D9D"/>
              </a:solidFill>
              <a:prstDash val="solid"/>
              <a:round/>
            </a:ln>
          </p:spPr>
        </p:sp>
        <p:sp>
          <p:nvSpPr>
            <p:cNvPr name="TextBox 11" id="11"/>
            <p:cNvSpPr txBox="true"/>
            <p:nvPr/>
          </p:nvSpPr>
          <p:spPr>
            <a:xfrm>
              <a:off x="0" y="-31750"/>
              <a:ext cx="1319458" cy="551759"/>
            </a:xfrm>
            <a:prstGeom prst="rect">
              <a:avLst/>
            </a:prstGeom>
          </p:spPr>
          <p:txBody>
            <a:bodyPr anchor="ctr" rtlCol="false" tIns="33867" lIns="33867" bIns="33867" rIns="33867"/>
            <a:lstStyle/>
            <a:p>
              <a:pPr algn="ctr">
                <a:lnSpc>
                  <a:spcPts val="1725"/>
                </a:lnSpc>
              </a:pPr>
            </a:p>
          </p:txBody>
        </p:sp>
      </p:grpSp>
      <p:grpSp>
        <p:nvGrpSpPr>
          <p:cNvPr name="Group 12" id="12"/>
          <p:cNvGrpSpPr/>
          <p:nvPr/>
        </p:nvGrpSpPr>
        <p:grpSpPr>
          <a:xfrm rot="0">
            <a:off x="6152136" y="1933474"/>
            <a:ext cx="5009817" cy="1974409"/>
            <a:chOff x="0" y="0"/>
            <a:chExt cx="1319458" cy="520009"/>
          </a:xfrm>
        </p:grpSpPr>
        <p:sp>
          <p:nvSpPr>
            <p:cNvPr name="Freeform 13" id="13"/>
            <p:cNvSpPr/>
            <p:nvPr/>
          </p:nvSpPr>
          <p:spPr>
            <a:xfrm flipH="false" flipV="false" rot="0">
              <a:off x="0" y="0"/>
              <a:ext cx="1319458" cy="520009"/>
            </a:xfrm>
            <a:custGeom>
              <a:avLst/>
              <a:gdLst/>
              <a:ahLst/>
              <a:cxnLst/>
              <a:rect r="r" b="b" t="t" l="l"/>
              <a:pathLst>
                <a:path h="780013" w="1979187">
                  <a:moveTo>
                    <a:pt x="25756" y="0"/>
                  </a:moveTo>
                  <a:lnTo>
                    <a:pt x="1953431" y="0"/>
                  </a:lnTo>
                  <a:cubicBezTo>
                    <a:pt x="1967656" y="0"/>
                    <a:pt x="1979187" y="11531"/>
                    <a:pt x="1979187" y="25756"/>
                  </a:cubicBezTo>
                  <a:lnTo>
                    <a:pt x="1979187" y="754258"/>
                  </a:lnTo>
                  <a:cubicBezTo>
                    <a:pt x="1979187" y="768482"/>
                    <a:pt x="1967656" y="780013"/>
                    <a:pt x="1953431" y="780013"/>
                  </a:cubicBezTo>
                  <a:lnTo>
                    <a:pt x="25756" y="780013"/>
                  </a:lnTo>
                  <a:cubicBezTo>
                    <a:pt x="11531" y="780013"/>
                    <a:pt x="0" y="768482"/>
                    <a:pt x="0" y="754258"/>
                  </a:cubicBezTo>
                  <a:lnTo>
                    <a:pt x="0" y="25756"/>
                  </a:lnTo>
                  <a:cubicBezTo>
                    <a:pt x="0" y="11531"/>
                    <a:pt x="11531" y="0"/>
                    <a:pt x="25756" y="0"/>
                  </a:cubicBezTo>
                  <a:close/>
                </a:path>
              </a:pathLst>
            </a:custGeom>
            <a:ln w="25400" cap="rnd">
              <a:solidFill>
                <a:srgbClr val="A39D9D"/>
              </a:solidFill>
              <a:prstDash val="solid"/>
              <a:round/>
            </a:ln>
          </p:spPr>
        </p:sp>
        <p:sp>
          <p:nvSpPr>
            <p:cNvPr name="TextBox 14" id="14"/>
            <p:cNvSpPr txBox="true"/>
            <p:nvPr/>
          </p:nvSpPr>
          <p:spPr>
            <a:xfrm>
              <a:off x="0" y="-31750"/>
              <a:ext cx="1319458" cy="551759"/>
            </a:xfrm>
            <a:prstGeom prst="rect">
              <a:avLst/>
            </a:prstGeom>
          </p:spPr>
          <p:txBody>
            <a:bodyPr anchor="ctr" rtlCol="false" tIns="33867" lIns="33867" bIns="33867" rIns="33867"/>
            <a:lstStyle/>
            <a:p>
              <a:pPr algn="ctr">
                <a:lnSpc>
                  <a:spcPts val="1725"/>
                </a:lnSpc>
              </a:pPr>
            </a:p>
          </p:txBody>
        </p:sp>
      </p:grpSp>
      <p:grpSp>
        <p:nvGrpSpPr>
          <p:cNvPr name="Group 15" id="15"/>
          <p:cNvGrpSpPr/>
          <p:nvPr/>
        </p:nvGrpSpPr>
        <p:grpSpPr>
          <a:xfrm rot="0">
            <a:off x="6152136" y="4051860"/>
            <a:ext cx="5009817" cy="1974409"/>
            <a:chOff x="0" y="0"/>
            <a:chExt cx="1319458" cy="520009"/>
          </a:xfrm>
        </p:grpSpPr>
        <p:sp>
          <p:nvSpPr>
            <p:cNvPr name="Freeform 16" id="16"/>
            <p:cNvSpPr/>
            <p:nvPr/>
          </p:nvSpPr>
          <p:spPr>
            <a:xfrm flipH="false" flipV="false" rot="0">
              <a:off x="0" y="0"/>
              <a:ext cx="1319458" cy="520009"/>
            </a:xfrm>
            <a:custGeom>
              <a:avLst/>
              <a:gdLst/>
              <a:ahLst/>
              <a:cxnLst/>
              <a:rect r="r" b="b" t="t" l="l"/>
              <a:pathLst>
                <a:path h="780013" w="1979187">
                  <a:moveTo>
                    <a:pt x="25756" y="0"/>
                  </a:moveTo>
                  <a:lnTo>
                    <a:pt x="1953431" y="0"/>
                  </a:lnTo>
                  <a:cubicBezTo>
                    <a:pt x="1967656" y="0"/>
                    <a:pt x="1979187" y="11531"/>
                    <a:pt x="1979187" y="25756"/>
                  </a:cubicBezTo>
                  <a:lnTo>
                    <a:pt x="1979187" y="754258"/>
                  </a:lnTo>
                  <a:cubicBezTo>
                    <a:pt x="1979187" y="768482"/>
                    <a:pt x="1967656" y="780013"/>
                    <a:pt x="1953431" y="780013"/>
                  </a:cubicBezTo>
                  <a:lnTo>
                    <a:pt x="25756" y="780013"/>
                  </a:lnTo>
                  <a:cubicBezTo>
                    <a:pt x="11531" y="780013"/>
                    <a:pt x="0" y="768482"/>
                    <a:pt x="0" y="754258"/>
                  </a:cubicBezTo>
                  <a:lnTo>
                    <a:pt x="0" y="25756"/>
                  </a:lnTo>
                  <a:cubicBezTo>
                    <a:pt x="0" y="11531"/>
                    <a:pt x="11531" y="0"/>
                    <a:pt x="25756" y="0"/>
                  </a:cubicBezTo>
                  <a:close/>
                </a:path>
              </a:pathLst>
            </a:custGeom>
            <a:ln w="25400" cap="rnd">
              <a:solidFill>
                <a:srgbClr val="4F785F"/>
              </a:solidFill>
              <a:prstDash val="solid"/>
              <a:round/>
            </a:ln>
          </p:spPr>
        </p:sp>
        <p:sp>
          <p:nvSpPr>
            <p:cNvPr name="TextBox 17" id="17"/>
            <p:cNvSpPr txBox="true"/>
            <p:nvPr/>
          </p:nvSpPr>
          <p:spPr>
            <a:xfrm>
              <a:off x="0" y="-31750"/>
              <a:ext cx="1319458" cy="551759"/>
            </a:xfrm>
            <a:prstGeom prst="rect">
              <a:avLst/>
            </a:prstGeom>
          </p:spPr>
          <p:txBody>
            <a:bodyPr anchor="ctr" rtlCol="false" tIns="33867" lIns="33867" bIns="33867" rIns="33867"/>
            <a:lstStyle/>
            <a:p>
              <a:pPr algn="ctr">
                <a:lnSpc>
                  <a:spcPts val="1725"/>
                </a:lnSpc>
              </a:pPr>
            </a:p>
          </p:txBody>
        </p:sp>
      </p:grpSp>
      <p:sp>
        <p:nvSpPr>
          <p:cNvPr name="TextBox 18" id="18"/>
          <p:cNvSpPr txBox="true"/>
          <p:nvPr/>
        </p:nvSpPr>
        <p:spPr>
          <a:xfrm rot="0">
            <a:off x="2876256" y="2812682"/>
            <a:ext cx="2660601" cy="538451"/>
          </a:xfrm>
          <a:prstGeom prst="rect">
            <a:avLst/>
          </a:prstGeom>
        </p:spPr>
        <p:txBody>
          <a:bodyPr anchor="t" rtlCol="false" tIns="0" lIns="0" bIns="0" rIns="0">
            <a:spAutoFit/>
          </a:bodyPr>
          <a:lstStyle/>
          <a:p>
            <a:pPr algn="l" marL="0" indent="0" lvl="0">
              <a:lnSpc>
                <a:spcPts val="2160"/>
              </a:lnSpc>
            </a:pPr>
            <a:r>
              <a:rPr lang="en-US" sz="1500" spc="-52">
                <a:solidFill>
                  <a:srgbClr val="333333">
                    <a:alpha val="80000"/>
                  </a:srgbClr>
                </a:solidFill>
                <a:latin typeface="JASO Sans"/>
                <a:ea typeface="JASO Sans"/>
                <a:cs typeface="JASO Sans"/>
                <a:sym typeface="JASO Sans"/>
              </a:rPr>
              <a:t>설치된 구성요소·버전을</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식별해 SPDX 2.3으로 저장</a:t>
            </a:r>
          </a:p>
        </p:txBody>
      </p:sp>
      <p:sp>
        <p:nvSpPr>
          <p:cNvPr name="TextBox 19" id="19"/>
          <p:cNvSpPr txBox="true"/>
          <p:nvPr/>
        </p:nvSpPr>
        <p:spPr>
          <a:xfrm rot="0">
            <a:off x="2876256" y="4931068"/>
            <a:ext cx="2660601" cy="811486"/>
          </a:xfrm>
          <a:prstGeom prst="rect">
            <a:avLst/>
          </a:prstGeom>
        </p:spPr>
        <p:txBody>
          <a:bodyPr anchor="t" rtlCol="false" tIns="0" lIns="0" bIns="0" rIns="0">
            <a:spAutoFit/>
          </a:bodyPr>
          <a:lstStyle/>
          <a:p>
            <a:pPr algn="l" marL="0" indent="0" lvl="0">
              <a:lnSpc>
                <a:spcPts val="2160"/>
              </a:lnSpc>
            </a:pPr>
            <a:r>
              <a:rPr lang="en-US" sz="1500" spc="-52">
                <a:solidFill>
                  <a:srgbClr val="333333">
                    <a:alpha val="80000"/>
                  </a:srgbClr>
                </a:solidFill>
                <a:latin typeface="JASO Sans"/>
                <a:ea typeface="JASO Sans"/>
                <a:cs typeface="JASO Sans"/>
                <a:sym typeface="JASO Sans"/>
              </a:rPr>
              <a:t>결과를 고객사·사이트·자산에</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연결해 영향받는 서버 표시</a:t>
            </a:r>
          </a:p>
        </p:txBody>
      </p:sp>
      <p:sp>
        <p:nvSpPr>
          <p:cNvPr name="TextBox 20" id="20"/>
          <p:cNvSpPr txBox="true"/>
          <p:nvPr/>
        </p:nvSpPr>
        <p:spPr>
          <a:xfrm rot="0">
            <a:off x="8062442" y="2812682"/>
            <a:ext cx="2660601" cy="811486"/>
          </a:xfrm>
          <a:prstGeom prst="rect">
            <a:avLst/>
          </a:prstGeom>
        </p:spPr>
        <p:txBody>
          <a:bodyPr anchor="t" rtlCol="false" tIns="0" lIns="0" bIns="0" rIns="0">
            <a:spAutoFit/>
          </a:bodyPr>
          <a:lstStyle/>
          <a:p>
            <a:pPr algn="l" marL="0" indent="0" lvl="0">
              <a:lnSpc>
                <a:spcPts val="2160"/>
              </a:lnSpc>
            </a:pPr>
            <a:r>
              <a:rPr lang="en-US" sz="1500" spc="-52">
                <a:solidFill>
                  <a:srgbClr val="333333">
                    <a:alpha val="80000"/>
                  </a:srgbClr>
                </a:solidFill>
                <a:latin typeface="JASO Sans"/>
                <a:ea typeface="JASO Sans"/>
                <a:cs typeface="JASO Sans"/>
                <a:sym typeface="JASO Sans"/>
              </a:rPr>
              <a:t>알려진 취약점과 대조해</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CVE와 수정 버전 확인</a:t>
            </a:r>
          </a:p>
        </p:txBody>
      </p:sp>
      <p:sp>
        <p:nvSpPr>
          <p:cNvPr name="TextBox 21" id="21"/>
          <p:cNvSpPr txBox="true"/>
          <p:nvPr/>
        </p:nvSpPr>
        <p:spPr>
          <a:xfrm rot="0">
            <a:off x="7997117" y="4931068"/>
            <a:ext cx="2660601" cy="538451"/>
          </a:xfrm>
          <a:prstGeom prst="rect">
            <a:avLst/>
          </a:prstGeom>
        </p:spPr>
        <p:txBody>
          <a:bodyPr anchor="t" rtlCol="false" tIns="0" lIns="0" bIns="0" rIns="0">
            <a:spAutoFit/>
          </a:bodyPr>
          <a:lstStyle/>
          <a:p>
            <a:pPr algn="l" marL="0" indent="0" lvl="0">
              <a:lnSpc>
                <a:spcPts val="2160"/>
              </a:lnSpc>
            </a:pPr>
            <a:r>
              <a:rPr lang="en-US" sz="1500" spc="-52">
                <a:solidFill>
                  <a:srgbClr val="333333">
                    <a:alpha val="80000"/>
                  </a:srgbClr>
                </a:solidFill>
                <a:latin typeface="JASO Sans"/>
                <a:ea typeface="JASO Sans"/>
                <a:cs typeface="JASO Sans"/>
                <a:sym typeface="JASO Sans"/>
              </a:rPr>
              <a:t>담당자·기한·상태·이력을</a:t>
            </a:r>
            <a:br>
              <a:rPr lang="en-US" sz="1500" spc="-52">
                <a:solidFill>
                  <a:srgbClr val="333333">
                    <a:alpha val="80000"/>
                  </a:srgbClr>
                </a:solidFill>
                <a:latin typeface="JASO Sans"/>
                <a:ea typeface="JASO Sans"/>
                <a:cs typeface="JASO Sans"/>
                <a:sym typeface="JASO Sans"/>
              </a:rPr>
            </a:br>
            <a:r>
              <a:rPr lang="en-US" sz="1500" spc="-52">
                <a:solidFill>
                  <a:srgbClr val="333333">
                    <a:alpha val="80000"/>
                  </a:srgbClr>
                </a:solidFill>
                <a:latin typeface="JASO Sans"/>
                <a:ea typeface="JASO Sans"/>
                <a:cs typeface="JASO Sans"/>
                <a:sym typeface="JASO Sans"/>
              </a:rPr>
              <a:t>기록하고 재분석 결과 비교</a:t>
            </a:r>
          </a:p>
        </p:txBody>
      </p:sp>
      <p:sp>
        <p:nvSpPr>
          <p:cNvPr name="TextBox 22" id="22"/>
          <p:cNvSpPr txBox="true"/>
          <p:nvPr/>
        </p:nvSpPr>
        <p:spPr>
          <a:xfrm rot="0">
            <a:off x="2876256" y="2381428"/>
            <a:ext cx="3071214" cy="373831"/>
          </a:xfrm>
          <a:prstGeom prst="rect">
            <a:avLst/>
          </a:prstGeom>
        </p:spPr>
        <p:txBody>
          <a:bodyPr anchor="t" rtlCol="false" tIns="0" lIns="0" bIns="0" rIns="0">
            <a:spAutoFit/>
          </a:bodyPr>
          <a:lstStyle/>
          <a:p>
            <a:pPr algn="l" marL="0" indent="0" lvl="0">
              <a:lnSpc>
                <a:spcPts val="3166"/>
              </a:lnSpc>
              <a:spcBef>
                <a:spcPct val="0"/>
              </a:spcBef>
            </a:pPr>
            <a:r>
              <a:rPr lang="en-US" b="true" sz="1966" spc="-69">
                <a:solidFill>
                  <a:srgbClr val="4F785F"/>
                </a:solidFill>
                <a:latin typeface="JASO Sans Bold"/>
                <a:ea typeface="JASO Sans Bold"/>
                <a:cs typeface="JASO Sans Bold"/>
                <a:sym typeface="JASO Sans Bold"/>
              </a:rPr>
              <a:t>SBOM 생성</a:t>
            </a:r>
          </a:p>
        </p:txBody>
      </p:sp>
      <p:sp>
        <p:nvSpPr>
          <p:cNvPr name="TextBox 23" id="23"/>
          <p:cNvSpPr txBox="true"/>
          <p:nvPr/>
        </p:nvSpPr>
        <p:spPr>
          <a:xfrm rot="0">
            <a:off x="2876256" y="4499815"/>
            <a:ext cx="3071214" cy="373831"/>
          </a:xfrm>
          <a:prstGeom prst="rect">
            <a:avLst/>
          </a:prstGeom>
        </p:spPr>
        <p:txBody>
          <a:bodyPr anchor="t" rtlCol="false" tIns="0" lIns="0" bIns="0" rIns="0">
            <a:spAutoFit/>
          </a:bodyPr>
          <a:lstStyle/>
          <a:p>
            <a:pPr algn="l" marL="0" indent="0" lvl="0">
              <a:lnSpc>
                <a:spcPts val="3166"/>
              </a:lnSpc>
              <a:spcBef>
                <a:spcPct val="0"/>
              </a:spcBef>
            </a:pPr>
            <a:r>
              <a:rPr lang="en-US" b="true" sz="1966" spc="-69">
                <a:solidFill>
                  <a:srgbClr val="A39D9D"/>
                </a:solidFill>
                <a:latin typeface="JASO Sans Bold"/>
                <a:ea typeface="JASO Sans Bold"/>
                <a:cs typeface="JASO Sans Bold"/>
                <a:sym typeface="JASO Sans Bold"/>
              </a:rPr>
              <a:t>자산 연결</a:t>
            </a:r>
          </a:p>
        </p:txBody>
      </p:sp>
      <p:sp>
        <p:nvSpPr>
          <p:cNvPr name="TextBox 24" id="24"/>
          <p:cNvSpPr txBox="true"/>
          <p:nvPr/>
        </p:nvSpPr>
        <p:spPr>
          <a:xfrm rot="0">
            <a:off x="7997117" y="2381428"/>
            <a:ext cx="3071214" cy="373831"/>
          </a:xfrm>
          <a:prstGeom prst="rect">
            <a:avLst/>
          </a:prstGeom>
        </p:spPr>
        <p:txBody>
          <a:bodyPr anchor="t" rtlCol="false" tIns="0" lIns="0" bIns="0" rIns="0">
            <a:spAutoFit/>
          </a:bodyPr>
          <a:lstStyle/>
          <a:p>
            <a:pPr algn="l" marL="0" indent="0" lvl="0">
              <a:lnSpc>
                <a:spcPts val="3166"/>
              </a:lnSpc>
              <a:spcBef>
                <a:spcPct val="0"/>
              </a:spcBef>
            </a:pPr>
            <a:r>
              <a:rPr lang="en-US" b="true" sz="1966" spc="-69">
                <a:solidFill>
                  <a:srgbClr val="A39D9D"/>
                </a:solidFill>
                <a:latin typeface="JASO Sans Bold"/>
                <a:ea typeface="JASO Sans Bold"/>
                <a:cs typeface="JASO Sans Bold"/>
                <a:sym typeface="JASO Sans Bold"/>
              </a:rPr>
              <a:t>취약점 분석</a:t>
            </a:r>
          </a:p>
        </p:txBody>
      </p:sp>
      <p:sp>
        <p:nvSpPr>
          <p:cNvPr name="TextBox 25" id="25"/>
          <p:cNvSpPr txBox="true"/>
          <p:nvPr/>
        </p:nvSpPr>
        <p:spPr>
          <a:xfrm rot="0">
            <a:off x="7997117" y="4499815"/>
            <a:ext cx="3071214" cy="373831"/>
          </a:xfrm>
          <a:prstGeom prst="rect">
            <a:avLst/>
          </a:prstGeom>
        </p:spPr>
        <p:txBody>
          <a:bodyPr anchor="t" rtlCol="false" tIns="0" lIns="0" bIns="0" rIns="0">
            <a:spAutoFit/>
          </a:bodyPr>
          <a:lstStyle/>
          <a:p>
            <a:pPr algn="l" marL="0" indent="0" lvl="0">
              <a:lnSpc>
                <a:spcPts val="3166"/>
              </a:lnSpc>
              <a:spcBef>
                <a:spcPct val="0"/>
              </a:spcBef>
            </a:pPr>
            <a:r>
              <a:rPr lang="en-US" b="true" sz="1966" spc="-69">
                <a:solidFill>
                  <a:srgbClr val="4F785F"/>
                </a:solidFill>
                <a:latin typeface="JASO Sans Bold"/>
                <a:ea typeface="JASO Sans Bold"/>
                <a:cs typeface="JASO Sans Bold"/>
                <a:sym typeface="JASO Sans Bold"/>
              </a:rPr>
              <a:t>조치 관리</a:t>
            </a:r>
          </a:p>
        </p:txBody>
      </p:sp>
      <p:sp>
        <p:nvSpPr>
          <p:cNvPr name="Freeform 26" id="26"/>
          <p:cNvSpPr/>
          <p:nvPr/>
        </p:nvSpPr>
        <p:spPr>
          <a:xfrm flipH="false" flipV="false" rot="0">
            <a:off x="1636765" y="2463978"/>
            <a:ext cx="771121" cy="811707"/>
          </a:xfrm>
          <a:custGeom>
            <a:avLst/>
            <a:gdLst/>
            <a:ahLst/>
            <a:cxnLst/>
            <a:rect r="r" b="b" t="t" l="l"/>
            <a:pathLst>
              <a:path h="1217560" w="1156682">
                <a:moveTo>
                  <a:pt x="0" y="0"/>
                </a:moveTo>
                <a:lnTo>
                  <a:pt x="1156682" y="0"/>
                </a:lnTo>
                <a:lnTo>
                  <a:pt x="1156682" y="1217560"/>
                </a:lnTo>
                <a:lnTo>
                  <a:pt x="0" y="1217560"/>
                </a:lnTo>
                <a:lnTo>
                  <a:pt x="0" y="0"/>
                </a:lnTo>
                <a:close/>
              </a:path>
            </a:pathLst>
          </a:custGeom>
          <a:blipFill>
            <a:blip r:embed="rIdBase7_rId4">
              <a:extLst>
                <a:ext uri="{96DAC541-7B7A-43D3-8B79-37D633B846F1}">
                  <asvg:svgBlip xmlns:asvg="http://schemas.microsoft.com/office/drawing/2016/SVG/main" r:embed="rIdBase7_rId5"/>
                </a:ext>
              </a:extLst>
            </a:blip>
            <a:stretch>
              <a:fillRect l="0" t="0" r="0" b="0"/>
            </a:stretch>
          </a:blipFill>
        </p:spPr>
      </p:sp>
      <p:sp>
        <p:nvSpPr>
          <p:cNvPr name="Freeform 27" id="27"/>
          <p:cNvSpPr/>
          <p:nvPr/>
        </p:nvSpPr>
        <p:spPr>
          <a:xfrm flipH="false" flipV="false" rot="0">
            <a:off x="6847653" y="4724831"/>
            <a:ext cx="681095" cy="533808"/>
          </a:xfrm>
          <a:custGeom>
            <a:avLst/>
            <a:gdLst/>
            <a:ahLst/>
            <a:cxnLst/>
            <a:rect r="r" b="b" t="t" l="l"/>
            <a:pathLst>
              <a:path h="800712" w="1021642">
                <a:moveTo>
                  <a:pt x="0" y="0"/>
                </a:moveTo>
                <a:lnTo>
                  <a:pt x="1021641" y="0"/>
                </a:lnTo>
                <a:lnTo>
                  <a:pt x="1021641" y="800712"/>
                </a:lnTo>
                <a:lnTo>
                  <a:pt x="0" y="800712"/>
                </a:lnTo>
                <a:lnTo>
                  <a:pt x="0" y="0"/>
                </a:lnTo>
                <a:close/>
              </a:path>
            </a:pathLst>
          </a:custGeom>
          <a:blipFill>
            <a:blip r:embed="rIdBase7_rId6">
              <a:extLst>
                <a:ext uri="{96DAC541-7B7A-43D3-8B79-37D633B846F1}">
                  <asvg:svgBlip xmlns:asvg="http://schemas.microsoft.com/office/drawing/2016/SVG/main" r:embed="rIdBase7_rId7"/>
                </a:ext>
              </a:extLst>
            </a:blip>
            <a:stretch>
              <a:fillRect l="0" t="0" r="0" b="0"/>
            </a:stretch>
          </a:blipFill>
        </p:spPr>
      </p:sp>
      <p:sp>
        <p:nvSpPr>
          <p:cNvPr name="Freeform 28" id="28"/>
          <p:cNvSpPr/>
          <p:nvPr/>
        </p:nvSpPr>
        <p:spPr>
          <a:xfrm flipH="false" flipV="false" rot="0">
            <a:off x="1590219" y="4636562"/>
            <a:ext cx="817667" cy="753276"/>
          </a:xfrm>
          <a:custGeom>
            <a:avLst/>
            <a:gdLst/>
            <a:ahLst/>
            <a:cxnLst/>
            <a:rect r="r" b="b" t="t" l="l"/>
            <a:pathLst>
              <a:path h="1129914" w="1226500">
                <a:moveTo>
                  <a:pt x="0" y="0"/>
                </a:moveTo>
                <a:lnTo>
                  <a:pt x="1226501" y="0"/>
                </a:lnTo>
                <a:lnTo>
                  <a:pt x="1226501" y="1129914"/>
                </a:lnTo>
                <a:lnTo>
                  <a:pt x="0" y="1129914"/>
                </a:lnTo>
                <a:lnTo>
                  <a:pt x="0" y="0"/>
                </a:lnTo>
                <a:close/>
              </a:path>
            </a:pathLst>
          </a:custGeom>
          <a:blipFill>
            <a:blip r:embed="rIdBase7_rId8">
              <a:extLst>
                <a:ext uri="{96DAC541-7B7A-43D3-8B79-37D633B846F1}">
                  <asvg:svgBlip xmlns:asvg="http://schemas.microsoft.com/office/drawing/2016/SVG/main" r:embed="rIdBase7_rId9"/>
                </a:ext>
              </a:extLst>
            </a:blip>
            <a:stretch>
              <a:fillRect l="0" t="0" r="0" b="0"/>
            </a:stretch>
          </a:blipFill>
        </p:spPr>
      </p:sp>
      <p:sp>
        <p:nvSpPr>
          <p:cNvPr name="Freeform 29" id="29"/>
          <p:cNvSpPr/>
          <p:nvPr/>
        </p:nvSpPr>
        <p:spPr>
          <a:xfrm flipH="false" flipV="false" rot="0">
            <a:off x="6809241" y="2535212"/>
            <a:ext cx="775931" cy="669241"/>
          </a:xfrm>
          <a:custGeom>
            <a:avLst/>
            <a:gdLst/>
            <a:ahLst/>
            <a:cxnLst/>
            <a:rect r="r" b="b" t="t" l="l"/>
            <a:pathLst>
              <a:path h="1003861" w="1163897">
                <a:moveTo>
                  <a:pt x="0" y="0"/>
                </a:moveTo>
                <a:lnTo>
                  <a:pt x="1163897" y="0"/>
                </a:lnTo>
                <a:lnTo>
                  <a:pt x="1163897" y="1003861"/>
                </a:lnTo>
                <a:lnTo>
                  <a:pt x="0" y="1003861"/>
                </a:lnTo>
                <a:lnTo>
                  <a:pt x="0" y="0"/>
                </a:lnTo>
                <a:close/>
              </a:path>
            </a:pathLst>
          </a:custGeom>
          <a:blipFill>
            <a:blip r:embed="rIdBase7_rId10">
              <a:extLst>
                <a:ext uri="{96DAC541-7B7A-43D3-8B79-37D633B846F1}">
                  <asvg:svgBlip xmlns:asvg="http://schemas.microsoft.com/office/drawing/2016/SVG/main" r:embed="rIdBase7_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showMasterSp="0">
  <p:cSld>
    <p:bg>
      <p:bgPr>
        <a:solidFill>
          <a:srgbClr val="FAF9F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1719046" y="219152"/>
            <a:ext cx="57105" cy="253801"/>
          </a:xfrm>
          <a:custGeom>
            <a:avLst/>
            <a:gdLst/>
            <a:ahLst/>
            <a:cxnLst/>
            <a:rect r="r" b="b" t="t" l="l"/>
            <a:pathLst>
              <a:path h="380702" w="85658">
                <a:moveTo>
                  <a:pt x="0" y="0"/>
                </a:moveTo>
                <a:lnTo>
                  <a:pt x="85658" y="0"/>
                </a:lnTo>
                <a:lnTo>
                  <a:pt x="85658" y="380702"/>
                </a:lnTo>
                <a:lnTo>
                  <a:pt x="0" y="380702"/>
                </a:lnTo>
                <a:lnTo>
                  <a:pt x="0" y="0"/>
                </a:lnTo>
                <a:close/>
              </a:path>
            </a:pathLst>
          </a:custGeom>
          <a:blipFill>
            <a:blip r:embed="rIdBase4_rId2">
              <a:extLst>
                <a:ext uri="{96DAC541-7B7A-43D3-8B79-37D633B846F1}">
                  <asvg:svgBlip xmlns:asvg="http://schemas.microsoft.com/office/drawing/2016/SVG/main" r:embed="rIdBase4_rId3"/>
                </a:ext>
              </a:extLst>
            </a:blip>
            <a:stretch>
              <a:fillRect l="0" t="0" r="0" b="0"/>
            </a:stretch>
          </a:blipFill>
        </p:spPr>
      </p:sp>
      <p:sp>
        <p:nvSpPr>
          <p:cNvPr name="AutoShape 3" id="3"/>
          <p:cNvSpPr/>
          <p:nvPr/>
        </p:nvSpPr>
        <p:spPr>
          <a:xfrm>
            <a:off x="1031275" y="1427091"/>
            <a:ext cx="486095" cy="0"/>
          </a:xfrm>
          <a:prstGeom prst="line">
            <a:avLst/>
          </a:prstGeom>
          <a:ln cap="rnd" w="50800">
            <a:solidFill>
              <a:srgbClr val="4F785F"/>
            </a:solidFill>
            <a:prstDash val="solid"/>
            <a:headEnd type="none" len="sm" w="sm"/>
            <a:tailEnd type="none" len="sm" w="sm"/>
          </a:ln>
        </p:spPr>
      </p:sp>
      <p:grpSp>
        <p:nvGrpSpPr>
          <p:cNvPr name="Group 4" id="4"/>
          <p:cNvGrpSpPr/>
          <p:nvPr/>
        </p:nvGrpSpPr>
        <p:grpSpPr>
          <a:xfrm rot="0">
            <a:off x="1031275" y="1933474"/>
            <a:ext cx="10130678" cy="1955745"/>
            <a:chOff x="0" y="0"/>
            <a:chExt cx="2668162" cy="515093"/>
          </a:xfrm>
        </p:grpSpPr>
        <p:sp>
          <p:nvSpPr>
            <p:cNvPr name="Freeform 5" id="5"/>
            <p:cNvSpPr/>
            <p:nvPr/>
          </p:nvSpPr>
          <p:spPr>
            <a:xfrm flipH="false" flipV="false" rot="0">
              <a:off x="0" y="0"/>
              <a:ext cx="2668162" cy="515093"/>
            </a:xfrm>
            <a:custGeom>
              <a:avLst/>
              <a:gdLst/>
              <a:ahLst/>
              <a:cxnLst/>
              <a:rect r="r" b="b" t="t" l="l"/>
              <a:pathLst>
                <a:path h="772640" w="4002244">
                  <a:moveTo>
                    <a:pt x="17831" y="0"/>
                  </a:moveTo>
                  <a:lnTo>
                    <a:pt x="3984412" y="0"/>
                  </a:lnTo>
                  <a:cubicBezTo>
                    <a:pt x="3994260" y="0"/>
                    <a:pt x="4002244" y="7983"/>
                    <a:pt x="4002244" y="17831"/>
                  </a:cubicBezTo>
                  <a:lnTo>
                    <a:pt x="4002244" y="754808"/>
                  </a:lnTo>
                  <a:cubicBezTo>
                    <a:pt x="4002244" y="764656"/>
                    <a:pt x="3994260" y="772640"/>
                    <a:pt x="3984412" y="772640"/>
                  </a:cubicBezTo>
                  <a:lnTo>
                    <a:pt x="17831" y="772640"/>
                  </a:lnTo>
                  <a:cubicBezTo>
                    <a:pt x="7983" y="772640"/>
                    <a:pt x="0" y="764656"/>
                    <a:pt x="0" y="754808"/>
                  </a:cubicBezTo>
                  <a:lnTo>
                    <a:pt x="0" y="17831"/>
                  </a:lnTo>
                  <a:cubicBezTo>
                    <a:pt x="0" y="7983"/>
                    <a:pt x="7983" y="0"/>
                    <a:pt x="17831" y="0"/>
                  </a:cubicBezTo>
                  <a:close/>
                </a:path>
              </a:pathLst>
            </a:custGeom>
            <a:solidFill>
              <a:srgbClr val="4F785F"/>
            </a:solidFill>
          </p:spPr>
        </p:sp>
        <p:sp>
          <p:nvSpPr>
            <p:cNvPr name="TextBox 6" id="6"/>
            <p:cNvSpPr txBox="true"/>
            <p:nvPr/>
          </p:nvSpPr>
          <p:spPr>
            <a:xfrm>
              <a:off x="0" y="-31750"/>
              <a:ext cx="2668162" cy="546843"/>
            </a:xfrm>
            <a:prstGeom prst="rect">
              <a:avLst/>
            </a:prstGeom>
          </p:spPr>
          <p:txBody>
            <a:bodyPr anchor="ctr" rtlCol="false" tIns="33867" lIns="33867" bIns="33867" rIns="33867"/>
            <a:lstStyle/>
            <a:p>
              <a:pPr algn="ctr">
                <a:lnSpc>
                  <a:spcPts val="1725"/>
                </a:lnSpc>
              </a:pPr>
            </a:p>
          </p:txBody>
        </p:sp>
      </p:grpSp>
      <p:grpSp>
        <p:nvGrpSpPr>
          <p:cNvPr name="Group 7" id="7"/>
          <p:cNvGrpSpPr/>
          <p:nvPr/>
        </p:nvGrpSpPr>
        <p:grpSpPr>
          <a:xfrm rot="0">
            <a:off x="1031275" y="4070524"/>
            <a:ext cx="10130678" cy="1955745"/>
            <a:chOff x="0" y="0"/>
            <a:chExt cx="2668162" cy="515093"/>
          </a:xfrm>
        </p:grpSpPr>
        <p:sp>
          <p:nvSpPr>
            <p:cNvPr name="Freeform 8" id="8"/>
            <p:cNvSpPr/>
            <p:nvPr/>
          </p:nvSpPr>
          <p:spPr>
            <a:xfrm flipH="false" flipV="false" rot="0">
              <a:off x="0" y="0"/>
              <a:ext cx="2668162" cy="515093"/>
            </a:xfrm>
            <a:custGeom>
              <a:avLst/>
              <a:gdLst/>
              <a:ahLst/>
              <a:cxnLst/>
              <a:rect r="r" b="b" t="t" l="l"/>
              <a:pathLst>
                <a:path h="772640" w="4002244">
                  <a:moveTo>
                    <a:pt x="17831" y="0"/>
                  </a:moveTo>
                  <a:lnTo>
                    <a:pt x="3984412" y="0"/>
                  </a:lnTo>
                  <a:cubicBezTo>
                    <a:pt x="3994260" y="0"/>
                    <a:pt x="4002244" y="7983"/>
                    <a:pt x="4002244" y="17831"/>
                  </a:cubicBezTo>
                  <a:lnTo>
                    <a:pt x="4002244" y="754808"/>
                  </a:lnTo>
                  <a:cubicBezTo>
                    <a:pt x="4002244" y="764656"/>
                    <a:pt x="3994260" y="772640"/>
                    <a:pt x="3984412" y="772640"/>
                  </a:cubicBezTo>
                  <a:lnTo>
                    <a:pt x="17831" y="772640"/>
                  </a:lnTo>
                  <a:cubicBezTo>
                    <a:pt x="7983" y="772640"/>
                    <a:pt x="0" y="764656"/>
                    <a:pt x="0" y="754808"/>
                  </a:cubicBezTo>
                  <a:lnTo>
                    <a:pt x="0" y="17831"/>
                  </a:lnTo>
                  <a:cubicBezTo>
                    <a:pt x="0" y="7983"/>
                    <a:pt x="7983" y="0"/>
                    <a:pt x="17831" y="0"/>
                  </a:cubicBezTo>
                  <a:close/>
                </a:path>
              </a:pathLst>
            </a:custGeom>
            <a:solidFill>
              <a:srgbClr val="A39D9D"/>
            </a:solidFill>
          </p:spPr>
        </p:sp>
        <p:sp>
          <p:nvSpPr>
            <p:cNvPr name="TextBox 9" id="9"/>
            <p:cNvSpPr txBox="true"/>
            <p:nvPr/>
          </p:nvSpPr>
          <p:spPr>
            <a:xfrm>
              <a:off x="0" y="-31750"/>
              <a:ext cx="2668162" cy="546843"/>
            </a:xfrm>
            <a:prstGeom prst="rect">
              <a:avLst/>
            </a:prstGeom>
          </p:spPr>
          <p:txBody>
            <a:bodyPr anchor="ctr" rtlCol="false" tIns="33867" lIns="33867" bIns="33867" rIns="33867"/>
            <a:lstStyle/>
            <a:p>
              <a:pPr algn="ctr">
                <a:lnSpc>
                  <a:spcPts val="1725"/>
                </a:lnSpc>
              </a:pPr>
            </a:p>
          </p:txBody>
        </p:sp>
      </p:grpSp>
      <p:sp>
        <p:nvSpPr>
          <p:cNvPr name="TextBox 10" id="10"/>
          <p:cNvSpPr txBox="true"/>
          <p:nvPr/>
        </p:nvSpPr>
        <p:spPr>
          <a:xfrm rot="0">
            <a:off x="1031275" y="774700"/>
            <a:ext cx="4478222" cy="474779"/>
          </a:xfrm>
          <a:prstGeom prst="rect">
            <a:avLst/>
          </a:prstGeom>
        </p:spPr>
        <p:txBody>
          <a:bodyPr anchor="t" rtlCol="false" tIns="0" lIns="0" bIns="0" rIns="0">
            <a:spAutoFit/>
          </a:bodyPr>
          <a:lstStyle/>
          <a:p>
            <a:pPr algn="l" marL="0" indent="0" lvl="0">
              <a:lnSpc>
                <a:spcPts val="3571"/>
              </a:lnSpc>
            </a:pPr>
            <a:r>
              <a:rPr lang="en-US" sz="3501" spc="-70">
                <a:solidFill>
                  <a:srgbClr val="333333"/>
                </a:solidFill>
                <a:latin typeface="210 옴니고딕"/>
                <a:ea typeface="210 옴니고딕"/>
                <a:cs typeface="210 옴니고딕"/>
                <a:sym typeface="210 옴니고딕"/>
              </a:rPr>
              <a:t>검증 계획과 산출물</a:t>
            </a:r>
          </a:p>
        </p:txBody>
      </p:sp>
      <p:sp>
        <p:nvSpPr>
          <p:cNvPr name="TextBox 11" id="11"/>
          <p:cNvSpPr txBox="true"/>
          <p:nvPr/>
        </p:nvSpPr>
        <p:spPr>
          <a:xfrm rot="0">
            <a:off x="5249444" y="983515"/>
            <a:ext cx="4195680" cy="152429"/>
          </a:xfrm>
          <a:prstGeom prst="rect">
            <a:avLst/>
          </a:prstGeom>
        </p:spPr>
        <p:txBody>
          <a:bodyPr anchor="t" rtlCol="false" tIns="0" lIns="0" bIns="0" rIns="0">
            <a:spAutoFit/>
          </a:bodyPr>
          <a:lstStyle/>
          <a:p>
            <a:pPr algn="l" marL="0" indent="0" lvl="1">
              <a:lnSpc>
                <a:spcPts val="1240"/>
              </a:lnSpc>
              <a:spcBef>
                <a:spcPct val="0"/>
              </a:spcBef>
            </a:pPr>
            <a:r>
              <a:rPr lang="en-US" sz="1033" spc="-17" strike="noStrike" u="none">
                <a:solidFill>
                  <a:srgbClr val="333333">
                    <a:alpha val="53725"/>
                  </a:srgbClr>
                </a:solidFill>
                <a:latin typeface="JASO Sans"/>
                <a:ea typeface="JASO Sans"/>
                <a:cs typeface="JASO Sans"/>
                <a:sym typeface="JASO Sans"/>
              </a:rPr>
              <a:t>시범 환경에서 기능을 확인하고, 검토 가능한 결과물 제공</a:t>
            </a:r>
          </a:p>
        </p:txBody>
      </p:sp>
      <p:sp>
        <p:nvSpPr>
          <p:cNvPr name="TextBox 12" id="12"/>
          <p:cNvSpPr txBox="true"/>
          <p:nvPr/>
        </p:nvSpPr>
        <p:spPr>
          <a:xfrm rot="0">
            <a:off x="5232410" y="2366538"/>
            <a:ext cx="5352644" cy="988016"/>
          </a:xfrm>
          <a:prstGeom prst="rect">
            <a:avLst/>
          </a:prstGeom>
        </p:spPr>
        <p:txBody>
          <a:bodyPr anchor="t" rtlCol="false" tIns="0" lIns="0" bIns="0" rIns="0">
            <a:spAutoFit/>
          </a:bodyPr>
          <a:lstStyle/>
          <a:p>
            <a:pPr algn="l">
              <a:lnSpc>
                <a:spcPts val="2669"/>
              </a:lnSpc>
            </a:pPr>
            <a:r>
              <a:rPr lang="en-US" sz="1500" spc="-45">
                <a:solidFill>
                  <a:srgbClr val="FAF9F9"/>
                </a:solidFill>
                <a:latin typeface="JASO Sans"/>
                <a:ea typeface="JASO Sans"/>
                <a:cs typeface="JASO Sans"/>
                <a:sym typeface="JASO Sans"/>
              </a:rPr>
              <a:t>환경 구성: 관리 서버와 점검 대상 서버로 시범 환경 준비</a:t>
            </a:r>
            <a:br>
              <a:rPr lang="en-US" sz="1500" spc="-45">
                <a:solidFill>
                  <a:srgbClr val="FAF9F9"/>
                </a:solidFill>
                <a:latin typeface="JASO Sans"/>
                <a:ea typeface="JASO Sans"/>
                <a:cs typeface="JASO Sans"/>
                <a:sym typeface="JASO Sans"/>
              </a:rPr>
            </a:br>
            <a:r>
              <a:rPr lang="en-US" sz="1500" spc="-45">
                <a:solidFill>
                  <a:srgbClr val="FAF9F9"/>
                </a:solidFill>
                <a:latin typeface="JASO Sans"/>
                <a:ea typeface="JASO Sans"/>
                <a:cs typeface="JASO Sans"/>
                <a:sym typeface="JASO Sans"/>
              </a:rPr>
              <a:t>기본 확인: 구성요소 수집 결과와 자산 연결의 정확성 점검</a:t>
            </a:r>
            <a:br>
              <a:rPr lang="en-US" sz="1500" spc="-45">
                <a:solidFill>
                  <a:srgbClr val="FAF9F9"/>
                </a:solidFill>
                <a:latin typeface="JASO Sans"/>
                <a:ea typeface="JASO Sans"/>
                <a:cs typeface="JASO Sans"/>
                <a:sym typeface="JASO Sans"/>
              </a:rPr>
            </a:br>
            <a:r>
              <a:rPr lang="en-US" sz="1500" spc="-45">
                <a:solidFill>
                  <a:srgbClr val="FAF9F9"/>
                </a:solidFill>
                <a:latin typeface="JASO Sans"/>
                <a:ea typeface="JASO Sans"/>
                <a:cs typeface="JASO Sans"/>
                <a:sym typeface="JASO Sans"/>
              </a:rPr>
              <a:t>변경 확인: 업데이트 전후 비교와 조치 이력·보고서 확인</a:t>
            </a:r>
          </a:p>
        </p:txBody>
      </p:sp>
      <p:sp>
        <p:nvSpPr>
          <p:cNvPr name="TextBox 13" id="13"/>
          <p:cNvSpPr txBox="true"/>
          <p:nvPr/>
        </p:nvSpPr>
        <p:spPr>
          <a:xfrm rot="0">
            <a:off x="5232410" y="4503589"/>
            <a:ext cx="5352644" cy="1324551"/>
          </a:xfrm>
          <a:prstGeom prst="rect">
            <a:avLst/>
          </a:prstGeom>
        </p:spPr>
        <p:txBody>
          <a:bodyPr anchor="t" rtlCol="false" tIns="0" lIns="0" bIns="0" rIns="0">
            <a:spAutoFit/>
          </a:bodyPr>
          <a:lstStyle/>
          <a:p>
            <a:pPr algn="l">
              <a:lnSpc>
                <a:spcPts val="2669"/>
              </a:lnSpc>
            </a:pPr>
            <a:r>
              <a:rPr lang="en-US" sz="1500" spc="-45" strike="noStrike" u="none">
                <a:solidFill>
                  <a:srgbClr val="FAF9F9"/>
                </a:solidFill>
                <a:latin typeface="JASO Sans"/>
                <a:ea typeface="JASO Sans"/>
                <a:cs typeface="JASO Sans"/>
                <a:sym typeface="JASO Sans"/>
              </a:rPr>
              <a:t>웹 시제품: 자산·분석 결과·담당자 조치를 확인하는 관리 화면</a:t>
            </a:r>
            <a:br>
              <a:rPr lang="en-US" sz="1500" spc="-45" strike="noStrike" u="none">
                <a:solidFill>
                  <a:srgbClr val="FAF9F9"/>
                </a:solidFill>
                <a:latin typeface="JASO Sans"/>
                <a:ea typeface="JASO Sans"/>
                <a:cs typeface="JASO Sans"/>
                <a:sym typeface="JASO Sans"/>
              </a:rPr>
            </a:br>
            <a:r>
              <a:rPr lang="en-US" sz="1500" spc="-45" strike="noStrike" u="none">
                <a:solidFill>
                  <a:srgbClr val="FAF9F9"/>
                </a:solidFill>
                <a:latin typeface="JASO Sans"/>
                <a:ea typeface="JASO Sans"/>
                <a:cs typeface="JASO Sans"/>
                <a:sym typeface="JASO Sans"/>
              </a:rPr>
              <a:t>보고 자료: 구성요소 목록과 조치 전후 비교 보고서</a:t>
            </a:r>
            <a:br>
              <a:rPr lang="en-US" sz="1500" spc="-45" strike="noStrike" u="none">
                <a:solidFill>
                  <a:srgbClr val="FAF9F9"/>
                </a:solidFill>
                <a:latin typeface="JASO Sans"/>
                <a:ea typeface="JASO Sans"/>
                <a:cs typeface="JASO Sans"/>
                <a:sym typeface="JASO Sans"/>
              </a:rPr>
            </a:br>
            <a:r>
              <a:rPr lang="en-US" sz="1500" spc="-45" strike="noStrike" u="none">
                <a:solidFill>
                  <a:srgbClr val="FAF9F9"/>
                </a:solidFill>
                <a:latin typeface="JASO Sans"/>
                <a:ea typeface="JASO Sans"/>
                <a:cs typeface="JASO Sans"/>
                <a:sym typeface="JASO Sans"/>
              </a:rPr>
              <a:t>운영 자료: 소스 코드·설치 구성·사용 및 백업·복구 안내</a:t>
            </a:r>
          </a:p>
        </p:txBody>
      </p:sp>
      <p:sp>
        <p:nvSpPr>
          <p:cNvPr name="Freeform 14" id="14"/>
          <p:cNvSpPr/>
          <p:nvPr/>
        </p:nvSpPr>
        <p:spPr>
          <a:xfrm flipH="false" flipV="false" rot="0">
            <a:off x="5047970" y="2529468"/>
            <a:ext cx="115630" cy="88168"/>
          </a:xfrm>
          <a:custGeom>
            <a:avLst/>
            <a:gdLst/>
            <a:ahLst/>
            <a:cxnLst/>
            <a:rect r="r" b="b" t="t" l="l"/>
            <a:pathLst>
              <a:path h="132252" w="173445">
                <a:moveTo>
                  <a:pt x="0" y="0"/>
                </a:moveTo>
                <a:lnTo>
                  <a:pt x="173445" y="0"/>
                </a:lnTo>
                <a:lnTo>
                  <a:pt x="173445" y="132251"/>
                </a:lnTo>
                <a:lnTo>
                  <a:pt x="0" y="132251"/>
                </a:lnTo>
                <a:lnTo>
                  <a:pt x="0" y="0"/>
                </a:lnTo>
                <a:close/>
              </a:path>
            </a:pathLst>
          </a:custGeom>
          <a:blipFill>
            <a:blip r:embed="rIdBase4_rId4">
              <a:extLst>
                <a:ext uri="{96DAC541-7B7A-43D3-8B79-37D633B846F1}">
                  <asvg:svgBlip xmlns:asvg="http://schemas.microsoft.com/office/drawing/2016/SVG/main" r:embed="rIdBase4_rId5"/>
                </a:ext>
              </a:extLst>
            </a:blip>
            <a:stretch>
              <a:fillRect l="0" t="0" r="0" b="0"/>
            </a:stretch>
          </a:blipFill>
        </p:spPr>
      </p:sp>
      <p:sp>
        <p:nvSpPr>
          <p:cNvPr name="Freeform 15" id="15"/>
          <p:cNvSpPr/>
          <p:nvPr/>
        </p:nvSpPr>
        <p:spPr>
          <a:xfrm flipH="false" flipV="false" rot="0">
            <a:off x="5047970" y="4666518"/>
            <a:ext cx="115630" cy="88168"/>
          </a:xfrm>
          <a:custGeom>
            <a:avLst/>
            <a:gdLst/>
            <a:ahLst/>
            <a:cxnLst/>
            <a:rect r="r" b="b" t="t" l="l"/>
            <a:pathLst>
              <a:path h="132252" w="173445">
                <a:moveTo>
                  <a:pt x="0" y="0"/>
                </a:moveTo>
                <a:lnTo>
                  <a:pt x="173445" y="0"/>
                </a:lnTo>
                <a:lnTo>
                  <a:pt x="173445" y="132252"/>
                </a:lnTo>
                <a:lnTo>
                  <a:pt x="0" y="132252"/>
                </a:lnTo>
                <a:lnTo>
                  <a:pt x="0" y="0"/>
                </a:lnTo>
                <a:close/>
              </a:path>
            </a:pathLst>
          </a:custGeom>
          <a:blipFill>
            <a:blip r:embed="rIdBase4_rId4">
              <a:extLst>
                <a:ext uri="{96DAC541-7B7A-43D3-8B79-37D633B846F1}">
                  <asvg:svgBlip xmlns:asvg="http://schemas.microsoft.com/office/drawing/2016/SVG/main" r:embed="rIdBase4_rId5"/>
                </a:ext>
              </a:extLst>
            </a:blip>
            <a:stretch>
              <a:fillRect l="0" t="0" r="0" b="0"/>
            </a:stretch>
          </a:blipFill>
        </p:spPr>
      </p:sp>
      <p:sp>
        <p:nvSpPr>
          <p:cNvPr name="Freeform 16" id="16"/>
          <p:cNvSpPr/>
          <p:nvPr/>
        </p:nvSpPr>
        <p:spPr>
          <a:xfrm flipH="false" flipV="false" rot="0">
            <a:off x="5047970" y="2866090"/>
            <a:ext cx="115630" cy="88168"/>
          </a:xfrm>
          <a:custGeom>
            <a:avLst/>
            <a:gdLst/>
            <a:ahLst/>
            <a:cxnLst/>
            <a:rect r="r" b="b" t="t" l="l"/>
            <a:pathLst>
              <a:path h="132252" w="173445">
                <a:moveTo>
                  <a:pt x="0" y="0"/>
                </a:moveTo>
                <a:lnTo>
                  <a:pt x="173445" y="0"/>
                </a:lnTo>
                <a:lnTo>
                  <a:pt x="173445" y="132252"/>
                </a:lnTo>
                <a:lnTo>
                  <a:pt x="0" y="132252"/>
                </a:lnTo>
                <a:lnTo>
                  <a:pt x="0" y="0"/>
                </a:lnTo>
                <a:close/>
              </a:path>
            </a:pathLst>
          </a:custGeom>
          <a:blipFill>
            <a:blip r:embed="rIdBase4_rId4">
              <a:extLst>
                <a:ext uri="{96DAC541-7B7A-43D3-8B79-37D633B846F1}">
                  <asvg:svgBlip xmlns:asvg="http://schemas.microsoft.com/office/drawing/2016/SVG/main" r:embed="rIdBase4_rId5"/>
                </a:ext>
              </a:extLst>
            </a:blip>
            <a:stretch>
              <a:fillRect l="0" t="0" r="0" b="0"/>
            </a:stretch>
          </a:blipFill>
        </p:spPr>
      </p:sp>
      <p:sp>
        <p:nvSpPr>
          <p:cNvPr name="Freeform 17" id="17"/>
          <p:cNvSpPr/>
          <p:nvPr/>
        </p:nvSpPr>
        <p:spPr>
          <a:xfrm flipH="false" flipV="false" rot="0">
            <a:off x="5047970" y="5003142"/>
            <a:ext cx="115630" cy="88168"/>
          </a:xfrm>
          <a:custGeom>
            <a:avLst/>
            <a:gdLst/>
            <a:ahLst/>
            <a:cxnLst/>
            <a:rect r="r" b="b" t="t" l="l"/>
            <a:pathLst>
              <a:path h="132252" w="173445">
                <a:moveTo>
                  <a:pt x="0" y="0"/>
                </a:moveTo>
                <a:lnTo>
                  <a:pt x="173445" y="0"/>
                </a:lnTo>
                <a:lnTo>
                  <a:pt x="173445" y="132251"/>
                </a:lnTo>
                <a:lnTo>
                  <a:pt x="0" y="132251"/>
                </a:lnTo>
                <a:lnTo>
                  <a:pt x="0" y="0"/>
                </a:lnTo>
                <a:close/>
              </a:path>
            </a:pathLst>
          </a:custGeom>
          <a:blipFill>
            <a:blip r:embed="rIdBase4_rId4">
              <a:extLst>
                <a:ext uri="{96DAC541-7B7A-43D3-8B79-37D633B846F1}">
                  <asvg:svgBlip xmlns:asvg="http://schemas.microsoft.com/office/drawing/2016/SVG/main" r:embed="rIdBase4_rId5"/>
                </a:ext>
              </a:extLst>
            </a:blip>
            <a:stretch>
              <a:fillRect l="0" t="0" r="0" b="0"/>
            </a:stretch>
          </a:blipFill>
        </p:spPr>
      </p:sp>
      <p:sp>
        <p:nvSpPr>
          <p:cNvPr name="Freeform 18" id="18"/>
          <p:cNvSpPr/>
          <p:nvPr/>
        </p:nvSpPr>
        <p:spPr>
          <a:xfrm flipH="false" flipV="false" rot="0">
            <a:off x="5047970" y="3201908"/>
            <a:ext cx="115630" cy="88168"/>
          </a:xfrm>
          <a:custGeom>
            <a:avLst/>
            <a:gdLst/>
            <a:ahLst/>
            <a:cxnLst/>
            <a:rect r="r" b="b" t="t" l="l"/>
            <a:pathLst>
              <a:path h="132252" w="173445">
                <a:moveTo>
                  <a:pt x="0" y="0"/>
                </a:moveTo>
                <a:lnTo>
                  <a:pt x="173445" y="0"/>
                </a:lnTo>
                <a:lnTo>
                  <a:pt x="173445" y="132252"/>
                </a:lnTo>
                <a:lnTo>
                  <a:pt x="0" y="132252"/>
                </a:lnTo>
                <a:lnTo>
                  <a:pt x="0" y="0"/>
                </a:lnTo>
                <a:close/>
              </a:path>
            </a:pathLst>
          </a:custGeom>
          <a:blipFill>
            <a:blip r:embed="rIdBase4_rId4">
              <a:extLst>
                <a:ext uri="{96DAC541-7B7A-43D3-8B79-37D633B846F1}">
                  <asvg:svgBlip xmlns:asvg="http://schemas.microsoft.com/office/drawing/2016/SVG/main" r:embed="rIdBase4_rId5"/>
                </a:ext>
              </a:extLst>
            </a:blip>
            <a:stretch>
              <a:fillRect l="0" t="0" r="0" b="0"/>
            </a:stretch>
          </a:blipFill>
        </p:spPr>
      </p:sp>
      <p:sp>
        <p:nvSpPr>
          <p:cNvPr name="Freeform 19" id="19"/>
          <p:cNvSpPr/>
          <p:nvPr/>
        </p:nvSpPr>
        <p:spPr>
          <a:xfrm flipH="false" flipV="false" rot="0">
            <a:off x="5047970" y="5338959"/>
            <a:ext cx="115630" cy="88168"/>
          </a:xfrm>
          <a:custGeom>
            <a:avLst/>
            <a:gdLst/>
            <a:ahLst/>
            <a:cxnLst/>
            <a:rect r="r" b="b" t="t" l="l"/>
            <a:pathLst>
              <a:path h="132252" w="173445">
                <a:moveTo>
                  <a:pt x="0" y="0"/>
                </a:moveTo>
                <a:lnTo>
                  <a:pt x="173445" y="0"/>
                </a:lnTo>
                <a:lnTo>
                  <a:pt x="173445" y="132252"/>
                </a:lnTo>
                <a:lnTo>
                  <a:pt x="0" y="132252"/>
                </a:lnTo>
                <a:lnTo>
                  <a:pt x="0" y="0"/>
                </a:lnTo>
                <a:close/>
              </a:path>
            </a:pathLst>
          </a:custGeom>
          <a:blipFill>
            <a:blip r:embed="rIdBase4_rId4">
              <a:extLst>
                <a:ext uri="{96DAC541-7B7A-43D3-8B79-37D633B846F1}">
                  <asvg:svgBlip xmlns:asvg="http://schemas.microsoft.com/office/drawing/2016/SVG/main" r:embed="rIdBase4_rId5"/>
                </a:ext>
              </a:extLst>
            </a:blip>
            <a:stretch>
              <a:fillRect l="0" t="0" r="0" b="0"/>
            </a:stretch>
          </a:blipFill>
        </p:spPr>
      </p:sp>
      <p:sp>
        <p:nvSpPr>
          <p:cNvPr name="TextBox 20" id="20"/>
          <p:cNvSpPr txBox="true"/>
          <p:nvPr/>
        </p:nvSpPr>
        <p:spPr>
          <a:xfrm rot="0">
            <a:off x="1692853" y="3075142"/>
            <a:ext cx="2215266" cy="349068"/>
          </a:xfrm>
          <a:prstGeom prst="rect">
            <a:avLst/>
          </a:prstGeom>
        </p:spPr>
        <p:txBody>
          <a:bodyPr anchor="t" rtlCol="false" tIns="0" lIns="0" bIns="0" rIns="0">
            <a:spAutoFit/>
          </a:bodyPr>
          <a:lstStyle/>
          <a:p>
            <a:pPr algn="ctr" marL="0" indent="0" lvl="0">
              <a:lnSpc>
                <a:spcPts val="2951"/>
              </a:lnSpc>
              <a:spcBef>
                <a:spcPct val="0"/>
              </a:spcBef>
            </a:pPr>
            <a:r>
              <a:rPr lang="en-US" b="true" sz="1833" spc="-64">
                <a:solidFill>
                  <a:srgbClr val="FAF9F9"/>
                </a:solidFill>
                <a:latin typeface="JASO Sans Bold"/>
                <a:ea typeface="JASO Sans Bold"/>
                <a:cs typeface="JASO Sans Bold"/>
                <a:sym typeface="JASO Sans Bold"/>
              </a:rPr>
              <a:t>검증 계획</a:t>
            </a:r>
          </a:p>
        </p:txBody>
      </p:sp>
      <p:sp>
        <p:nvSpPr>
          <p:cNvPr name="TextBox 21" id="21"/>
          <p:cNvSpPr txBox="true"/>
          <p:nvPr/>
        </p:nvSpPr>
        <p:spPr>
          <a:xfrm rot="0">
            <a:off x="1692853" y="5212193"/>
            <a:ext cx="2215266" cy="349068"/>
          </a:xfrm>
          <a:prstGeom prst="rect">
            <a:avLst/>
          </a:prstGeom>
        </p:spPr>
        <p:txBody>
          <a:bodyPr anchor="t" rtlCol="false" tIns="0" lIns="0" bIns="0" rIns="0">
            <a:spAutoFit/>
          </a:bodyPr>
          <a:lstStyle/>
          <a:p>
            <a:pPr algn="ctr" marL="0" indent="0" lvl="0">
              <a:lnSpc>
                <a:spcPts val="2951"/>
              </a:lnSpc>
              <a:spcBef>
                <a:spcPct val="0"/>
              </a:spcBef>
            </a:pPr>
            <a:r>
              <a:rPr lang="en-US" b="true" sz="1833" spc="-64">
                <a:solidFill>
                  <a:srgbClr val="FAF9F9"/>
                </a:solidFill>
                <a:latin typeface="JASO Sans Bold"/>
                <a:ea typeface="JASO Sans Bold"/>
                <a:cs typeface="JASO Sans Bold"/>
                <a:sym typeface="JASO Sans Bold"/>
              </a:rPr>
              <a:t>예상 산출물</a:t>
            </a:r>
          </a:p>
        </p:txBody>
      </p:sp>
      <p:sp>
        <p:nvSpPr>
          <p:cNvPr name="AutoShape 22" id="22"/>
          <p:cNvSpPr/>
          <p:nvPr/>
        </p:nvSpPr>
        <p:spPr>
          <a:xfrm>
            <a:off x="4478045" y="2253154"/>
            <a:ext cx="0" cy="1316383"/>
          </a:xfrm>
          <a:prstGeom prst="line">
            <a:avLst/>
          </a:prstGeom>
          <a:ln cap="rnd" w="12700">
            <a:solidFill>
              <a:srgbClr val="FAF9F9">
                <a:alpha val="20784"/>
              </a:srgbClr>
            </a:solidFill>
            <a:prstDash val="solid"/>
            <a:headEnd type="none" len="sm" w="sm"/>
            <a:tailEnd type="none" len="sm" w="sm"/>
          </a:ln>
        </p:spPr>
      </p:sp>
      <p:sp>
        <p:nvSpPr>
          <p:cNvPr name="AutoShape 23" id="23"/>
          <p:cNvSpPr/>
          <p:nvPr/>
        </p:nvSpPr>
        <p:spPr>
          <a:xfrm>
            <a:off x="4478045" y="4390206"/>
            <a:ext cx="0" cy="1316383"/>
          </a:xfrm>
          <a:prstGeom prst="line">
            <a:avLst/>
          </a:prstGeom>
          <a:ln cap="rnd" w="12700">
            <a:solidFill>
              <a:srgbClr val="FAF9F9">
                <a:alpha val="32941"/>
              </a:srgbClr>
            </a:solidFill>
            <a:prstDash val="solid"/>
            <a:headEnd type="none" len="sm" w="sm"/>
            <a:tailEnd type="none" len="sm" w="sm"/>
          </a:ln>
        </p:spPr>
      </p:sp>
      <p:sp>
        <p:nvSpPr>
          <p:cNvPr name="Freeform 24" id="24"/>
          <p:cNvSpPr/>
          <p:nvPr/>
        </p:nvSpPr>
        <p:spPr>
          <a:xfrm flipH="false" flipV="false" rot="0">
            <a:off x="2389822" y="2343130"/>
            <a:ext cx="821327" cy="636529"/>
          </a:xfrm>
          <a:custGeom>
            <a:avLst/>
            <a:gdLst/>
            <a:ahLst/>
            <a:cxnLst/>
            <a:rect r="r" b="b" t="t" l="l"/>
            <a:pathLst>
              <a:path h="954793" w="1231991">
                <a:moveTo>
                  <a:pt x="0" y="0"/>
                </a:moveTo>
                <a:lnTo>
                  <a:pt x="1231991" y="0"/>
                </a:lnTo>
                <a:lnTo>
                  <a:pt x="1231991" y="954793"/>
                </a:lnTo>
                <a:lnTo>
                  <a:pt x="0" y="954793"/>
                </a:lnTo>
                <a:lnTo>
                  <a:pt x="0" y="0"/>
                </a:lnTo>
                <a:close/>
              </a:path>
            </a:pathLst>
          </a:custGeom>
          <a:blipFill>
            <a:blip r:embed="rIdBase4_rId6">
              <a:extLst>
                <a:ext uri="{96DAC541-7B7A-43D3-8B79-37D633B846F1}">
                  <asvg:svgBlip xmlns:asvg="http://schemas.microsoft.com/office/drawing/2016/SVG/main" r:embed="rIdBase4_rId7"/>
                </a:ext>
              </a:extLst>
            </a:blip>
            <a:stretch>
              <a:fillRect l="0" t="0" r="0" b="0"/>
            </a:stretch>
          </a:blipFill>
        </p:spPr>
      </p:sp>
      <p:sp>
        <p:nvSpPr>
          <p:cNvPr name="Freeform 25" id="25"/>
          <p:cNvSpPr/>
          <p:nvPr/>
        </p:nvSpPr>
        <p:spPr>
          <a:xfrm flipH="false" flipV="false" rot="0">
            <a:off x="2472610" y="4480180"/>
            <a:ext cx="655751" cy="651652"/>
          </a:xfrm>
          <a:custGeom>
            <a:avLst/>
            <a:gdLst/>
            <a:ahLst/>
            <a:cxnLst/>
            <a:rect r="r" b="b" t="t" l="l"/>
            <a:pathLst>
              <a:path h="977478" w="983626">
                <a:moveTo>
                  <a:pt x="0" y="0"/>
                </a:moveTo>
                <a:lnTo>
                  <a:pt x="983626" y="0"/>
                </a:lnTo>
                <a:lnTo>
                  <a:pt x="983626" y="977479"/>
                </a:lnTo>
                <a:lnTo>
                  <a:pt x="0" y="977479"/>
                </a:lnTo>
                <a:lnTo>
                  <a:pt x="0" y="0"/>
                </a:lnTo>
                <a:close/>
              </a:path>
            </a:pathLst>
          </a:custGeom>
          <a:blipFill>
            <a:blip r:embed="rIdBase4_rId8">
              <a:extLst>
                <a:ext uri="{96DAC541-7B7A-43D3-8B79-37D633B846F1}">
                  <asvg:svgBlip xmlns:asvg="http://schemas.microsoft.com/office/drawing/2016/SVG/main" r:embed="rIdBase4_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EOLWatch 프로젝트 제안 요약서</dc:title>
  <dc:subject>프로젝트 개요와 역할, 핵심 기능 네 가지, 검증 계획과 예상 산출물</dc:subject>
  <dc:creator>김연동</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